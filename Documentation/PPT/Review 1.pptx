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88" r:id="rId4"/>
    <p:sldId id="281" r:id="rId5"/>
    <p:sldId id="271" r:id="rId6"/>
    <p:sldId id="279" r:id="rId7"/>
    <p:sldId id="273" r:id="rId8"/>
    <p:sldId id="274" r:id="rId9"/>
    <p:sldId id="275" r:id="rId10"/>
    <p:sldId id="284" r:id="rId11"/>
    <p:sldId id="285" r:id="rId12"/>
    <p:sldId id="261" r:id="rId13"/>
    <p:sldId id="287" r:id="rId14"/>
    <p:sldId id="28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881A4-97E0-4626-BA30-074D23D3B5E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CCE34-49A7-43AF-8BAD-FB84CE1E7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2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7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4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8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7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6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410138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5374" y="63966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4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84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6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5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9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6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mputer science certificate&#10;&#10;AI-generated content may be incorrect.">
            <a:extLst>
              <a:ext uri="{FF2B5EF4-FFF2-40B4-BE49-F238E27FC236}">
                <a16:creationId xmlns:a16="http://schemas.microsoft.com/office/drawing/2014/main" id="{40420FD3-0A06-0436-D3A4-96837D4EB6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7"/>
          <a:stretch/>
        </p:blipFill>
        <p:spPr bwMode="auto">
          <a:xfrm>
            <a:off x="737937" y="0"/>
            <a:ext cx="10590433" cy="1716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1ED9E-B03E-AADD-5318-2A3BC6BF9023}"/>
              </a:ext>
            </a:extLst>
          </p:cNvPr>
          <p:cNvSpPr txBox="1"/>
          <p:nvPr/>
        </p:nvSpPr>
        <p:spPr>
          <a:xfrm>
            <a:off x="1295397" y="1832577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baseline="30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7th</a:t>
            </a:r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Semester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Major Project Phase – I (CSEP23706) 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Review 1</a:t>
            </a:r>
            <a:endParaRPr lang="en-IN" sz="2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90C19-52FC-CFB5-047F-5C4C7AB83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32204"/>
              </p:ext>
            </p:extLst>
          </p:nvPr>
        </p:nvGraphicFramePr>
        <p:xfrm>
          <a:off x="245265" y="3025867"/>
          <a:ext cx="11701463" cy="3187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6655">
                  <a:extLst>
                    <a:ext uri="{9D8B030D-6E8A-4147-A177-3AD203B41FA5}">
                      <a16:colId xmlns:a16="http://schemas.microsoft.com/office/drawing/2014/main" val="2777636275"/>
                    </a:ext>
                  </a:extLst>
                </a:gridCol>
                <a:gridCol w="4061570">
                  <a:extLst>
                    <a:ext uri="{9D8B030D-6E8A-4147-A177-3AD203B41FA5}">
                      <a16:colId xmlns:a16="http://schemas.microsoft.com/office/drawing/2014/main" val="930982237"/>
                    </a:ext>
                  </a:extLst>
                </a:gridCol>
                <a:gridCol w="2749902">
                  <a:extLst>
                    <a:ext uri="{9D8B030D-6E8A-4147-A177-3AD203B41FA5}">
                      <a16:colId xmlns:a16="http://schemas.microsoft.com/office/drawing/2014/main" val="2160730651"/>
                    </a:ext>
                  </a:extLst>
                </a:gridCol>
                <a:gridCol w="2623336">
                  <a:extLst>
                    <a:ext uri="{9D8B030D-6E8A-4147-A177-3AD203B41FA5}">
                      <a16:colId xmlns:a16="http://schemas.microsoft.com/office/drawing/2014/main" val="26985477"/>
                    </a:ext>
                  </a:extLst>
                </a:gridCol>
              </a:tblGrid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Group No.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G14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Project ID</a:t>
                      </a:r>
                      <a:endParaRPr lang="en-IN" sz="2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P43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5671"/>
                  </a:ext>
                </a:extLst>
              </a:tr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Project Title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of a Secure CI/CD Pipeline Using DevOps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2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941917"/>
                  </a:ext>
                </a:extLst>
              </a:tr>
              <a:tr h="453878">
                <a:tc rowSpan="4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Student Name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Revanth Kumar T 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USN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1GA23CS137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8601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Sanket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1GA23CS148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42161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Shakthi Vel K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1GA23CS151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26222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Vignesh P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1GA23CS193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84577"/>
                  </a:ext>
                </a:extLst>
              </a:tr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Guide Name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Prof. Sameena H S</a:t>
                      </a:r>
                      <a:r>
                        <a:rPr lang="en-IN" sz="2400" dirty="0"/>
                        <a:t> 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 Assistant Professor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2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14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1741-F608-45C9-6668-19733C50868C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Agenda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745C16F-33D2-99EB-7E0E-85A0DC9ADD16}"/>
              </a:ext>
            </a:extLst>
          </p:cNvPr>
          <p:cNvSpPr txBox="1">
            <a:spLocks/>
          </p:cNvSpPr>
          <p:nvPr/>
        </p:nvSpPr>
        <p:spPr>
          <a:xfrm>
            <a:off x="851846" y="1002233"/>
            <a:ext cx="9438565" cy="50983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Design Diagrams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27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EF03E6-B461-C375-3636-27BFC7DBF42B}"/>
              </a:ext>
            </a:extLst>
          </p:cNvPr>
          <p:cNvSpPr txBox="1"/>
          <p:nvPr/>
        </p:nvSpPr>
        <p:spPr>
          <a:xfrm>
            <a:off x="2717165" y="20320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Problem</a:t>
            </a:r>
            <a:r>
              <a:rPr lang="en-US" b="1" dirty="0"/>
              <a:t> </a:t>
            </a:r>
            <a:r>
              <a:rPr lang="en-US" sz="4000" b="1" dirty="0"/>
              <a:t>Statement</a:t>
            </a:r>
            <a:endParaRPr lang="en-IN" sz="4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044A5-E03F-83C2-0786-F8B5B0986C8E}"/>
              </a:ext>
            </a:extLst>
          </p:cNvPr>
          <p:cNvSpPr txBox="1"/>
          <p:nvPr/>
        </p:nvSpPr>
        <p:spPr>
          <a:xfrm>
            <a:off x="834014" y="1240790"/>
            <a:ext cx="11357986" cy="363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Security vulnerabilities are often detected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after deployment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This leads to: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Increased risk of cyberattacks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High remediation and maintenance costs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Delays in software releases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Lack of automated security integration in traditional DevOps pipelines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Need for early vulnerability detection in development lifecycle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9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479" y="1353788"/>
            <a:ext cx="5418161" cy="4190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DevSecOps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CI/CD architecture automates the software lifecycle where code pushed to GitHub triggers Jenkins for build, testing, and security scanning using SonarQube and OWASP ZAP/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Trivy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application is then containerized with Docker, deployed using Kubernetes on cloud platforms (AWS/Azure), and continuously monitored using Prometheus and Grafana.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96200" y="4857540"/>
            <a:ext cx="3343404" cy="38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Fig.1 : </a:t>
            </a:r>
            <a:r>
              <a:rPr lang="en-US" sz="1400" b="1" dirty="0" err="1"/>
              <a:t>DevSecOps</a:t>
            </a:r>
            <a:r>
              <a:rPr lang="en-US" sz="1400" b="1" dirty="0"/>
              <a:t> CI/CD architecture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74580A-1233-BD96-FF09-6F09F6FD4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56" y="1353788"/>
            <a:ext cx="5831840" cy="320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6853" y="1337480"/>
            <a:ext cx="10563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Data Flow Diagram is a graphical representation that shows how data moves through a system. It illustrates the inputs, outputs, processes, and data stores within a system without showing control flow or timing.</a:t>
            </a:r>
          </a:p>
        </p:txBody>
      </p:sp>
    </p:spTree>
    <p:extLst>
      <p:ext uri="{BB962C8B-B14F-4D97-AF65-F5344CB8AC3E}">
        <p14:creationId xmlns:p14="http://schemas.microsoft.com/office/powerpoint/2010/main" val="152785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0999" y="1064525"/>
            <a:ext cx="1109676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0 — Context Diagram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topmost level of DFD that represents the entire system as a single process. It shows how the system interacts with the outside world.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1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Level 1 breaks the single process of Level 0 into major sub-processes (main functions of the system). Data stores are introduced at this level.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2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Level 2 further decomposes each Level 1 process into detailed sub-processes. Each major process from Level 1 gets its own Level 2 DFD.</a:t>
            </a:r>
          </a:p>
        </p:txBody>
      </p:sp>
    </p:spTree>
    <p:extLst>
      <p:ext uri="{BB962C8B-B14F-4D97-AF65-F5344CB8AC3E}">
        <p14:creationId xmlns:p14="http://schemas.microsoft.com/office/powerpoint/2010/main" val="362466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0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5D795-0615-9072-CD49-A5B5D2EB2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854" y="1916927"/>
            <a:ext cx="5760720" cy="3840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0AF618-5D44-414C-C3F6-6AA7D072D11F}"/>
              </a:ext>
            </a:extLst>
          </p:cNvPr>
          <p:cNvSpPr txBox="1"/>
          <p:nvPr/>
        </p:nvSpPr>
        <p:spPr>
          <a:xfrm>
            <a:off x="7752080" y="5886708"/>
            <a:ext cx="31283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2.1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54D0D-9DF9-7888-522B-B8E5844FFB3D}"/>
              </a:ext>
            </a:extLst>
          </p:cNvPr>
          <p:cNvSpPr txBox="1"/>
          <p:nvPr/>
        </p:nvSpPr>
        <p:spPr>
          <a:xfrm>
            <a:off x="273426" y="1795540"/>
            <a:ext cx="6268720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0 DFD shows how the developer commits source code to the Secure DevOps CI/CD system, which processes it through code repository, security scanning, and deployment environment.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system then performs security analysis and deployment while continuously monitoring logs and performance using Prometheus and Grafana.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5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1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A0292-82DC-F607-3BB6-CEA231BEE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80" y="1757680"/>
            <a:ext cx="5402580" cy="36017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FC699-4E89-D47A-7B87-7B58480B8F4E}"/>
              </a:ext>
            </a:extLst>
          </p:cNvPr>
          <p:cNvSpPr txBox="1"/>
          <p:nvPr/>
        </p:nvSpPr>
        <p:spPr>
          <a:xfrm>
            <a:off x="111761" y="1757680"/>
            <a:ext cx="5984239" cy="3728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1 DFD breaks the Secure DevOps pipeline into four processes: Source Code Management, Build &amp; Test Automation, Security Scanning, and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Dockerization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&amp; Deployment.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from the developer is stored in the repository, tested and scanned for vulnerabilities, deployed as containers, and monitored using Prometheus and Grafana for logs and metrics.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CE9AB-19AA-1F7D-7472-800B167E775F}"/>
              </a:ext>
            </a:extLst>
          </p:cNvPr>
          <p:cNvSpPr txBox="1"/>
          <p:nvPr/>
        </p:nvSpPr>
        <p:spPr>
          <a:xfrm>
            <a:off x="7498974" y="5502333"/>
            <a:ext cx="41316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2.2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1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2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8F0CE-B60A-6272-D2CD-F578473C3D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56" y="1679335"/>
            <a:ext cx="5554980" cy="3703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A9E747-7367-CDBC-68E3-1E4856DCEB2F}"/>
              </a:ext>
            </a:extLst>
          </p:cNvPr>
          <p:cNvSpPr txBox="1"/>
          <p:nvPr/>
        </p:nvSpPr>
        <p:spPr>
          <a:xfrm>
            <a:off x="260445" y="1865188"/>
            <a:ext cx="5715000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2 DFD details the Source Code Management process, where developers update the repository, manage versions, create pull requests, and review code changes.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After review and approval, the code is merged and stored in the source code repository, making it ready for the CI/CD pipeline.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264F3-F62B-1711-9CB7-5E1DD59F5F6E}"/>
              </a:ext>
            </a:extLst>
          </p:cNvPr>
          <p:cNvSpPr txBox="1"/>
          <p:nvPr/>
        </p:nvSpPr>
        <p:spPr>
          <a:xfrm>
            <a:off x="7498974" y="5593773"/>
            <a:ext cx="39919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2.3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3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8195" y="1227061"/>
            <a:ext cx="1067674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Minimum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Processor: Intel i5 / AMD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Ryzen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 8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 256 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Internet connection (for GitHub, updates, plugins)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Recommended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Processor: Intel i7 / AMD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Ryzen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 16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 512 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Virtualization support enabled (for Docker &amp; Jenkins)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43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C075-8C9D-5E78-3474-26E54DC5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1FF1A2-3D36-3212-6161-A8C1B0664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CBFBB-6DA9-0C2F-9972-578C6FBF8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C609B-A2E3-241F-436E-96331840B2A1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B8E76-DB02-C536-ADB4-2070C0F35FCB}"/>
              </a:ext>
            </a:extLst>
          </p:cNvPr>
          <p:cNvSpPr/>
          <p:nvPr/>
        </p:nvSpPr>
        <p:spPr>
          <a:xfrm>
            <a:off x="586591" y="1226046"/>
            <a:ext cx="11219329" cy="4836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Operating System  :  Windows 11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(64-bit)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Git / GitHub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Version control and source code 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Jenkins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CI/CD automation tool for build and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SonarQube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Static code analysis for vulnerability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OWASP ZAP /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Trivy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Security scanning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Docker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Containerization platform for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Kubernetes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Container orchestration for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Prometheus &amp; Grafana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Monitoring and logging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AWS / Azure Cloud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Cloud platform for hosting and deployment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97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D121C-764E-8C3D-FB14-0491DCF40374}"/>
              </a:ext>
            </a:extLst>
          </p:cNvPr>
          <p:cNvSpPr txBox="1"/>
          <p:nvPr/>
        </p:nvSpPr>
        <p:spPr>
          <a:xfrm>
            <a:off x="619760" y="1278965"/>
            <a:ext cx="100888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Configure GitHub repository.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Integrate GitHub with Jenkins.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Create Jenkins pipeline.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Run SonarQube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Perform OWASP ZAP and </a:t>
            </a:r>
            <a:r>
              <a:rPr lang="en-IN" sz="2000" dirty="0" err="1"/>
              <a:t>Trivy</a:t>
            </a:r>
            <a:r>
              <a:rPr lang="en-IN" sz="2000" dirty="0"/>
              <a:t> scans.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Build Docker image and deploy on Kubernetes.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Monitor using Prometheus and Grafana.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03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4517-BA5D-B69D-3141-6154EC0E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4B34B0-A60F-9174-E713-C078D8B39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399BA-0F53-8DD9-1FE2-793962D19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63331-42F3-3DF5-1030-28A76F8E4889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880A18-D3AC-5D24-C85C-5CEF0496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46" y="1311166"/>
            <a:ext cx="8122067" cy="4235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A89131-61B3-7CAD-D608-C046A85E5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25" y="1279415"/>
            <a:ext cx="8122067" cy="42674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104442-DC71-8D28-09AB-688CF016F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46" y="1198880"/>
            <a:ext cx="8231287" cy="4347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295DE2-086B-1A86-DBE5-344882F2A8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04" y="1198880"/>
            <a:ext cx="8284629" cy="43479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2BFE17-659C-1493-E97A-037B1C4D3F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05" y="1198880"/>
            <a:ext cx="8265578" cy="43479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356FFA-9B29-6AA0-4961-50E914FA1D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46" y="1198880"/>
            <a:ext cx="8231287" cy="43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0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2F46-969D-4636-296E-04CA4D23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6EA27A-4923-24E8-011E-FFFA3415B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5E85A-D15A-E9AE-7891-34B9F21E8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4983A-9B17-E619-1FD1-B0AB4CA9F4C4}"/>
              </a:ext>
            </a:extLst>
          </p:cNvPr>
          <p:cNvSpPr txBox="1"/>
          <p:nvPr/>
        </p:nvSpPr>
        <p:spPr>
          <a:xfrm>
            <a:off x="2730389" y="2775955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Q &amp; A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394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580264" y="2735011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859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Shakthivel K</cp:lastModifiedBy>
  <cp:revision>64</cp:revision>
  <dcterms:created xsi:type="dcterms:W3CDTF">2026-02-18T04:52:12Z</dcterms:created>
  <dcterms:modified xsi:type="dcterms:W3CDTF">2026-10-07T15:45:04Z</dcterms:modified>
</cp:coreProperties>
</file>