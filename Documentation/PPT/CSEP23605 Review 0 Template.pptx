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sldIdLst>
    <p:sldId id="256" r:id="rId2"/>
    <p:sldId id="258" r:id="rId3"/>
    <p:sldId id="259" r:id="rId4"/>
    <p:sldId id="260" r:id="rId5"/>
    <p:sldId id="266" r:id="rId6"/>
    <p:sldId id="270" r:id="rId7"/>
    <p:sldId id="265" r:id="rId8"/>
    <p:sldId id="267" r:id="rId9"/>
    <p:sldId id="271" r:id="rId10"/>
    <p:sldId id="268" r:id="rId11"/>
    <p:sldId id="261" r:id="rId12"/>
    <p:sldId id="275" r:id="rId13"/>
    <p:sldId id="276" r:id="rId14"/>
    <p:sldId id="277" r:id="rId15"/>
    <p:sldId id="278" r:id="rId16"/>
    <p:sldId id="263"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09" autoAdjust="0"/>
    <p:restoredTop sz="94660"/>
  </p:normalViewPr>
  <p:slideViewPr>
    <p:cSldViewPr snapToGrid="0">
      <p:cViewPr varScale="1">
        <p:scale>
          <a:sx n="63" d="100"/>
          <a:sy n="63" d="100"/>
        </p:scale>
        <p:origin x="52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881A4-97E0-4626-BA30-074D23D3B5E2}" type="datetimeFigureOut">
              <a:rPr lang="en-IN" smtClean="0"/>
              <a:t>01-03-2026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CCE34-49A7-43AF-8BAD-FB84CE1E7183}" type="slidenum">
              <a:rPr lang="en-IN" smtClean="0"/>
              <a:t>‹#›</a:t>
            </a:fld>
            <a:endParaRPr lang="en-IN"/>
          </a:p>
        </p:txBody>
      </p:sp>
    </p:spTree>
    <p:extLst>
      <p:ext uri="{BB962C8B-B14F-4D97-AF65-F5344CB8AC3E}">
        <p14:creationId xmlns:p14="http://schemas.microsoft.com/office/powerpoint/2010/main" val="1998021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7"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2778370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3171247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2954880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9"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1851774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Footer Placeholder 4"/>
          <p:cNvSpPr>
            <a:spLocks noGrp="1"/>
          </p:cNvSpPr>
          <p:nvPr>
            <p:ph type="ftr" sz="quarter" idx="10"/>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11" name="Slide Number Placeholder 5"/>
          <p:cNvSpPr>
            <a:spLocks noGrp="1"/>
          </p:cNvSpPr>
          <p:nvPr>
            <p:ph type="sldNum" sz="quarter" idx="11"/>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3665445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6"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7"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1396266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81000" y="6410138"/>
            <a:ext cx="7315200" cy="365125"/>
          </a:xfrm>
          <a:prstGeom prst="rect">
            <a:avLst/>
          </a:prstGeom>
        </p:spPr>
        <p:txBody>
          <a:bodyPr vert="horz" lIns="91440" tIns="45720" rIns="91440" bIns="45720" rtlCol="0" anchor="ctr"/>
          <a:lstStyle>
            <a:lvl1pPr algn="l">
              <a:defRPr sz="1200">
                <a:solidFill>
                  <a:schemeClr val="bg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6" name="Slide Number Placeholder 5"/>
          <p:cNvSpPr>
            <a:spLocks noGrp="1"/>
          </p:cNvSpPr>
          <p:nvPr>
            <p:ph type="sldNum" sz="quarter" idx="4"/>
          </p:nvPr>
        </p:nvSpPr>
        <p:spPr>
          <a:xfrm>
            <a:off x="9175374" y="6396691"/>
            <a:ext cx="2743200" cy="365125"/>
          </a:xfrm>
          <a:prstGeom prst="rect">
            <a:avLst/>
          </a:prstGeom>
        </p:spPr>
        <p:txBody>
          <a:bodyPr vert="horz" lIns="91440" tIns="45720" rIns="91440" bIns="45720" rtlCol="0" anchor="ctr"/>
          <a:lstStyle>
            <a:lvl1pPr algn="r">
              <a:defRPr sz="1200">
                <a:solidFill>
                  <a:schemeClr val="bg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3326349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9"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965847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9"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136467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3783252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2069690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bg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3754466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computer science certificate&#10;&#10;AI-generated content may be incorrect.">
            <a:extLst>
              <a:ext uri="{FF2B5EF4-FFF2-40B4-BE49-F238E27FC236}">
                <a16:creationId xmlns:a16="http://schemas.microsoft.com/office/drawing/2014/main" id="{40420FD3-0A06-0436-D3A4-96837D4EB68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7787"/>
          <a:stretch/>
        </p:blipFill>
        <p:spPr bwMode="auto">
          <a:xfrm>
            <a:off x="737937" y="0"/>
            <a:ext cx="10590433" cy="1716505"/>
          </a:xfrm>
          <a:prstGeom prst="rect">
            <a:avLst/>
          </a:prstGeom>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F8F1ED9E-B03E-AADD-5318-2A3BC6BF9023}"/>
              </a:ext>
            </a:extLst>
          </p:cNvPr>
          <p:cNvSpPr txBox="1"/>
          <p:nvPr/>
        </p:nvSpPr>
        <p:spPr>
          <a:xfrm>
            <a:off x="1295397" y="2145727"/>
            <a:ext cx="9601200" cy="738664"/>
          </a:xfrm>
          <a:prstGeom prst="rect">
            <a:avLst/>
          </a:prstGeom>
          <a:noFill/>
        </p:spPr>
        <p:txBody>
          <a:bodyPr wrap="square" rtlCol="0">
            <a:spAutoFit/>
          </a:bodyPr>
          <a:lstStyle/>
          <a:p>
            <a:pPr algn="ctr"/>
            <a:r>
              <a:rPr lang="en-US" b="1" dirty="0">
                <a:solidFill>
                  <a:srgbClr val="002060"/>
                </a:solidFill>
                <a:latin typeface="Cambria" panose="02040503050406030204" pitchFamily="18" charset="0"/>
                <a:ea typeface="Cambria" panose="02040503050406030204" pitchFamily="18" charset="0"/>
                <a:cs typeface="Times New Roman" panose="02020603050405020304" pitchFamily="18" charset="0"/>
              </a:rPr>
              <a:t>6</a:t>
            </a:r>
            <a:r>
              <a:rPr lang="en-US" b="1" baseline="30000" dirty="0">
                <a:solidFill>
                  <a:srgbClr val="002060"/>
                </a:solidFill>
                <a:latin typeface="Cambria" panose="02040503050406030204" pitchFamily="18" charset="0"/>
                <a:ea typeface="Cambria" panose="02040503050406030204" pitchFamily="18" charset="0"/>
                <a:cs typeface="Times New Roman" panose="02020603050405020304" pitchFamily="18" charset="0"/>
              </a:rPr>
              <a:t>th</a:t>
            </a:r>
            <a:r>
              <a:rPr lang="en-US" b="1" dirty="0">
                <a:solidFill>
                  <a:srgbClr val="002060"/>
                </a:solidFill>
                <a:latin typeface="Cambria" panose="02040503050406030204" pitchFamily="18" charset="0"/>
                <a:ea typeface="Cambria" panose="02040503050406030204" pitchFamily="18" charset="0"/>
                <a:cs typeface="Times New Roman" panose="02020603050405020304" pitchFamily="18" charset="0"/>
              </a:rPr>
              <a:t> Semester</a:t>
            </a:r>
          </a:p>
          <a:p>
            <a:pPr algn="ctr"/>
            <a:r>
              <a:rPr lang="en-US" sz="2400" b="1" dirty="0">
                <a:solidFill>
                  <a:srgbClr val="C00000"/>
                </a:solidFill>
                <a:latin typeface="Cambria" panose="02040503050406030204" pitchFamily="18" charset="0"/>
                <a:ea typeface="Cambria" panose="02040503050406030204" pitchFamily="18" charset="0"/>
                <a:cs typeface="Times New Roman" panose="02020603050405020304" pitchFamily="18" charset="0"/>
              </a:rPr>
              <a:t>Major Project Phase – I (CSEP23605)</a:t>
            </a:r>
            <a:endParaRPr lang="en-IN" sz="2400" b="1" dirty="0">
              <a:solidFill>
                <a:srgbClr val="C00000"/>
              </a:solidFill>
              <a:latin typeface="Cambria" panose="02040503050406030204" pitchFamily="18" charset="0"/>
              <a:ea typeface="Cambria" panose="020405030504060302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A268F318-F08B-1439-4C67-E73AB17F70B6}"/>
              </a:ext>
            </a:extLst>
          </p:cNvPr>
          <p:cNvGraphicFramePr>
            <a:graphicFrameLocks noGrp="1"/>
          </p:cNvGraphicFramePr>
          <p:nvPr>
            <p:extLst>
              <p:ext uri="{D42A27DB-BD31-4B8C-83A1-F6EECF244321}">
                <p14:modId xmlns:p14="http://schemas.microsoft.com/office/powerpoint/2010/main" val="4246674439"/>
              </p:ext>
            </p:extLst>
          </p:nvPr>
        </p:nvGraphicFramePr>
        <p:xfrm>
          <a:off x="245266" y="2916475"/>
          <a:ext cx="11701463" cy="3187112"/>
        </p:xfrm>
        <a:graphic>
          <a:graphicData uri="http://schemas.openxmlformats.org/drawingml/2006/table">
            <a:tbl>
              <a:tblPr firstRow="1" bandRow="1">
                <a:tableStyleId>{5940675A-B579-460E-94D1-54222C63F5DA}</a:tableStyleId>
              </a:tblPr>
              <a:tblGrid>
                <a:gridCol w="2266655">
                  <a:extLst>
                    <a:ext uri="{9D8B030D-6E8A-4147-A177-3AD203B41FA5}">
                      <a16:colId xmlns:a16="http://schemas.microsoft.com/office/drawing/2014/main" val="2777636275"/>
                    </a:ext>
                  </a:extLst>
                </a:gridCol>
                <a:gridCol w="4061570">
                  <a:extLst>
                    <a:ext uri="{9D8B030D-6E8A-4147-A177-3AD203B41FA5}">
                      <a16:colId xmlns:a16="http://schemas.microsoft.com/office/drawing/2014/main" val="930982237"/>
                    </a:ext>
                  </a:extLst>
                </a:gridCol>
                <a:gridCol w="2749902">
                  <a:extLst>
                    <a:ext uri="{9D8B030D-6E8A-4147-A177-3AD203B41FA5}">
                      <a16:colId xmlns:a16="http://schemas.microsoft.com/office/drawing/2014/main" val="2160730651"/>
                    </a:ext>
                  </a:extLst>
                </a:gridCol>
                <a:gridCol w="2623336">
                  <a:extLst>
                    <a:ext uri="{9D8B030D-6E8A-4147-A177-3AD203B41FA5}">
                      <a16:colId xmlns:a16="http://schemas.microsoft.com/office/drawing/2014/main" val="26985477"/>
                    </a:ext>
                  </a:extLst>
                </a:gridCol>
              </a:tblGrid>
              <a:tr h="453878">
                <a:tc>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Group No.</a:t>
                      </a:r>
                      <a:endParaRPr lang="en-IN" sz="2200" b="1" kern="1200" dirty="0">
                        <a:solidFill>
                          <a:schemeClr val="tx1"/>
                        </a:solidFill>
                        <a:latin typeface="Cambria" panose="02040503050406030204" pitchFamily="18" charset="0"/>
                        <a:ea typeface="Cambria" panose="02040503050406030204" pitchFamily="18" charset="0"/>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G14</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Project ID</a:t>
                      </a:r>
                      <a:endParaRPr lang="en-IN" sz="22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400" b="1" dirty="0">
                          <a:latin typeface="Cambria" panose="02040503050406030204" pitchFamily="18" charset="0"/>
                          <a:ea typeface="Cambria" panose="02040503050406030204" pitchFamily="18" charset="0"/>
                        </a:rPr>
                        <a:t>P43</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9035671"/>
                  </a:ext>
                </a:extLst>
              </a:tr>
              <a:tr h="453878">
                <a:tc>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Project Title</a:t>
                      </a:r>
                      <a:endParaRPr lang="en-IN" sz="2200" b="1" kern="1200" dirty="0">
                        <a:solidFill>
                          <a:schemeClr val="tx1"/>
                        </a:solidFill>
                        <a:latin typeface="Cambria" panose="02040503050406030204" pitchFamily="18" charset="0"/>
                        <a:ea typeface="Cambria" panose="02040503050406030204" pitchFamily="18" charset="0"/>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Cambria" panose="02040503050406030204" pitchFamily="18" charset="0"/>
                          <a:ea typeface="Cambria" panose="02040503050406030204" pitchFamily="18" charset="0"/>
                        </a:rPr>
                        <a:t>Implementation of a Secure CI/CD Pipeline Using DevOps Tools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sz="2400" b="1" dirty="0">
                        <a:latin typeface="+mn-lt"/>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c hMerge="1">
                  <a:txBody>
                    <a:bodyPr/>
                    <a:lstStyle/>
                    <a:p>
                      <a:endParaRPr lang="en-IN" sz="2400" b="1" dirty="0">
                        <a:latin typeface="+mn-lt"/>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525941917"/>
                  </a:ext>
                </a:extLst>
              </a:tr>
              <a:tr h="453878">
                <a:tc rowSpan="4">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Student Name</a:t>
                      </a:r>
                      <a:endParaRPr lang="en-IN" sz="2200" b="1" kern="1200" dirty="0">
                        <a:solidFill>
                          <a:schemeClr val="tx1"/>
                        </a:solidFill>
                        <a:latin typeface="Cambria" panose="02040503050406030204" pitchFamily="18" charset="0"/>
                        <a:ea typeface="Cambria" panose="02040503050406030204" pitchFamily="18" charset="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 Vignesh P</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USN</a:t>
                      </a:r>
                      <a:endParaRPr lang="en-IN" sz="2200" b="1" kern="1200" dirty="0">
                        <a:solidFill>
                          <a:schemeClr val="tx1"/>
                        </a:solidFill>
                        <a:latin typeface="Cambria" panose="02040503050406030204" pitchFamily="18" charset="0"/>
                        <a:ea typeface="Cambria" panose="02040503050406030204" pitchFamily="18" charset="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1GA23CS193</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418601"/>
                  </a:ext>
                </a:extLst>
              </a:tr>
              <a:tr h="453878">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Revanth Kumar T S</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1GA23CS137</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7442161"/>
                  </a:ext>
                </a:extLst>
              </a:tr>
              <a:tr h="453878">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Sanket</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1GA23CS148</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6726222"/>
                  </a:ext>
                </a:extLst>
              </a:tr>
              <a:tr h="453878">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Shakthi Vel K</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1GA23CS151</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4284577"/>
                  </a:ext>
                </a:extLst>
              </a:tr>
              <a:tr h="453878">
                <a:tc>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Guide Name</a:t>
                      </a:r>
                      <a:endParaRPr lang="en-IN" sz="2200" b="1" kern="1200" dirty="0">
                        <a:solidFill>
                          <a:schemeClr val="tx1"/>
                        </a:solidFill>
                        <a:latin typeface="Cambria" panose="02040503050406030204" pitchFamily="18" charset="0"/>
                        <a:ea typeface="Cambria" panose="02040503050406030204" pitchFamily="18" charset="0"/>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lang="en-IN" sz="2400" b="1" dirty="0">
                          <a:latin typeface="Cambria" panose="02040503050406030204" pitchFamily="18" charset="0"/>
                          <a:ea typeface="Cambria" panose="02040503050406030204" pitchFamily="18" charset="0"/>
                        </a:rPr>
                        <a:t>Prof. Sameena H S</a:t>
                      </a:r>
                      <a:r>
                        <a:rPr lang="en-IN" sz="2400" dirty="0"/>
                        <a:t> </a:t>
                      </a:r>
                      <a:r>
                        <a:rPr lang="en-US" sz="2200" b="1">
                          <a:solidFill>
                            <a:schemeClr val="tx1"/>
                          </a:solidFill>
                          <a:latin typeface="Cambria" panose="02040503050406030204" pitchFamily="18" charset="0"/>
                          <a:ea typeface="Cambria" panose="02040503050406030204" pitchFamily="18" charset="0"/>
                        </a:rPr>
                        <a:t>,  Assistant </a:t>
                      </a:r>
                      <a:r>
                        <a:rPr lang="en-US" sz="2200" b="1" dirty="0">
                          <a:solidFill>
                            <a:schemeClr val="tx1"/>
                          </a:solidFill>
                          <a:latin typeface="Cambria" panose="02040503050406030204" pitchFamily="18" charset="0"/>
                          <a:ea typeface="Cambria" panose="02040503050406030204" pitchFamily="18" charset="0"/>
                        </a:rPr>
                        <a:t>Professor</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sz="2000" dirty="0"/>
                    </a:p>
                  </a:txBody>
                  <a:tcPr>
                    <a:lnL w="12700" cap="flat" cmpd="sng" algn="ctr">
                      <a:solidFill>
                        <a:schemeClr val="tx1"/>
                      </a:solidFill>
                      <a:prstDash val="solid"/>
                      <a:round/>
                      <a:headEnd type="none" w="med" len="med"/>
                      <a:tailEnd type="none" w="med" len="med"/>
                    </a:lnL>
                    <a:solidFill>
                      <a:schemeClr val="bg1"/>
                    </a:solidFill>
                  </a:tcPr>
                </a:tc>
                <a:tc hMerge="1">
                  <a:txBody>
                    <a:bodyPr/>
                    <a:lstStyle/>
                    <a:p>
                      <a:endParaRPr lang="en-IN" sz="2000" dirty="0"/>
                    </a:p>
                  </a:txBody>
                  <a:tcPr>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4083224178"/>
                  </a:ext>
                </a:extLst>
              </a:tr>
            </a:tbl>
          </a:graphicData>
        </a:graphic>
      </p:graphicFrame>
    </p:spTree>
    <p:extLst>
      <p:ext uri="{BB962C8B-B14F-4D97-AF65-F5344CB8AC3E}">
        <p14:creationId xmlns:p14="http://schemas.microsoft.com/office/powerpoint/2010/main" val="2162144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2</a:t>
            </a:fld>
            <a:endParaRPr lang="en-IN"/>
          </a:p>
        </p:txBody>
      </p:sp>
      <p:sp>
        <p:nvSpPr>
          <p:cNvPr id="4" name="TextBox 3">
            <a:extLst>
              <a:ext uri="{FF2B5EF4-FFF2-40B4-BE49-F238E27FC236}">
                <a16:creationId xmlns:a16="http://schemas.microsoft.com/office/drawing/2014/main" id="{8A9C1741-F608-45C9-6668-19733C50868C}"/>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Agenda</a:t>
            </a:r>
            <a:endParaRPr lang="en-IN" sz="4000" b="1" dirty="0">
              <a:latin typeface="Cambria" panose="02040503050406030204" pitchFamily="18" charset="0"/>
              <a:ea typeface="Cambria" panose="02040503050406030204" pitchFamily="18" charset="0"/>
            </a:endParaRPr>
          </a:p>
        </p:txBody>
      </p:sp>
      <p:sp>
        <p:nvSpPr>
          <p:cNvPr id="5" name="Content Placeholder 7">
            <a:extLst>
              <a:ext uri="{FF2B5EF4-FFF2-40B4-BE49-F238E27FC236}">
                <a16:creationId xmlns:a16="http://schemas.microsoft.com/office/drawing/2014/main" id="{F745C16F-33D2-99EB-7E0E-85A0DC9ADD16}"/>
              </a:ext>
            </a:extLst>
          </p:cNvPr>
          <p:cNvSpPr txBox="1">
            <a:spLocks/>
          </p:cNvSpPr>
          <p:nvPr/>
        </p:nvSpPr>
        <p:spPr>
          <a:xfrm>
            <a:off x="838199" y="1793803"/>
            <a:ext cx="9438565" cy="362435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en-US" sz="2200" dirty="0">
                <a:latin typeface="Cambria" panose="02040503050406030204" pitchFamily="18" charset="0"/>
                <a:ea typeface="Cambria" panose="02040503050406030204" pitchFamily="18" charset="0"/>
              </a:rPr>
              <a:t>Problem Statement</a:t>
            </a:r>
          </a:p>
          <a:p>
            <a:pPr>
              <a:lnSpc>
                <a:spcPct val="150000"/>
              </a:lnSpc>
              <a:spcBef>
                <a:spcPts val="0"/>
              </a:spcBef>
            </a:pPr>
            <a:r>
              <a:rPr lang="en-US" sz="2200" dirty="0">
                <a:latin typeface="Cambria" panose="02040503050406030204" pitchFamily="18" charset="0"/>
                <a:ea typeface="Cambria" panose="02040503050406030204" pitchFamily="18" charset="0"/>
              </a:rPr>
              <a:t>Literature Survey</a:t>
            </a:r>
          </a:p>
          <a:p>
            <a:pPr>
              <a:lnSpc>
                <a:spcPct val="150000"/>
              </a:lnSpc>
              <a:spcBef>
                <a:spcPts val="0"/>
              </a:spcBef>
            </a:pPr>
            <a:r>
              <a:rPr lang="en-US" sz="2200" dirty="0">
                <a:latin typeface="Cambria" panose="02040503050406030204" pitchFamily="18" charset="0"/>
                <a:ea typeface="Cambria" panose="02040503050406030204" pitchFamily="18" charset="0"/>
              </a:rPr>
              <a:t>Objectives</a:t>
            </a:r>
          </a:p>
          <a:p>
            <a:pPr>
              <a:lnSpc>
                <a:spcPct val="150000"/>
              </a:lnSpc>
              <a:spcBef>
                <a:spcPts val="0"/>
              </a:spcBef>
            </a:pPr>
            <a:r>
              <a:rPr lang="en-US" sz="2200" dirty="0">
                <a:latin typeface="Cambria" panose="02040503050406030204" pitchFamily="18" charset="0"/>
                <a:ea typeface="Cambria" panose="02040503050406030204" pitchFamily="18" charset="0"/>
              </a:rPr>
              <a:t>Requirements Specification (Hardware/Software Requirements)</a:t>
            </a:r>
          </a:p>
          <a:p>
            <a:pPr>
              <a:lnSpc>
                <a:spcPct val="150000"/>
              </a:lnSpc>
              <a:spcBef>
                <a:spcPts val="0"/>
              </a:spcBef>
            </a:pPr>
            <a:r>
              <a:rPr lang="en-US" sz="2200" dirty="0">
                <a:latin typeface="Cambria" panose="02040503050406030204" pitchFamily="18" charset="0"/>
                <a:ea typeface="Cambria" panose="02040503050406030204" pitchFamily="18" charset="0"/>
              </a:rPr>
              <a:t>Project Plan and Timeline</a:t>
            </a:r>
          </a:p>
          <a:p>
            <a:pPr>
              <a:lnSpc>
                <a:spcPct val="150000"/>
              </a:lnSpc>
              <a:spcBef>
                <a:spcPts val="0"/>
              </a:spcBef>
            </a:pPr>
            <a:r>
              <a:rPr lang="en-US" sz="2200" dirty="0">
                <a:latin typeface="Cambria" panose="02040503050406030204" pitchFamily="18" charset="0"/>
                <a:ea typeface="Cambria" panose="02040503050406030204" pitchFamily="18" charset="0"/>
              </a:rPr>
              <a:t>References</a:t>
            </a:r>
            <a:endParaRPr lang="en-IN"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76272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3</a:t>
            </a:fld>
            <a:endParaRPr lang="en-IN"/>
          </a:p>
        </p:txBody>
      </p:sp>
      <p:sp>
        <p:nvSpPr>
          <p:cNvPr id="4" name="TextBox 3">
            <a:extLst>
              <a:ext uri="{FF2B5EF4-FFF2-40B4-BE49-F238E27FC236}">
                <a16:creationId xmlns:a16="http://schemas.microsoft.com/office/drawing/2014/main" id="{F4A12894-0E7D-FCE9-A846-069E08CD7E41}"/>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Problem Statement</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B0878827-ED6C-D210-CC6A-3F5026340803}"/>
              </a:ext>
            </a:extLst>
          </p:cNvPr>
          <p:cNvSpPr txBox="1"/>
          <p:nvPr/>
        </p:nvSpPr>
        <p:spPr>
          <a:xfrm>
            <a:off x="488574" y="1301750"/>
            <a:ext cx="11430000" cy="363054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dirty="0">
                <a:latin typeface="Cambria" panose="02040503050406030204" pitchFamily="18" charset="0"/>
                <a:ea typeface="Cambria" panose="02040503050406030204" pitchFamily="18" charset="0"/>
              </a:rPr>
              <a:t>Security vulnerabilities are often detected </a:t>
            </a:r>
            <a:r>
              <a:rPr lang="en-US" sz="2400" b="1" dirty="0">
                <a:latin typeface="Cambria" panose="02040503050406030204" pitchFamily="18" charset="0"/>
                <a:ea typeface="Cambria" panose="02040503050406030204" pitchFamily="18" charset="0"/>
              </a:rPr>
              <a:t>after deployment</a:t>
            </a:r>
          </a:p>
          <a:p>
            <a:pPr marL="342900"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This leads to:</a:t>
            </a:r>
          </a:p>
          <a:p>
            <a:pPr marL="1257300" lvl="2"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Increased risk of cyberattacks</a:t>
            </a:r>
          </a:p>
          <a:p>
            <a:pPr marL="1257300" lvl="2"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High remediation and maintenance costs</a:t>
            </a:r>
          </a:p>
          <a:p>
            <a:pPr marL="1257300" lvl="2"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Delays in software releases</a:t>
            </a:r>
          </a:p>
          <a:p>
            <a:pPr marL="1257300" lvl="2"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Lack of automated security integration in traditional DevOps pipelines</a:t>
            </a:r>
          </a:p>
          <a:p>
            <a:pPr marL="342900"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Need for early vulnerability detection in development lifecycle</a:t>
            </a:r>
            <a:endParaRPr lang="en-IN"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97626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4</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98444" y="-58831"/>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Literature Survey</a:t>
            </a:r>
            <a:endParaRPr lang="en-IN" sz="4000" b="1" dirty="0">
              <a:latin typeface="Cambria" panose="02040503050406030204" pitchFamily="18" charset="0"/>
              <a:ea typeface="Cambria" panose="020405030504060302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712070937"/>
              </p:ext>
            </p:extLst>
          </p:nvPr>
        </p:nvGraphicFramePr>
        <p:xfrm>
          <a:off x="194007" y="649055"/>
          <a:ext cx="11803985" cy="5559889"/>
        </p:xfrm>
        <a:graphic>
          <a:graphicData uri="http://schemas.openxmlformats.org/drawingml/2006/table">
            <a:tbl>
              <a:tblPr firstRow="1" bandRow="1">
                <a:tableStyleId>{74C1A8A3-306A-4EB7-A6B1-4F7E0EB9C5D6}</a:tableStyleId>
              </a:tblPr>
              <a:tblGrid>
                <a:gridCol w="773430">
                  <a:extLst>
                    <a:ext uri="{9D8B030D-6E8A-4147-A177-3AD203B41FA5}">
                      <a16:colId xmlns:a16="http://schemas.microsoft.com/office/drawing/2014/main" val="1246332516"/>
                    </a:ext>
                  </a:extLst>
                </a:gridCol>
                <a:gridCol w="4222230">
                  <a:extLst>
                    <a:ext uri="{9D8B030D-6E8A-4147-A177-3AD203B41FA5}">
                      <a16:colId xmlns:a16="http://schemas.microsoft.com/office/drawing/2014/main" val="3511594090"/>
                    </a:ext>
                  </a:extLst>
                </a:gridCol>
                <a:gridCol w="2462432">
                  <a:extLst>
                    <a:ext uri="{9D8B030D-6E8A-4147-A177-3AD203B41FA5}">
                      <a16:colId xmlns:a16="http://schemas.microsoft.com/office/drawing/2014/main" val="2075059803"/>
                    </a:ext>
                  </a:extLst>
                </a:gridCol>
                <a:gridCol w="1924206">
                  <a:extLst>
                    <a:ext uri="{9D8B030D-6E8A-4147-A177-3AD203B41FA5}">
                      <a16:colId xmlns:a16="http://schemas.microsoft.com/office/drawing/2014/main" val="469376826"/>
                    </a:ext>
                  </a:extLst>
                </a:gridCol>
                <a:gridCol w="2421687">
                  <a:extLst>
                    <a:ext uri="{9D8B030D-6E8A-4147-A177-3AD203B41FA5}">
                      <a16:colId xmlns:a16="http://schemas.microsoft.com/office/drawing/2014/main" val="4042864848"/>
                    </a:ext>
                  </a:extLst>
                </a:gridCol>
              </a:tblGrid>
              <a:tr h="403771">
                <a:tc>
                  <a:txBody>
                    <a:bodyPr/>
                    <a:lstStyle/>
                    <a:p>
                      <a:pPr algn="ctr"/>
                      <a:r>
                        <a:rPr lang="en-US" sz="2200" dirty="0">
                          <a:solidFill>
                            <a:srgbClr val="002060"/>
                          </a:solidFill>
                          <a:latin typeface="Cambria" panose="02040503050406030204" pitchFamily="18" charset="0"/>
                          <a:ea typeface="Cambria" panose="02040503050406030204" pitchFamily="18" charset="0"/>
                        </a:rPr>
                        <a:t>Sl.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Title</a:t>
                      </a:r>
                      <a:r>
                        <a:rPr lang="en-IN" sz="2200" baseline="0" dirty="0">
                          <a:solidFill>
                            <a:srgbClr val="002060"/>
                          </a:solidFill>
                          <a:latin typeface="Cambria" panose="02040503050406030204" pitchFamily="18" charset="0"/>
                          <a:ea typeface="Cambria" panose="02040503050406030204" pitchFamily="18" charset="0"/>
                        </a:rPr>
                        <a:t> of the paper and year</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Methodology</a:t>
                      </a:r>
                      <a:r>
                        <a:rPr lang="en-IN" sz="2200" baseline="0" dirty="0">
                          <a:solidFill>
                            <a:srgbClr val="002060"/>
                          </a:solidFill>
                          <a:latin typeface="Cambria" panose="02040503050406030204" pitchFamily="18" charset="0"/>
                          <a:ea typeface="Cambria" panose="02040503050406030204" pitchFamily="18" charset="0"/>
                        </a:rPr>
                        <a:t> </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Advantages </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Disadvantages</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7800540"/>
                  </a:ext>
                </a:extLst>
              </a:tr>
              <a:tr h="927790">
                <a:tc>
                  <a:txBody>
                    <a:bodyPr/>
                    <a:lstStyle/>
                    <a:p>
                      <a:pPr algn="ctr"/>
                      <a:r>
                        <a:rPr lang="en-US" sz="1700" dirty="0">
                          <a:latin typeface="Cambria" panose="02040503050406030204" pitchFamily="18" charset="0"/>
                          <a:ea typeface="Cambria" panose="02040503050406030204" pitchFamily="18" charset="0"/>
                        </a:rPr>
                        <a:t>1</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700" dirty="0">
                          <a:latin typeface="Cambria" panose="02040503050406030204" pitchFamily="18" charset="0"/>
                          <a:ea typeface="Cambria" panose="02040503050406030204" pitchFamily="18" charset="0"/>
                        </a:rPr>
                        <a:t>Implementing and Automating Security Scanning to a </a:t>
                      </a:r>
                      <a:r>
                        <a:rPr lang="en-US" sz="1700" dirty="0" err="1">
                          <a:latin typeface="Cambria" panose="02040503050406030204" pitchFamily="18" charset="0"/>
                          <a:ea typeface="Cambria" panose="02040503050406030204" pitchFamily="18" charset="0"/>
                        </a:rPr>
                        <a:t>DevSecOps</a:t>
                      </a:r>
                      <a:r>
                        <a:rPr lang="en-US" sz="1700" dirty="0">
                          <a:latin typeface="Cambria" panose="02040503050406030204" pitchFamily="18" charset="0"/>
                          <a:ea typeface="Cambria" panose="02040503050406030204" pitchFamily="18" charset="0"/>
                        </a:rPr>
                        <a:t> CI/CD Pipeline , 2023 </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Cambria" panose="02040503050406030204" pitchFamily="18" charset="0"/>
                          <a:ea typeface="Cambria" panose="02040503050406030204" pitchFamily="18" charset="0"/>
                        </a:rPr>
                        <a:t>Automated </a:t>
                      </a:r>
                      <a:r>
                        <a:rPr lang="en-US" sz="1700" dirty="0" err="1">
                          <a:latin typeface="Cambria" panose="02040503050406030204" pitchFamily="18" charset="0"/>
                          <a:ea typeface="Cambria" panose="02040503050406030204" pitchFamily="18" charset="0"/>
                        </a:rPr>
                        <a:t>DevSecOps</a:t>
                      </a:r>
                      <a:r>
                        <a:rPr lang="en-US" sz="1700" dirty="0">
                          <a:latin typeface="Cambria" panose="02040503050406030204" pitchFamily="18" charset="0"/>
                          <a:ea typeface="Cambria" panose="02040503050406030204" pitchFamily="18" charset="0"/>
                        </a:rPr>
                        <a:t> CI/CD with integrated SAST and DAST scanning</a:t>
                      </a:r>
                      <a:endParaRPr lang="en-US" sz="1700" b="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700" dirty="0">
                          <a:latin typeface="Cambria" panose="02040503050406030204" pitchFamily="18" charset="0"/>
                          <a:ea typeface="Cambria" panose="02040503050406030204" pitchFamily="18" charset="0"/>
                        </a:rPr>
                        <a:t>Early vulnerability detection and faster remediation</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700" dirty="0">
                          <a:latin typeface="Cambria" panose="02040503050406030204" pitchFamily="18" charset="0"/>
                          <a:ea typeface="Cambria" panose="02040503050406030204" pitchFamily="18" charset="0"/>
                        </a:rPr>
                        <a:t>Tool-dependent with limited real-world validation</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2441998"/>
                  </a:ext>
                </a:extLst>
              </a:tr>
              <a:tr h="1201980">
                <a:tc>
                  <a:txBody>
                    <a:bodyPr/>
                    <a:lstStyle/>
                    <a:p>
                      <a:pPr algn="ctr"/>
                      <a:r>
                        <a:rPr lang="en-US" sz="1700" dirty="0">
                          <a:latin typeface="Cambria" panose="02040503050406030204" pitchFamily="18" charset="0"/>
                          <a:ea typeface="Cambria" panose="02040503050406030204" pitchFamily="18" charset="0"/>
                        </a:rPr>
                        <a:t>2</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Cambria" panose="02040503050406030204" pitchFamily="18" charset="0"/>
                          <a:ea typeface="Cambria" panose="02040503050406030204" pitchFamily="18" charset="0"/>
                        </a:rPr>
                        <a:t>Automated Security Findings Management: A Case Study in Industrial DevOps,2024.</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dirty="0">
                          <a:latin typeface="Cambria" panose="02040503050406030204" pitchFamily="18" charset="0"/>
                          <a:ea typeface="Cambria" panose="02040503050406030204" pitchFamily="18" charset="0"/>
                        </a:rPr>
                        <a:t>Automated semantic knowledge base for unified security findings.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Cambria" panose="02040503050406030204" pitchFamily="18" charset="0"/>
                          <a:ea typeface="Cambria" panose="02040503050406030204" pitchFamily="18" charset="0"/>
                        </a:rPr>
                        <a:t>Enhanced data visibility </a:t>
                      </a:r>
                      <a:r>
                        <a:rPr lang="en-US" sz="1700" dirty="0" err="1">
                          <a:latin typeface="Cambria" panose="02040503050406030204" pitchFamily="18" charset="0"/>
                          <a:ea typeface="Cambria" panose="02040503050406030204" pitchFamily="18" charset="0"/>
                        </a:rPr>
                        <a:t>an.d</a:t>
                      </a:r>
                      <a:r>
                        <a:rPr lang="en-US" sz="1700" dirty="0">
                          <a:latin typeface="Cambria" panose="02040503050406030204" pitchFamily="18" charset="0"/>
                          <a:ea typeface="Cambria" panose="02040503050406030204" pitchFamily="18" charset="0"/>
                        </a:rPr>
                        <a:t> quality.</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dirty="0">
                          <a:latin typeface="Cambria" panose="02040503050406030204" pitchFamily="18" charset="0"/>
                          <a:ea typeface="Cambria" panose="02040503050406030204" pitchFamily="18" charset="0"/>
                        </a:rPr>
                        <a:t>Manual rule definition required.</a:t>
                      </a:r>
                      <a:endParaRPr lang="en-IN" sz="1700" dirty="0">
                        <a:solidFill>
                          <a:schemeClr val="tx1"/>
                        </a:solidFill>
                        <a:latin typeface="Cambria" panose="02040503050406030204" pitchFamily="18" charset="0"/>
                        <a:ea typeface="Cambria" panose="02040503050406030204" pitchFamily="18" charset="0"/>
                      </a:endParaRPr>
                    </a:p>
                    <a:p>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382206"/>
                  </a:ext>
                </a:extLst>
              </a:tr>
              <a:tr h="1019230">
                <a:tc>
                  <a:txBody>
                    <a:bodyPr/>
                    <a:lstStyle/>
                    <a:p>
                      <a:pPr algn="ctr"/>
                      <a:r>
                        <a:rPr lang="en-US" sz="1700" b="0" dirty="0">
                          <a:latin typeface="Cambria" panose="02040503050406030204" pitchFamily="18" charset="0"/>
                          <a:ea typeface="Cambria" panose="02040503050406030204" pitchFamily="18" charset="0"/>
                        </a:rPr>
                        <a:t>3</a:t>
                      </a:r>
                      <a:endParaRPr lang="en-IN" sz="1700" b="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Cambria" panose="02040503050406030204" pitchFamily="18" charset="0"/>
                          <a:ea typeface="Cambria" panose="02040503050406030204" pitchFamily="18" charset="0"/>
                        </a:rPr>
                        <a:t>Challenges affecting the successful adoption of DevOps practices: A systematic literature review ,2024. </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dirty="0">
                          <a:latin typeface="Cambria" panose="02040503050406030204" pitchFamily="18" charset="0"/>
                          <a:ea typeface="Cambria" panose="02040503050406030204" pitchFamily="18" charset="0"/>
                        </a:rPr>
                        <a:t>PRISMA-based systematic literature review of 21 studies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dirty="0">
                          <a:latin typeface="Cambria" panose="02040503050406030204" pitchFamily="18" charset="0"/>
                          <a:ea typeface="Cambria" panose="02040503050406030204" pitchFamily="18" charset="0"/>
                        </a:rPr>
                        <a:t>Identifies success factors and offers structured frameworks for challenges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dirty="0">
                          <a:latin typeface="Cambria" panose="02040503050406030204" pitchFamily="18" charset="0"/>
                          <a:ea typeface="Cambria" panose="02040503050406030204" pitchFamily="18" charset="0"/>
                        </a:rPr>
                        <a:t>Highlights cultural resistance, high costs, skill gaps, and legacy complexity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4219671"/>
                  </a:ext>
                </a:extLst>
              </a:tr>
              <a:tr h="1616559">
                <a:tc>
                  <a:txBody>
                    <a:bodyPr/>
                    <a:lstStyle/>
                    <a:p>
                      <a:pPr algn="ctr"/>
                      <a:r>
                        <a:rPr lang="en-US" sz="1700" b="1" dirty="0">
                          <a:latin typeface="Cambria" panose="02040503050406030204" pitchFamily="18" charset="0"/>
                          <a:ea typeface="Cambria" panose="02040503050406030204" pitchFamily="18" charset="0"/>
                        </a:rPr>
                        <a:t>4</a:t>
                      </a:r>
                      <a:endParaRPr lang="en-IN" sz="1700" b="1"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dirty="0">
                          <a:latin typeface="Cambria" panose="02040503050406030204" pitchFamily="18" charset="0"/>
                          <a:ea typeface="Cambria" panose="02040503050406030204" pitchFamily="18" charset="0"/>
                        </a:rPr>
                        <a:t>Enhancing Smart Contract Security Through </a:t>
                      </a:r>
                      <a:r>
                        <a:rPr lang="en-US" sz="1700" b="1" dirty="0" err="1">
                          <a:latin typeface="Cambria" panose="02040503050406030204" pitchFamily="18" charset="0"/>
                          <a:ea typeface="Cambria" panose="02040503050406030204" pitchFamily="18" charset="0"/>
                        </a:rPr>
                        <a:t>DevSecOps</a:t>
                      </a:r>
                      <a:r>
                        <a:rPr lang="en-US" sz="1700" b="1" dirty="0">
                          <a:latin typeface="Cambria" panose="02040503050406030204" pitchFamily="18" charset="0"/>
                          <a:ea typeface="Cambria" panose="02040503050406030204" pitchFamily="18" charset="0"/>
                        </a:rPr>
                        <a:t>: An Adaptive Approach for Vulnerability Detection , 2025</a:t>
                      </a:r>
                      <a:endParaRPr lang="en-IN" sz="17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dirty="0">
                          <a:latin typeface="Cambria" panose="02040503050406030204" pitchFamily="18" charset="0"/>
                          <a:ea typeface="Cambria" panose="02040503050406030204" pitchFamily="18" charset="0"/>
                        </a:rPr>
                        <a:t>Adaptive </a:t>
                      </a:r>
                      <a:r>
                        <a:rPr lang="en-US" sz="1700" b="1" dirty="0" err="1">
                          <a:latin typeface="Cambria" panose="02040503050406030204" pitchFamily="18" charset="0"/>
                          <a:ea typeface="Cambria" panose="02040503050406030204" pitchFamily="18" charset="0"/>
                        </a:rPr>
                        <a:t>DevSecOps</a:t>
                      </a:r>
                      <a:r>
                        <a:rPr lang="en-US" sz="1700" b="1" dirty="0">
                          <a:latin typeface="Cambria" panose="02040503050406030204" pitchFamily="18" charset="0"/>
                          <a:ea typeface="Cambria" panose="02040503050406030204" pitchFamily="18" charset="0"/>
                        </a:rPr>
                        <a:t> with AI and testing tools</a:t>
                      </a:r>
                      <a:endParaRPr lang="en-IN" sz="17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b="1" dirty="0">
                          <a:latin typeface="Cambria" panose="02040503050406030204" pitchFamily="18" charset="0"/>
                          <a:ea typeface="Cambria" panose="02040503050406030204" pitchFamily="18" charset="0"/>
                        </a:rPr>
                        <a:t>Early vulnerability detection</a:t>
                      </a:r>
                      <a:endParaRPr lang="en-IN" sz="1700" b="1" dirty="0">
                        <a:solidFill>
                          <a:schemeClr val="tx1"/>
                        </a:solidFill>
                        <a:latin typeface="Cambria" panose="02040503050406030204" pitchFamily="18" charset="0"/>
                        <a:ea typeface="Cambria" panose="02040503050406030204" pitchFamily="18" charset="0"/>
                      </a:endParaRPr>
                    </a:p>
                    <a:p>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b="1" dirty="0">
                          <a:latin typeface="Cambria" panose="02040503050406030204" pitchFamily="18" charset="0"/>
                          <a:ea typeface="Cambria" panose="02040503050406030204" pitchFamily="18" charset="0"/>
                        </a:rPr>
                        <a:t>Complex to implement</a:t>
                      </a:r>
                      <a:endParaRPr lang="en-IN" sz="17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67957622"/>
                  </a:ext>
                </a:extLst>
              </a:tr>
            </a:tbl>
          </a:graphicData>
        </a:graphic>
      </p:graphicFrame>
    </p:spTree>
    <p:extLst>
      <p:ext uri="{BB962C8B-B14F-4D97-AF65-F5344CB8AC3E}">
        <p14:creationId xmlns:p14="http://schemas.microsoft.com/office/powerpoint/2010/main" val="3131449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5</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Literature Survey</a:t>
            </a:r>
            <a:endParaRPr lang="en-IN" sz="4000" b="1" dirty="0">
              <a:latin typeface="Cambria" panose="02040503050406030204" pitchFamily="18" charset="0"/>
              <a:ea typeface="Cambria" panose="020405030504060302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726606295"/>
              </p:ext>
            </p:extLst>
          </p:nvPr>
        </p:nvGraphicFramePr>
        <p:xfrm>
          <a:off x="381000" y="958572"/>
          <a:ext cx="11627225" cy="5301809"/>
        </p:xfrm>
        <a:graphic>
          <a:graphicData uri="http://schemas.openxmlformats.org/drawingml/2006/table">
            <a:tbl>
              <a:tblPr firstRow="1" bandRow="1">
                <a:tableStyleId>{74C1A8A3-306A-4EB7-A6B1-4F7E0EB9C5D6}</a:tableStyleId>
              </a:tblPr>
              <a:tblGrid>
                <a:gridCol w="822867">
                  <a:extLst>
                    <a:ext uri="{9D8B030D-6E8A-4147-A177-3AD203B41FA5}">
                      <a16:colId xmlns:a16="http://schemas.microsoft.com/office/drawing/2014/main" val="1246332516"/>
                    </a:ext>
                  </a:extLst>
                </a:gridCol>
                <a:gridCol w="3799859">
                  <a:extLst>
                    <a:ext uri="{9D8B030D-6E8A-4147-A177-3AD203B41FA5}">
                      <a16:colId xmlns:a16="http://schemas.microsoft.com/office/drawing/2014/main" val="3511594090"/>
                    </a:ext>
                  </a:extLst>
                </a:gridCol>
                <a:gridCol w="2334833">
                  <a:extLst>
                    <a:ext uri="{9D8B030D-6E8A-4147-A177-3AD203B41FA5}">
                      <a16:colId xmlns:a16="http://schemas.microsoft.com/office/drawing/2014/main" val="2075059803"/>
                    </a:ext>
                  </a:extLst>
                </a:gridCol>
                <a:gridCol w="2334833">
                  <a:extLst>
                    <a:ext uri="{9D8B030D-6E8A-4147-A177-3AD203B41FA5}">
                      <a16:colId xmlns:a16="http://schemas.microsoft.com/office/drawing/2014/main" val="469376826"/>
                    </a:ext>
                  </a:extLst>
                </a:gridCol>
                <a:gridCol w="2334833">
                  <a:extLst>
                    <a:ext uri="{9D8B030D-6E8A-4147-A177-3AD203B41FA5}">
                      <a16:colId xmlns:a16="http://schemas.microsoft.com/office/drawing/2014/main" val="4042864848"/>
                    </a:ext>
                  </a:extLst>
                </a:gridCol>
              </a:tblGrid>
              <a:tr h="495594">
                <a:tc>
                  <a:txBody>
                    <a:bodyPr/>
                    <a:lstStyle/>
                    <a:p>
                      <a:pPr algn="ctr"/>
                      <a:r>
                        <a:rPr lang="en-US" sz="2200" dirty="0">
                          <a:solidFill>
                            <a:srgbClr val="002060"/>
                          </a:solidFill>
                          <a:latin typeface="Cambria" panose="02040503050406030204" pitchFamily="18" charset="0"/>
                          <a:ea typeface="Cambria" panose="02040503050406030204" pitchFamily="18" charset="0"/>
                        </a:rPr>
                        <a:t>Sl.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Title</a:t>
                      </a:r>
                      <a:r>
                        <a:rPr lang="en-IN" sz="2200" baseline="0" dirty="0">
                          <a:solidFill>
                            <a:srgbClr val="002060"/>
                          </a:solidFill>
                          <a:latin typeface="Cambria" panose="02040503050406030204" pitchFamily="18" charset="0"/>
                          <a:ea typeface="Cambria" panose="02040503050406030204" pitchFamily="18" charset="0"/>
                        </a:rPr>
                        <a:t> of the paper and year</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Methodology</a:t>
                      </a:r>
                      <a:r>
                        <a:rPr lang="en-IN" sz="2200" baseline="0" dirty="0">
                          <a:solidFill>
                            <a:srgbClr val="002060"/>
                          </a:solidFill>
                          <a:latin typeface="Cambria" panose="02040503050406030204" pitchFamily="18" charset="0"/>
                          <a:ea typeface="Cambria" panose="02040503050406030204" pitchFamily="18" charset="0"/>
                        </a:rPr>
                        <a:t> </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Advantages </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Disadvantages</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7800540"/>
                  </a:ext>
                </a:extLst>
              </a:tr>
              <a:tr h="1008887">
                <a:tc>
                  <a:txBody>
                    <a:bodyPr/>
                    <a:lstStyle/>
                    <a:p>
                      <a:pPr algn="ctr"/>
                      <a:r>
                        <a:rPr lang="en-US" sz="1700" dirty="0">
                          <a:latin typeface="Cambria" panose="02040503050406030204" pitchFamily="18" charset="0"/>
                          <a:ea typeface="Cambria" panose="02040503050406030204" pitchFamily="18" charset="0"/>
                        </a:rPr>
                        <a:t>5</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Cambria" panose="02040503050406030204" pitchFamily="18" charset="0"/>
                          <a:ea typeface="Cambria" panose="02040503050406030204" pitchFamily="18" charset="0"/>
                        </a:rPr>
                        <a:t>Cybersecurity in DevOps Environments: A Systematic Literature Review ,2025.</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dirty="0">
                          <a:latin typeface="Cambria" panose="02040503050406030204" pitchFamily="18" charset="0"/>
                          <a:ea typeface="Cambria" panose="02040503050406030204" pitchFamily="18" charset="0"/>
                        </a:rPr>
                        <a:t>Systematic literature review.</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dirty="0">
                          <a:latin typeface="Cambria" panose="02040503050406030204" pitchFamily="18" charset="0"/>
                          <a:ea typeface="Cambria" panose="02040503050406030204" pitchFamily="18" charset="0"/>
                        </a:rPr>
                        <a:t>Broad evidence and taxonomy.</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dirty="0">
                          <a:latin typeface="Cambria" panose="02040503050406030204" pitchFamily="18" charset="0"/>
                          <a:ea typeface="Cambria" panose="02040503050406030204" pitchFamily="18" charset="0"/>
                        </a:rPr>
                        <a:t>No empirical validation.</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2441998"/>
                  </a:ext>
                </a:extLst>
              </a:tr>
              <a:tr h="977928">
                <a:tc>
                  <a:txBody>
                    <a:bodyPr/>
                    <a:lstStyle/>
                    <a:p>
                      <a:pPr algn="ctr"/>
                      <a:r>
                        <a:rPr lang="en-US" sz="1700" dirty="0">
                          <a:latin typeface="Cambria" panose="02040503050406030204" pitchFamily="18" charset="0"/>
                          <a:ea typeface="Cambria" panose="02040503050406030204" pitchFamily="18" charset="0"/>
                        </a:rPr>
                        <a:t>6</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Effort Estimation in Agile and DevOps: A Systematic Literature Review of Stakeholder Dissatisfaction ,2025 </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Systematic Literature Review using PICOS &amp; PRISMA</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700" dirty="0">
                          <a:latin typeface="Cambria" panose="02040503050406030204" pitchFamily="18" charset="0"/>
                          <a:ea typeface="Cambria" panose="02040503050406030204" pitchFamily="18" charset="0"/>
                        </a:rPr>
                        <a:t>Identifies causes of estimation failure</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700" dirty="0">
                          <a:latin typeface="Cambria" panose="02040503050406030204" pitchFamily="18" charset="0"/>
                          <a:ea typeface="Cambria" panose="02040503050406030204" pitchFamily="18" charset="0"/>
                        </a:rPr>
                        <a:t>No new estimation model</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382206"/>
                  </a:ext>
                </a:extLst>
              </a:tr>
              <a:tr h="1432560">
                <a:tc>
                  <a:txBody>
                    <a:bodyPr/>
                    <a:lstStyle/>
                    <a:p>
                      <a:pPr algn="ctr"/>
                      <a:r>
                        <a:rPr lang="en-US" sz="1700" dirty="0">
                          <a:latin typeface="Cambria" panose="02040503050406030204" pitchFamily="18" charset="0"/>
                          <a:ea typeface="Cambria" panose="02040503050406030204" pitchFamily="18" charset="0"/>
                        </a:rPr>
                        <a:t>7</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Extensive Review of Threat Models for </a:t>
                      </a:r>
                      <a:r>
                        <a:rPr lang="en-US" sz="1700" dirty="0" err="1">
                          <a:latin typeface="Cambria" panose="02040503050406030204" pitchFamily="18" charset="0"/>
                          <a:ea typeface="Cambria" panose="02040503050406030204" pitchFamily="18" charset="0"/>
                        </a:rPr>
                        <a:t>DevSecOps</a:t>
                      </a:r>
                      <a:r>
                        <a:rPr lang="en-US" sz="1700" dirty="0">
                          <a:latin typeface="Cambria" panose="02040503050406030204" pitchFamily="18" charset="0"/>
                          <a:ea typeface="Cambria" panose="02040503050406030204" pitchFamily="18" charset="0"/>
                        </a:rPr>
                        <a:t> ,2025</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dirty="0">
                          <a:latin typeface="Cambria" panose="02040503050406030204" pitchFamily="18" charset="0"/>
                          <a:ea typeface="Cambria" panose="02040503050406030204" pitchFamily="18" charset="0"/>
                        </a:rPr>
                        <a:t>Systematic review of threat models with layered </a:t>
                      </a:r>
                      <a:r>
                        <a:rPr lang="en-US" sz="1700" b="0" dirty="0" err="1">
                          <a:latin typeface="Cambria" panose="02040503050406030204" pitchFamily="18" charset="0"/>
                          <a:ea typeface="Cambria" panose="02040503050406030204" pitchFamily="18" charset="0"/>
                        </a:rPr>
                        <a:t>DevSecOps</a:t>
                      </a:r>
                      <a:r>
                        <a:rPr lang="en-US" sz="1700" b="0" dirty="0">
                          <a:latin typeface="Cambria" panose="02040503050406030204" pitchFamily="18" charset="0"/>
                          <a:ea typeface="Cambria" panose="02040503050406030204" pitchFamily="18" charset="0"/>
                        </a:rPr>
                        <a:t> framework for single and </a:t>
                      </a:r>
                      <a:r>
                        <a:rPr lang="en-US" sz="1700" b="0" dirty="0" err="1">
                          <a:latin typeface="Cambria" panose="02040503050406030204" pitchFamily="18" charset="0"/>
                          <a:ea typeface="Cambria" panose="02040503050406030204" pitchFamily="18" charset="0"/>
                        </a:rPr>
                        <a:t>multicloud</a:t>
                      </a:r>
                      <a:endParaRPr lang="en-US" sz="1700" b="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dirty="0">
                          <a:latin typeface="Cambria" panose="02040503050406030204" pitchFamily="18" charset="0"/>
                          <a:ea typeface="Cambria" panose="02040503050406030204" pitchFamily="18" charset="0"/>
                        </a:rPr>
                        <a:t>Comprehensive threat model coverage with early security integration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dirty="0">
                          <a:latin typeface="Cambria" panose="02040503050406030204" pitchFamily="18" charset="0"/>
                          <a:ea typeface="Cambria" panose="02040503050406030204" pitchFamily="18" charset="0"/>
                        </a:rPr>
                        <a:t>Conceptual study without experimental validation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4219671"/>
                  </a:ext>
                </a:extLst>
              </a:tr>
              <a:tr h="407095">
                <a:tc>
                  <a:txBody>
                    <a:bodyPr/>
                    <a:lstStyle/>
                    <a:p>
                      <a:pPr algn="ctr"/>
                      <a:r>
                        <a:rPr lang="en-US" sz="1700" dirty="0">
                          <a:latin typeface="Cambria" panose="02040503050406030204" pitchFamily="18" charset="0"/>
                          <a:ea typeface="Cambria" panose="02040503050406030204" pitchFamily="18" charset="0"/>
                        </a:rPr>
                        <a:t>8</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Cambria" panose="02040503050406030204" pitchFamily="18" charset="0"/>
                          <a:ea typeface="Cambria" panose="02040503050406030204" pitchFamily="18" charset="0"/>
                        </a:rPr>
                        <a:t>Empirical Investigation of Key Enablers for Secure DevOps Practices, 2025</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dirty="0">
                          <a:latin typeface="Cambria" panose="02040503050406030204" pitchFamily="18" charset="0"/>
                          <a:ea typeface="Cambria" panose="02040503050406030204" pitchFamily="18" charset="0"/>
                        </a:rPr>
                        <a:t>Empirical Study / Survey-based Research</a:t>
                      </a:r>
                      <a:r>
                        <a:rPr lang="en-US" sz="1700" dirty="0">
                          <a:solidFill>
                            <a:schemeClr val="tx1"/>
                          </a:solidFill>
                          <a:latin typeface="Cambria" panose="02040503050406030204" pitchFamily="18" charset="0"/>
                          <a:ea typeface="Cambria" panose="02040503050406030204" pitchFamily="18" charset="0"/>
                        </a:rPr>
                        <a:t>.</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dirty="0">
                          <a:latin typeface="Cambria" panose="02040503050406030204" pitchFamily="18" charset="0"/>
                          <a:ea typeface="Cambria" panose="02040503050406030204" pitchFamily="18" charset="0"/>
                        </a:rPr>
                        <a:t>Statistically validated results, industry support, sustainability focus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Cambria" panose="02040503050406030204" pitchFamily="18" charset="0"/>
                          <a:ea typeface="Cambria" panose="02040503050406030204" pitchFamily="18" charset="0"/>
                        </a:rPr>
                        <a:t>No technical implementation, survey bias risk, no performance benchmarking</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57622"/>
                  </a:ext>
                </a:extLst>
              </a:tr>
            </a:tbl>
          </a:graphicData>
        </a:graphic>
      </p:graphicFrame>
    </p:spTree>
    <p:extLst>
      <p:ext uri="{BB962C8B-B14F-4D97-AF65-F5344CB8AC3E}">
        <p14:creationId xmlns:p14="http://schemas.microsoft.com/office/powerpoint/2010/main" val="3550469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BF7E5-7BEB-577A-7F50-82A0274A0B3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CF3FEED-0417-6208-46AD-2CB25B06881E}"/>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129B0017-3F41-422B-7409-0FB5632E5DA7}"/>
              </a:ext>
            </a:extLst>
          </p:cNvPr>
          <p:cNvSpPr>
            <a:spLocks noGrp="1"/>
          </p:cNvSpPr>
          <p:nvPr>
            <p:ph type="sldNum" sz="quarter" idx="4"/>
          </p:nvPr>
        </p:nvSpPr>
        <p:spPr/>
        <p:txBody>
          <a:bodyPr/>
          <a:lstStyle/>
          <a:p>
            <a:fld id="{FFAE6D68-FB99-4243-9CC1-93FAA8C005BC}" type="slidenum">
              <a:rPr lang="en-IN" smtClean="0"/>
              <a:pPr/>
              <a:t>6</a:t>
            </a:fld>
            <a:endParaRPr lang="en-IN"/>
          </a:p>
        </p:txBody>
      </p:sp>
      <p:sp>
        <p:nvSpPr>
          <p:cNvPr id="4" name="TextBox 3">
            <a:extLst>
              <a:ext uri="{FF2B5EF4-FFF2-40B4-BE49-F238E27FC236}">
                <a16:creationId xmlns:a16="http://schemas.microsoft.com/office/drawing/2014/main" id="{1C0ACCFF-7B2A-5D1C-77C9-68912F460998}"/>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Literature Survey</a:t>
            </a:r>
            <a:endParaRPr lang="en-IN" sz="4000" b="1" dirty="0">
              <a:latin typeface="Cambria" panose="02040503050406030204" pitchFamily="18" charset="0"/>
              <a:ea typeface="Cambria" panose="02040503050406030204" pitchFamily="18" charset="0"/>
            </a:endParaRPr>
          </a:p>
        </p:txBody>
      </p:sp>
      <p:graphicFrame>
        <p:nvGraphicFramePr>
          <p:cNvPr id="10" name="Table 9">
            <a:extLst>
              <a:ext uri="{FF2B5EF4-FFF2-40B4-BE49-F238E27FC236}">
                <a16:creationId xmlns:a16="http://schemas.microsoft.com/office/drawing/2014/main" id="{5F8EFF7C-1375-B2C4-04A2-879B7407DC62}"/>
              </a:ext>
            </a:extLst>
          </p:cNvPr>
          <p:cNvGraphicFramePr>
            <a:graphicFrameLocks noGrp="1"/>
          </p:cNvGraphicFramePr>
          <p:nvPr>
            <p:extLst>
              <p:ext uri="{D42A27DB-BD31-4B8C-83A1-F6EECF244321}">
                <p14:modId xmlns:p14="http://schemas.microsoft.com/office/powerpoint/2010/main" val="2301831654"/>
              </p:ext>
            </p:extLst>
          </p:nvPr>
        </p:nvGraphicFramePr>
        <p:xfrm>
          <a:off x="381000" y="958572"/>
          <a:ext cx="11627225" cy="2751114"/>
        </p:xfrm>
        <a:graphic>
          <a:graphicData uri="http://schemas.openxmlformats.org/drawingml/2006/table">
            <a:tbl>
              <a:tblPr firstRow="1" bandRow="1">
                <a:tableStyleId>{74C1A8A3-306A-4EB7-A6B1-4F7E0EB9C5D6}</a:tableStyleId>
              </a:tblPr>
              <a:tblGrid>
                <a:gridCol w="822867">
                  <a:extLst>
                    <a:ext uri="{9D8B030D-6E8A-4147-A177-3AD203B41FA5}">
                      <a16:colId xmlns:a16="http://schemas.microsoft.com/office/drawing/2014/main" val="1246332516"/>
                    </a:ext>
                  </a:extLst>
                </a:gridCol>
                <a:gridCol w="3799859">
                  <a:extLst>
                    <a:ext uri="{9D8B030D-6E8A-4147-A177-3AD203B41FA5}">
                      <a16:colId xmlns:a16="http://schemas.microsoft.com/office/drawing/2014/main" val="3511594090"/>
                    </a:ext>
                  </a:extLst>
                </a:gridCol>
                <a:gridCol w="2334833">
                  <a:extLst>
                    <a:ext uri="{9D8B030D-6E8A-4147-A177-3AD203B41FA5}">
                      <a16:colId xmlns:a16="http://schemas.microsoft.com/office/drawing/2014/main" val="2075059803"/>
                    </a:ext>
                  </a:extLst>
                </a:gridCol>
                <a:gridCol w="2334833">
                  <a:extLst>
                    <a:ext uri="{9D8B030D-6E8A-4147-A177-3AD203B41FA5}">
                      <a16:colId xmlns:a16="http://schemas.microsoft.com/office/drawing/2014/main" val="469376826"/>
                    </a:ext>
                  </a:extLst>
                </a:gridCol>
                <a:gridCol w="2334833">
                  <a:extLst>
                    <a:ext uri="{9D8B030D-6E8A-4147-A177-3AD203B41FA5}">
                      <a16:colId xmlns:a16="http://schemas.microsoft.com/office/drawing/2014/main" val="4042864848"/>
                    </a:ext>
                  </a:extLst>
                </a:gridCol>
              </a:tblGrid>
              <a:tr h="495594">
                <a:tc>
                  <a:txBody>
                    <a:bodyPr/>
                    <a:lstStyle/>
                    <a:p>
                      <a:pPr algn="ctr"/>
                      <a:r>
                        <a:rPr lang="en-US" sz="2200" dirty="0">
                          <a:solidFill>
                            <a:srgbClr val="002060"/>
                          </a:solidFill>
                          <a:latin typeface="Cambria" panose="02040503050406030204" pitchFamily="18" charset="0"/>
                          <a:ea typeface="Cambria" panose="02040503050406030204" pitchFamily="18" charset="0"/>
                        </a:rPr>
                        <a:t>Sl.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Title</a:t>
                      </a:r>
                      <a:r>
                        <a:rPr lang="en-IN" sz="2200" baseline="0" dirty="0">
                          <a:solidFill>
                            <a:srgbClr val="002060"/>
                          </a:solidFill>
                          <a:latin typeface="Cambria" panose="02040503050406030204" pitchFamily="18" charset="0"/>
                          <a:ea typeface="Cambria" panose="02040503050406030204" pitchFamily="18" charset="0"/>
                        </a:rPr>
                        <a:t> of the paper and year</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Methodology</a:t>
                      </a:r>
                      <a:r>
                        <a:rPr lang="en-IN" sz="2200" baseline="0" dirty="0">
                          <a:solidFill>
                            <a:srgbClr val="002060"/>
                          </a:solidFill>
                          <a:latin typeface="Cambria" panose="02040503050406030204" pitchFamily="18" charset="0"/>
                          <a:ea typeface="Cambria" panose="02040503050406030204" pitchFamily="18" charset="0"/>
                        </a:rPr>
                        <a:t> </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Advantages </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Disadvantages</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7800540"/>
                  </a:ext>
                </a:extLst>
              </a:tr>
              <a:tr h="1008887">
                <a:tc>
                  <a:txBody>
                    <a:bodyPr/>
                    <a:lstStyle/>
                    <a:p>
                      <a:pPr algn="ctr"/>
                      <a:r>
                        <a:rPr lang="en-US" sz="1700" dirty="0">
                          <a:latin typeface="Cambria" panose="02040503050406030204" pitchFamily="18" charset="0"/>
                          <a:ea typeface="Cambria" panose="02040503050406030204" pitchFamily="18" charset="0"/>
                        </a:rPr>
                        <a:t>9</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solidFill>
                            <a:schemeClr val="tx1"/>
                          </a:solidFill>
                          <a:latin typeface="Cambria" panose="02040503050406030204" pitchFamily="18" charset="0"/>
                          <a:ea typeface="Cambria" panose="02040503050406030204" pitchFamily="18" charset="0"/>
                        </a:rPr>
                        <a:t>Building Resilient CI/CD Pipelines: A DevOps Security-First Framework ,2025</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solidFill>
                            <a:schemeClr val="tx1"/>
                          </a:solidFill>
                          <a:latin typeface="Cambria" panose="02040503050406030204" pitchFamily="18" charset="0"/>
                          <a:ea typeface="Cambria" panose="02040503050406030204" pitchFamily="18" charset="0"/>
                        </a:rPr>
                        <a:t>Case study implementing a secure CI/CD pipeline using AWS and DevOps tools.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solidFill>
                            <a:schemeClr val="tx1"/>
                          </a:solidFill>
                          <a:latin typeface="Cambria" panose="02040503050406030204" pitchFamily="18" charset="0"/>
                          <a:ea typeface="Cambria" panose="02040503050406030204" pitchFamily="18" charset="0"/>
                        </a:rPr>
                        <a:t>Improves security, automation, and deployment reliability.</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solidFill>
                            <a:schemeClr val="tx1"/>
                          </a:solidFill>
                          <a:latin typeface="Cambria" panose="02040503050406030204" pitchFamily="18" charset="0"/>
                          <a:ea typeface="Cambria" panose="02040503050406030204" pitchFamily="18" charset="0"/>
                        </a:rPr>
                        <a:t>Complex setup and limited generalization.</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2441998"/>
                  </a:ext>
                </a:extLst>
              </a:tr>
              <a:tr h="977928">
                <a:tc>
                  <a:txBody>
                    <a:bodyPr/>
                    <a:lstStyle/>
                    <a:p>
                      <a:pPr algn="ctr"/>
                      <a:r>
                        <a:rPr lang="en-US" sz="1700" dirty="0">
                          <a:latin typeface="Cambria" panose="02040503050406030204" pitchFamily="18" charset="0"/>
                          <a:ea typeface="Cambria" panose="02040503050406030204" pitchFamily="18" charset="0"/>
                        </a:rPr>
                        <a:t>10</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Enhancing DevOps Continuous Monitoring Phase: Hybrid Intrusion Detection and Ensemble Learning System (HIDELS),2026</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700" dirty="0">
                          <a:latin typeface="Cambria" panose="02040503050406030204" pitchFamily="18" charset="0"/>
                          <a:ea typeface="Cambria" panose="02040503050406030204" pitchFamily="18" charset="0"/>
                        </a:rPr>
                        <a:t>Experimental / Machine Learning based</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High accuracy, strong robustness, </a:t>
                      </a:r>
                      <a:r>
                        <a:rPr lang="en-US" sz="1700" dirty="0" err="1">
                          <a:latin typeface="Cambria" panose="02040503050406030204" pitchFamily="18" charset="0"/>
                          <a:ea typeface="Cambria" panose="02040503050406030204" pitchFamily="18" charset="0"/>
                        </a:rPr>
                        <a:t>DevSecOps</a:t>
                      </a:r>
                      <a:r>
                        <a:rPr lang="en-US" sz="1700" dirty="0">
                          <a:latin typeface="Cambria" panose="02040503050406030204" pitchFamily="18" charset="0"/>
                          <a:ea typeface="Cambria" panose="02040503050406030204" pitchFamily="18" charset="0"/>
                        </a:rPr>
                        <a:t> automation, lower bias.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High cost, no deep learning, limited scalability discussion</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382206"/>
                  </a:ext>
                </a:extLst>
              </a:tr>
            </a:tbl>
          </a:graphicData>
        </a:graphic>
      </p:graphicFrame>
    </p:spTree>
    <p:extLst>
      <p:ext uri="{BB962C8B-B14F-4D97-AF65-F5344CB8AC3E}">
        <p14:creationId xmlns:p14="http://schemas.microsoft.com/office/powerpoint/2010/main" val="2379946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7</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Objectives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55BEC630-6F30-942B-AE77-8AB365B0B80F}"/>
              </a:ext>
            </a:extLst>
          </p:cNvPr>
          <p:cNvSpPr txBox="1"/>
          <p:nvPr/>
        </p:nvSpPr>
        <p:spPr>
          <a:xfrm>
            <a:off x="580072" y="1332845"/>
            <a:ext cx="10769917" cy="257685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To design and implement a secure CI/CD pipeline </a:t>
            </a:r>
          </a:p>
          <a:p>
            <a:pPr marL="342900" indent="-342900">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To integrate security testing tools into DevOps workflows </a:t>
            </a:r>
          </a:p>
          <a:p>
            <a:pPr marL="342900" indent="-342900">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To identify and mitigate vulnerabilities at early stages of development </a:t>
            </a:r>
          </a:p>
          <a:p>
            <a:pPr marL="342900" indent="-342900">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To reduce security risks and remediation costs </a:t>
            </a:r>
          </a:p>
          <a:p>
            <a:pPr marL="342900" indent="-342900">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To ensure faster and secure software delivery </a:t>
            </a:r>
            <a:endParaRPr lang="en-IN"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79392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8</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470246" y="182880"/>
            <a:ext cx="749262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Requirements Specification</a:t>
            </a:r>
            <a:endParaRPr lang="en-IN" sz="4000" b="1" dirty="0">
              <a:latin typeface="Cambria" panose="02040503050406030204" pitchFamily="18" charset="0"/>
              <a:ea typeface="Cambria" panose="02040503050406030204" pitchFamily="18" charset="0"/>
            </a:endParaRPr>
          </a:p>
        </p:txBody>
      </p:sp>
      <p:sp>
        <p:nvSpPr>
          <p:cNvPr id="5" name="Rectangle 4"/>
          <p:cNvSpPr/>
          <p:nvPr/>
        </p:nvSpPr>
        <p:spPr>
          <a:xfrm>
            <a:off x="678195" y="1227061"/>
            <a:ext cx="10676741" cy="4308872"/>
          </a:xfrm>
          <a:prstGeom prst="rect">
            <a:avLst/>
          </a:prstGeom>
        </p:spPr>
        <p:txBody>
          <a:bodyPr wrap="square">
            <a:spAutoFit/>
          </a:bodyPr>
          <a:lstStyle/>
          <a:p>
            <a:pPr>
              <a:lnSpc>
                <a:spcPct val="150000"/>
              </a:lnSpc>
              <a:spcBef>
                <a:spcPts val="0"/>
              </a:spcBef>
            </a:pPr>
            <a:r>
              <a:rPr lang="en-US" sz="2400" b="1" dirty="0">
                <a:latin typeface="Cambria" panose="02040503050406030204" pitchFamily="18" charset="0"/>
                <a:ea typeface="Cambria" panose="02040503050406030204" pitchFamily="18" charset="0"/>
              </a:rPr>
              <a:t>Hardware Requirements</a:t>
            </a:r>
          </a:p>
          <a:p>
            <a:pPr>
              <a:lnSpc>
                <a:spcPct val="150000"/>
              </a:lnSpc>
              <a:spcBef>
                <a:spcPts val="0"/>
              </a:spcBef>
            </a:pPr>
            <a:endParaRPr lang="en-US" sz="2400" b="1" dirty="0">
              <a:latin typeface="Cambria" panose="02040503050406030204" pitchFamily="18" charset="0"/>
              <a:ea typeface="Cambria" panose="02040503050406030204" pitchFamily="18" charset="0"/>
            </a:endParaRPr>
          </a:p>
          <a:p>
            <a:r>
              <a:rPr lang="en-IN" sz="2000" b="1" dirty="0">
                <a:latin typeface="Cambria" panose="02040503050406030204" pitchFamily="18" charset="0"/>
                <a:ea typeface="Cambria" panose="02040503050406030204" pitchFamily="18" charset="0"/>
              </a:rPr>
              <a:t>Minimum Hardware</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Processor: Intel i5 / AMD </a:t>
            </a:r>
            <a:r>
              <a:rPr lang="en-IN" dirty="0" err="1">
                <a:latin typeface="Cambria" panose="02040503050406030204" pitchFamily="18" charset="0"/>
                <a:ea typeface="Cambria" panose="02040503050406030204" pitchFamily="18" charset="0"/>
              </a:rPr>
              <a:t>Ryzen</a:t>
            </a:r>
            <a:r>
              <a:rPr lang="en-IN" dirty="0">
                <a:latin typeface="Cambria" panose="02040503050406030204" pitchFamily="18" charset="0"/>
                <a:ea typeface="Cambria" panose="02040503050406030204" pitchFamily="18" charset="0"/>
              </a:rPr>
              <a:t> 5</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RAM: 8 GB</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Storage: 256 GB SSD</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Internet connection (for GitHub, updates, plugins)</a:t>
            </a:r>
          </a:p>
          <a:p>
            <a:endParaRPr lang="en-IN" dirty="0">
              <a:latin typeface="Cambria" panose="02040503050406030204" pitchFamily="18" charset="0"/>
              <a:ea typeface="Cambria" panose="02040503050406030204" pitchFamily="18" charset="0"/>
            </a:endParaRPr>
          </a:p>
          <a:p>
            <a:r>
              <a:rPr lang="en-IN" sz="2000" b="1" dirty="0">
                <a:latin typeface="Cambria" panose="02040503050406030204" pitchFamily="18" charset="0"/>
                <a:ea typeface="Cambria" panose="02040503050406030204" pitchFamily="18" charset="0"/>
              </a:rPr>
              <a:t>Recommended Hardware</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Processor: Intel i7 / AMD </a:t>
            </a:r>
            <a:r>
              <a:rPr lang="en-IN" dirty="0" err="1">
                <a:latin typeface="Cambria" panose="02040503050406030204" pitchFamily="18" charset="0"/>
                <a:ea typeface="Cambria" panose="02040503050406030204" pitchFamily="18" charset="0"/>
              </a:rPr>
              <a:t>Ryzen</a:t>
            </a:r>
            <a:r>
              <a:rPr lang="en-IN" dirty="0">
                <a:latin typeface="Cambria" panose="02040503050406030204" pitchFamily="18" charset="0"/>
                <a:ea typeface="Cambria" panose="02040503050406030204" pitchFamily="18" charset="0"/>
              </a:rPr>
              <a:t> 7</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RAM: 16 GB</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Storage: 512 GB SSD</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Virtualization support enabled (for Docker &amp; Jenkins)</a:t>
            </a: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43988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DC075-8C9D-5E78-3474-26E54DC56D3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71FF1A2-3D36-3212-6161-A8C1B0664349}"/>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0E6CBFBB-6DA9-0C2F-9972-578C6FBF86D8}"/>
              </a:ext>
            </a:extLst>
          </p:cNvPr>
          <p:cNvSpPr>
            <a:spLocks noGrp="1"/>
          </p:cNvSpPr>
          <p:nvPr>
            <p:ph type="sldNum" sz="quarter" idx="4"/>
          </p:nvPr>
        </p:nvSpPr>
        <p:spPr/>
        <p:txBody>
          <a:bodyPr/>
          <a:lstStyle/>
          <a:p>
            <a:fld id="{FFAE6D68-FB99-4243-9CC1-93FAA8C005BC}" type="slidenum">
              <a:rPr lang="en-IN" smtClean="0"/>
              <a:pPr/>
              <a:t>9</a:t>
            </a:fld>
            <a:endParaRPr lang="en-IN"/>
          </a:p>
        </p:txBody>
      </p:sp>
      <p:sp>
        <p:nvSpPr>
          <p:cNvPr id="4" name="TextBox 3">
            <a:extLst>
              <a:ext uri="{FF2B5EF4-FFF2-40B4-BE49-F238E27FC236}">
                <a16:creationId xmlns:a16="http://schemas.microsoft.com/office/drawing/2014/main" id="{F98C609B-A2E3-241F-436E-96331840B2A1}"/>
              </a:ext>
            </a:extLst>
          </p:cNvPr>
          <p:cNvSpPr txBox="1"/>
          <p:nvPr/>
        </p:nvSpPr>
        <p:spPr>
          <a:xfrm>
            <a:off x="2470246" y="182880"/>
            <a:ext cx="749262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Requirements Specification</a:t>
            </a:r>
            <a:endParaRPr lang="en-IN" sz="4000" b="1" dirty="0">
              <a:latin typeface="Cambria" panose="02040503050406030204" pitchFamily="18" charset="0"/>
              <a:ea typeface="Cambria" panose="02040503050406030204" pitchFamily="18" charset="0"/>
            </a:endParaRPr>
          </a:p>
        </p:txBody>
      </p:sp>
      <p:sp>
        <p:nvSpPr>
          <p:cNvPr id="5" name="Rectangle 4">
            <a:extLst>
              <a:ext uri="{FF2B5EF4-FFF2-40B4-BE49-F238E27FC236}">
                <a16:creationId xmlns:a16="http://schemas.microsoft.com/office/drawing/2014/main" id="{9D1B8E76-DB02-C536-ADB4-2070C0F35FCB}"/>
              </a:ext>
            </a:extLst>
          </p:cNvPr>
          <p:cNvSpPr/>
          <p:nvPr/>
        </p:nvSpPr>
        <p:spPr>
          <a:xfrm>
            <a:off x="381000" y="1175246"/>
            <a:ext cx="11219329" cy="4075026"/>
          </a:xfrm>
          <a:prstGeom prst="rect">
            <a:avLst/>
          </a:prstGeom>
        </p:spPr>
        <p:txBody>
          <a:bodyPr wrap="square">
            <a:spAutoFit/>
          </a:bodyPr>
          <a:lstStyle/>
          <a:p>
            <a:pPr>
              <a:lnSpc>
                <a:spcPct val="150000"/>
              </a:lnSpc>
            </a:pPr>
            <a:r>
              <a:rPr lang="en-US" sz="2800" b="1" dirty="0">
                <a:latin typeface="Cambria" panose="02040503050406030204" pitchFamily="18" charset="0"/>
                <a:ea typeface="Cambria" panose="02040503050406030204" pitchFamily="18" charset="0"/>
              </a:rPr>
              <a:t>Software Requirements</a:t>
            </a:r>
          </a:p>
          <a:p>
            <a:pPr marL="285750" indent="-285750">
              <a:lnSpc>
                <a:spcPct val="150000"/>
              </a:lnSpc>
              <a:buFont typeface="Arial" panose="020B0604020202020204" pitchFamily="34" charset="0"/>
              <a:buChar char="•"/>
            </a:pPr>
            <a:r>
              <a:rPr lang="en-IN" sz="2000" b="1" dirty="0">
                <a:latin typeface="Cambria" panose="02040503050406030204" pitchFamily="18" charset="0"/>
                <a:ea typeface="Cambria" panose="02040503050406030204" pitchFamily="18" charset="0"/>
              </a:rPr>
              <a:t>Operating System  :  Windows 11 </a:t>
            </a:r>
            <a:r>
              <a:rPr lang="en-IN" sz="2000" dirty="0">
                <a:latin typeface="Cambria" panose="02040503050406030204" pitchFamily="18" charset="0"/>
                <a:ea typeface="Cambria" panose="02040503050406030204" pitchFamily="18" charset="0"/>
              </a:rPr>
              <a:t>(64-bit)</a:t>
            </a:r>
          </a:p>
          <a:p>
            <a:pPr marL="285750" indent="-285750">
              <a:lnSpc>
                <a:spcPct val="150000"/>
              </a:lnSpc>
              <a:buFont typeface="Arial" panose="020B0604020202020204" pitchFamily="34" charset="0"/>
              <a:buChar char="•"/>
            </a:pPr>
            <a:r>
              <a:rPr lang="en-IN" sz="2000" b="1" dirty="0">
                <a:latin typeface="Cambria" panose="02040503050406030204" pitchFamily="18" charset="0"/>
                <a:ea typeface="Cambria" panose="02040503050406030204" pitchFamily="18" charset="0"/>
              </a:rPr>
              <a:t>Development &amp; Version Control  :  Git</a:t>
            </a:r>
            <a:r>
              <a:rPr lang="en-IN" sz="2000" dirty="0">
                <a:latin typeface="Cambria" panose="02040503050406030204" pitchFamily="18" charset="0"/>
                <a:ea typeface="Cambria" panose="02040503050406030204" pitchFamily="18" charset="0"/>
              </a:rPr>
              <a:t> (v2.x) , </a:t>
            </a:r>
            <a:r>
              <a:rPr lang="en-IN" sz="2000" b="1" dirty="0">
                <a:latin typeface="Cambria" panose="02040503050406030204" pitchFamily="18" charset="0"/>
                <a:ea typeface="Cambria" panose="02040503050406030204" pitchFamily="18" charset="0"/>
              </a:rPr>
              <a:t>GitHub</a:t>
            </a:r>
          </a:p>
          <a:p>
            <a:pPr marL="285750" indent="-285750">
              <a:lnSpc>
                <a:spcPct val="150000"/>
              </a:lnSpc>
              <a:buFont typeface="Arial" panose="020B0604020202020204" pitchFamily="34" charset="0"/>
              <a:buChar char="•"/>
            </a:pPr>
            <a:r>
              <a:rPr lang="en-IN" sz="2000" b="1" dirty="0">
                <a:latin typeface="Cambria" panose="02040503050406030204" pitchFamily="18" charset="0"/>
                <a:ea typeface="Cambria" panose="02040503050406030204" pitchFamily="18" charset="0"/>
              </a:rPr>
              <a:t>CI/CD &amp; DevOps Tools  :  </a:t>
            </a:r>
            <a:r>
              <a:rPr lang="de-DE" sz="2000" b="1" dirty="0">
                <a:latin typeface="Cambria" panose="02040503050406030204" pitchFamily="18" charset="0"/>
                <a:ea typeface="Cambria" panose="02040503050406030204" pitchFamily="18" charset="0"/>
              </a:rPr>
              <a:t>Jenkins </a:t>
            </a:r>
            <a:r>
              <a:rPr lang="de-DE" sz="2000" dirty="0">
                <a:latin typeface="Cambria" panose="02040503050406030204" pitchFamily="18" charset="0"/>
                <a:ea typeface="Cambria" panose="02040503050406030204" pitchFamily="18" charset="0"/>
              </a:rPr>
              <a:t>(LTS version 2.x) , </a:t>
            </a:r>
            <a:r>
              <a:rPr lang="en-US" sz="2000" b="1" dirty="0">
                <a:latin typeface="Cambria" panose="02040503050406030204" pitchFamily="18" charset="0"/>
                <a:ea typeface="Cambria" panose="02040503050406030204" pitchFamily="18" charset="0"/>
              </a:rPr>
              <a:t>Docker </a:t>
            </a:r>
            <a:r>
              <a:rPr lang="en-US" sz="2000" dirty="0">
                <a:latin typeface="Cambria" panose="02040503050406030204" pitchFamily="18" charset="0"/>
                <a:ea typeface="Cambria" panose="02040503050406030204" pitchFamily="18" charset="0"/>
              </a:rPr>
              <a:t>(v24.x or above) ,</a:t>
            </a:r>
            <a:r>
              <a:rPr lang="en-IN" sz="2000" dirty="0">
                <a:latin typeface="Cambria" panose="02040503050406030204" pitchFamily="18" charset="0"/>
                <a:ea typeface="Cambria" panose="02040503050406030204" pitchFamily="18" charset="0"/>
              </a:rPr>
              <a:t> </a:t>
            </a:r>
            <a:r>
              <a:rPr lang="en-IN" sz="2000" b="1" dirty="0">
                <a:latin typeface="Cambria" panose="02040503050406030204" pitchFamily="18" charset="0"/>
                <a:ea typeface="Cambria" panose="02040503050406030204" pitchFamily="18" charset="0"/>
              </a:rPr>
              <a:t>Ansible</a:t>
            </a:r>
            <a:r>
              <a:rPr lang="en-IN" sz="2000" dirty="0">
                <a:latin typeface="Cambria" panose="02040503050406030204" pitchFamily="18" charset="0"/>
                <a:ea typeface="Cambria" panose="02040503050406030204" pitchFamily="18" charset="0"/>
              </a:rPr>
              <a:t> (v2.15+)</a:t>
            </a:r>
          </a:p>
          <a:p>
            <a:pPr marL="285750" indent="-285750">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Security Tools (Secure CI/CD)  :  SonarQube </a:t>
            </a:r>
            <a:r>
              <a:rPr lang="en-US" sz="2000" dirty="0">
                <a:latin typeface="Cambria" panose="02040503050406030204" pitchFamily="18" charset="0"/>
                <a:ea typeface="Cambria" panose="02040503050406030204" pitchFamily="18" charset="0"/>
              </a:rPr>
              <a:t>(Community Edition v9.9 LTS) </a:t>
            </a:r>
            <a:r>
              <a:rPr lang="en-US" sz="2000" b="1" dirty="0">
                <a:latin typeface="Cambria" panose="02040503050406030204" pitchFamily="18" charset="0"/>
                <a:ea typeface="Cambria" panose="02040503050406030204" pitchFamily="18" charset="0"/>
              </a:rPr>
              <a:t>,</a:t>
            </a:r>
            <a:r>
              <a:rPr lang="en-IN" sz="2000" b="1" dirty="0">
                <a:latin typeface="Cambria" panose="02040503050406030204" pitchFamily="18" charset="0"/>
                <a:ea typeface="Cambria" panose="02040503050406030204" pitchFamily="18" charset="0"/>
              </a:rPr>
              <a:t> OWASP ZAP</a:t>
            </a:r>
            <a:r>
              <a:rPr lang="en-IN" sz="2000" dirty="0">
                <a:latin typeface="Cambria" panose="02040503050406030204" pitchFamily="18" charset="0"/>
                <a:ea typeface="Cambria" panose="02040503050406030204" pitchFamily="18" charset="0"/>
              </a:rPr>
              <a:t> (v2.14.0) </a:t>
            </a:r>
            <a:r>
              <a:rPr lang="en-IN" sz="2000" b="1" dirty="0">
                <a:latin typeface="Cambria" panose="02040503050406030204" pitchFamily="18" charset="0"/>
                <a:ea typeface="Cambria" panose="02040503050406030204" pitchFamily="18" charset="0"/>
              </a:rPr>
              <a:t>, </a:t>
            </a:r>
            <a:r>
              <a:rPr lang="en-IN" sz="2000" b="1" dirty="0" err="1">
                <a:latin typeface="Cambria" panose="02040503050406030204" pitchFamily="18" charset="0"/>
                <a:ea typeface="Cambria" panose="02040503050406030204" pitchFamily="18" charset="0"/>
              </a:rPr>
              <a:t>Trivy</a:t>
            </a:r>
            <a:r>
              <a:rPr lang="en-IN" sz="2000" dirty="0">
                <a:latin typeface="Cambria" panose="02040503050406030204" pitchFamily="18" charset="0"/>
                <a:ea typeface="Cambria" panose="02040503050406030204" pitchFamily="18" charset="0"/>
              </a:rPr>
              <a:t> (v0.49.1)</a:t>
            </a:r>
          </a:p>
          <a:p>
            <a:pPr marL="285750" indent="-285750">
              <a:lnSpc>
                <a:spcPct val="150000"/>
              </a:lnSpc>
              <a:buFont typeface="Arial" panose="020B0604020202020204" pitchFamily="34" charset="0"/>
              <a:buChar char="•"/>
            </a:pPr>
            <a:r>
              <a:rPr lang="en-IN" sz="2000" b="1" dirty="0">
                <a:latin typeface="Cambria" panose="02040503050406030204" pitchFamily="18" charset="0"/>
                <a:ea typeface="Cambria" panose="02040503050406030204" pitchFamily="18" charset="0"/>
              </a:rPr>
              <a:t>Programming &amp; Build Tools  :  Java</a:t>
            </a:r>
            <a:r>
              <a:rPr lang="en-IN" sz="2000" dirty="0">
                <a:latin typeface="Cambria" panose="02040503050406030204" pitchFamily="18" charset="0"/>
                <a:ea typeface="Cambria" panose="02040503050406030204" pitchFamily="18" charset="0"/>
              </a:rPr>
              <a:t> (JDK 17) , </a:t>
            </a:r>
            <a:r>
              <a:rPr lang="en-IN" sz="2000" b="1" dirty="0">
                <a:latin typeface="Cambria" panose="02040503050406030204" pitchFamily="18" charset="0"/>
                <a:ea typeface="Cambria" panose="02040503050406030204" pitchFamily="18" charset="0"/>
              </a:rPr>
              <a:t>Node.js </a:t>
            </a:r>
            <a:r>
              <a:rPr lang="en-IN" sz="2000" dirty="0">
                <a:latin typeface="Cambria" panose="02040503050406030204" pitchFamily="18" charset="0"/>
                <a:ea typeface="Cambria" panose="02040503050406030204" pitchFamily="18" charset="0"/>
              </a:rPr>
              <a:t>(v18+)</a:t>
            </a:r>
            <a:endParaRPr lang="en-US" sz="2000" dirty="0">
              <a:latin typeface="Cambria" panose="02040503050406030204" pitchFamily="18" charset="0"/>
              <a:ea typeface="Cambria" panose="02040503050406030204" pitchFamily="18" charset="0"/>
            </a:endParaRPr>
          </a:p>
          <a:p>
            <a:pPr>
              <a:lnSpc>
                <a:spcPct val="150000"/>
              </a:lnSpc>
            </a:pPr>
            <a:endParaRPr lang="en-US" sz="28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16997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10</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470246" y="182880"/>
            <a:ext cx="749262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Project Plan and Timeline</a:t>
            </a:r>
            <a:endParaRPr lang="en-IN" sz="4000" b="1" dirty="0">
              <a:latin typeface="Cambria" panose="02040503050406030204" pitchFamily="18" charset="0"/>
              <a:ea typeface="Cambria" panose="020405030504060302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614204324"/>
              </p:ext>
            </p:extLst>
          </p:nvPr>
        </p:nvGraphicFramePr>
        <p:xfrm>
          <a:off x="735461" y="1811487"/>
          <a:ext cx="10687714" cy="2651760"/>
        </p:xfrm>
        <a:graphic>
          <a:graphicData uri="http://schemas.openxmlformats.org/drawingml/2006/table">
            <a:tbl>
              <a:tblPr firstRow="1" bandRow="1">
                <a:tableStyleId>{5940675A-B579-460E-94D1-54222C63F5DA}</a:tableStyleId>
              </a:tblPr>
              <a:tblGrid>
                <a:gridCol w="2062330">
                  <a:extLst>
                    <a:ext uri="{9D8B030D-6E8A-4147-A177-3AD203B41FA5}">
                      <a16:colId xmlns:a16="http://schemas.microsoft.com/office/drawing/2014/main" val="9068388"/>
                    </a:ext>
                  </a:extLst>
                </a:gridCol>
                <a:gridCol w="8625384">
                  <a:extLst>
                    <a:ext uri="{9D8B030D-6E8A-4147-A177-3AD203B41FA5}">
                      <a16:colId xmlns:a16="http://schemas.microsoft.com/office/drawing/2014/main" val="2604140004"/>
                    </a:ext>
                  </a:extLst>
                </a:gridCol>
              </a:tblGrid>
              <a:tr h="370840">
                <a:tc>
                  <a:txBody>
                    <a:bodyPr/>
                    <a:lstStyle/>
                    <a:p>
                      <a:r>
                        <a:rPr lang="en-US" sz="2200" dirty="0">
                          <a:latin typeface="Cambria" panose="02040503050406030204" pitchFamily="18" charset="0"/>
                          <a:ea typeface="Cambria" panose="02040503050406030204" pitchFamily="18" charset="0"/>
                        </a:rPr>
                        <a:t>Week 1-2</a:t>
                      </a:r>
                      <a:endParaRPr lang="en-IN" sz="2200" dirty="0">
                        <a:latin typeface="Cambria" panose="02040503050406030204" pitchFamily="18" charset="0"/>
                        <a:ea typeface="Cambria" panose="02040503050406030204" pitchFamily="18" charset="0"/>
                      </a:endParaRPr>
                    </a:p>
                  </a:txBody>
                  <a:tcPr/>
                </a:tc>
                <a:tc>
                  <a:txBody>
                    <a:bodyPr/>
                    <a:lstStyle/>
                    <a:p>
                      <a:r>
                        <a:rPr lang="en-US" sz="2200" dirty="0">
                          <a:latin typeface="Cambria" panose="02040503050406030204" pitchFamily="18" charset="0"/>
                          <a:ea typeface="Cambria" panose="02040503050406030204" pitchFamily="18" charset="0"/>
                        </a:rPr>
                        <a:t>Project</a:t>
                      </a:r>
                      <a:r>
                        <a:rPr lang="en-US" sz="2200" baseline="0" dirty="0">
                          <a:latin typeface="Cambria" panose="02040503050406030204" pitchFamily="18" charset="0"/>
                          <a:ea typeface="Cambria" panose="02040503050406030204" pitchFamily="18" charset="0"/>
                        </a:rPr>
                        <a:t> Plan and </a:t>
                      </a:r>
                      <a:r>
                        <a:rPr lang="en-IN" sz="2200" dirty="0">
                          <a:latin typeface="Cambria" panose="02040503050406030204" pitchFamily="18" charset="0"/>
                          <a:ea typeface="Cambria" panose="02040503050406030204" pitchFamily="18" charset="0"/>
                        </a:rPr>
                        <a:t>Literature survey</a:t>
                      </a:r>
                    </a:p>
                  </a:txBody>
                  <a:tcPr/>
                </a:tc>
                <a:extLst>
                  <a:ext uri="{0D108BD9-81ED-4DB2-BD59-A6C34878D82A}">
                    <a16:rowId xmlns:a16="http://schemas.microsoft.com/office/drawing/2014/main" val="26286776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Week 3-4</a:t>
                      </a:r>
                      <a:endParaRPr kumimoji="0" lang="en-IN"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endParaRPr>
                    </a:p>
                  </a:txBody>
                  <a:tcPr/>
                </a:tc>
                <a:tc>
                  <a:txBody>
                    <a:bodyPr/>
                    <a:lstStyle/>
                    <a:p>
                      <a:pPr>
                        <a:buNone/>
                      </a:pPr>
                      <a:r>
                        <a:rPr lang="en-US" sz="2200" dirty="0">
                          <a:latin typeface="Cambria" panose="02040503050406030204" pitchFamily="18" charset="0"/>
                          <a:ea typeface="Cambria" panose="02040503050406030204" pitchFamily="18" charset="0"/>
                        </a:rPr>
                        <a:t>Study DevOps and Secure DevOps concepts</a:t>
                      </a:r>
                      <a:endParaRPr lang="en-IN" sz="22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96488090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Week 5-6</a:t>
                      </a:r>
                      <a:endParaRPr kumimoji="0" lang="en-IN"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endParaRPr>
                    </a:p>
                  </a:txBody>
                  <a:tcPr/>
                </a:tc>
                <a:tc>
                  <a:txBody>
                    <a:bodyPr/>
                    <a:lstStyle/>
                    <a:p>
                      <a:r>
                        <a:rPr lang="en-US" sz="2200" dirty="0">
                          <a:latin typeface="Cambria" panose="02040503050406030204" pitchFamily="18" charset="0"/>
                          <a:ea typeface="Cambria" panose="02040503050406030204" pitchFamily="18" charset="0"/>
                        </a:rPr>
                        <a:t>Study security issues in software projects</a:t>
                      </a:r>
                      <a:endParaRPr lang="en-IN" sz="22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2701182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Week 7-8</a:t>
                      </a:r>
                      <a:endParaRPr kumimoji="0" lang="en-IN"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endParaRPr>
                    </a:p>
                  </a:txBody>
                  <a:tcPr/>
                </a:tc>
                <a:tc>
                  <a:txBody>
                    <a:bodyPr/>
                    <a:lstStyle/>
                    <a:p>
                      <a:r>
                        <a:rPr lang="en-IN" sz="2400" dirty="0">
                          <a:latin typeface="Cambria" panose="02040503050406030204" pitchFamily="18" charset="0"/>
                          <a:ea typeface="Cambria" panose="02040503050406030204" pitchFamily="18" charset="0"/>
                        </a:rPr>
                        <a:t>Design secure workflow (theoretical)</a:t>
                      </a:r>
                      <a:endParaRPr lang="en-IN" sz="22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0461274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Week 9-10</a:t>
                      </a:r>
                      <a:endParaRPr kumimoji="0" lang="en-IN"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endParaRPr>
                    </a:p>
                  </a:txBody>
                  <a:tcPr/>
                </a:tc>
                <a:tc>
                  <a:txBody>
                    <a:bodyPr/>
                    <a:lstStyle/>
                    <a:p>
                      <a:r>
                        <a:rPr lang="en-IN" sz="2400" dirty="0">
                          <a:latin typeface="Cambria" panose="02040503050406030204" pitchFamily="18" charset="0"/>
                          <a:ea typeface="Cambria" panose="02040503050406030204" pitchFamily="18" charset="0"/>
                        </a:rPr>
                        <a:t>Understand automation concepts</a:t>
                      </a:r>
                      <a:endParaRPr lang="en-IN" sz="22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0501937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Week 11-12</a:t>
                      </a:r>
                      <a:endParaRPr kumimoji="0" lang="en-IN"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endParaRPr>
                    </a:p>
                  </a:txBody>
                  <a:tcPr/>
                </a:tc>
                <a:tc>
                  <a:txBody>
                    <a:bodyPr/>
                    <a:lstStyle/>
                    <a:p>
                      <a:r>
                        <a:rPr lang="fr-FR" sz="2400" dirty="0" err="1">
                          <a:latin typeface="Cambria" panose="02040503050406030204" pitchFamily="18" charset="0"/>
                          <a:ea typeface="Cambria" panose="02040503050406030204" pitchFamily="18" charset="0"/>
                        </a:rPr>
                        <a:t>Environment</a:t>
                      </a:r>
                      <a:r>
                        <a:rPr lang="fr-FR" sz="2400" dirty="0">
                          <a:latin typeface="Cambria" panose="02040503050406030204" pitchFamily="18" charset="0"/>
                          <a:ea typeface="Cambria" panose="02040503050406030204" pitchFamily="18" charset="0"/>
                        </a:rPr>
                        <a:t> setup (Git, Jenkins, Docker)</a:t>
                      </a:r>
                      <a:endParaRPr lang="en-IN" sz="22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264778204"/>
                  </a:ext>
                </a:extLst>
              </a:tr>
            </a:tbl>
          </a:graphicData>
        </a:graphic>
      </p:graphicFrame>
    </p:spTree>
    <p:extLst>
      <p:ext uri="{BB962C8B-B14F-4D97-AF65-F5344CB8AC3E}">
        <p14:creationId xmlns:p14="http://schemas.microsoft.com/office/powerpoint/2010/main" val="593892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11</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98445" y="207637"/>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References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55BEC630-6F30-942B-AE77-8AB365B0B80F}"/>
              </a:ext>
            </a:extLst>
          </p:cNvPr>
          <p:cNvSpPr txBox="1"/>
          <p:nvPr/>
        </p:nvSpPr>
        <p:spPr>
          <a:xfrm>
            <a:off x="0" y="915523"/>
            <a:ext cx="12029440" cy="5026954"/>
          </a:xfrm>
          <a:prstGeom prst="rect">
            <a:avLst/>
          </a:prstGeom>
          <a:noFill/>
        </p:spPr>
        <p:txBody>
          <a:bodyPr wrap="square">
            <a:spAutoFit/>
          </a:bodyPr>
          <a:lstStyle/>
          <a:p>
            <a:pPr algn="just">
              <a:lnSpc>
                <a:spcPct val="150000"/>
              </a:lnSpc>
            </a:pPr>
            <a:r>
              <a:rPr lang="en-IN" b="1" dirty="0">
                <a:latin typeface="Cambria" panose="02040503050406030204" pitchFamily="18" charset="0"/>
                <a:ea typeface="Cambria" panose="02040503050406030204" pitchFamily="18" charset="0"/>
              </a:rPr>
              <a:t>[1] </a:t>
            </a:r>
            <a:r>
              <a:rPr lang="en-IN" dirty="0">
                <a:latin typeface="Cambria" panose="02040503050406030204" pitchFamily="18" charset="0"/>
                <a:ea typeface="Cambria" panose="02040503050406030204" pitchFamily="18" charset="0"/>
              </a:rPr>
              <a:t>Mohammad A. </a:t>
            </a:r>
            <a:r>
              <a:rPr lang="en-IN" dirty="0" err="1">
                <a:latin typeface="Cambria" panose="02040503050406030204" pitchFamily="18" charset="0"/>
                <a:ea typeface="Cambria" panose="02040503050406030204" pitchFamily="18" charset="0"/>
              </a:rPr>
              <a:t>Aljohani</a:t>
            </a:r>
            <a:r>
              <a:rPr lang="en-IN" dirty="0">
                <a:latin typeface="Cambria" panose="02040503050406030204" pitchFamily="18" charset="0"/>
                <a:ea typeface="Cambria" panose="02040503050406030204" pitchFamily="18" charset="0"/>
              </a:rPr>
              <a:t>, Sultan S. Alqahtani, </a:t>
            </a:r>
            <a:r>
              <a:rPr lang="en-IN" i="1" dirty="0">
                <a:latin typeface="Cambria" panose="02040503050406030204" pitchFamily="18" charset="0"/>
                <a:ea typeface="Cambria" panose="02040503050406030204" pitchFamily="18" charset="0"/>
              </a:rPr>
              <a:t>A Unified Framework for Automating Software Security Analysis in </a:t>
            </a:r>
            <a:r>
              <a:rPr lang="en-IN" i="1" dirty="0" err="1">
                <a:latin typeface="Cambria" panose="02040503050406030204" pitchFamily="18" charset="0"/>
                <a:ea typeface="Cambria" panose="02040503050406030204" pitchFamily="18" charset="0"/>
              </a:rPr>
              <a:t>DevSecOps</a:t>
            </a:r>
            <a:r>
              <a:rPr lang="en-IN" dirty="0">
                <a:latin typeface="Cambria" panose="02040503050406030204" pitchFamily="18" charset="0"/>
                <a:ea typeface="Cambria" panose="02040503050406030204" pitchFamily="18" charset="0"/>
              </a:rPr>
              <a:t>, 2023 International Conference on Smart Computing and Application (ICSCA 2023), DOI: 10.1109/ICSCA57840.2023.10087568, ISBN: 979-8-3503-4705-0, 2023.</a:t>
            </a:r>
          </a:p>
          <a:p>
            <a:pPr algn="just">
              <a:lnSpc>
                <a:spcPct val="150000"/>
              </a:lnSpc>
            </a:pPr>
            <a:r>
              <a:rPr lang="en-IN" b="1" dirty="0">
                <a:latin typeface="Cambria" panose="02040503050406030204" pitchFamily="18" charset="0"/>
                <a:ea typeface="Cambria" panose="02040503050406030204" pitchFamily="18" charset="0"/>
              </a:rPr>
              <a:t>[2]</a:t>
            </a:r>
            <a:r>
              <a:rPr lang="en-IN" dirty="0">
                <a:latin typeface="Cambria" panose="02040503050406030204" pitchFamily="18" charset="0"/>
                <a:ea typeface="Cambria" panose="02040503050406030204" pitchFamily="18" charset="0"/>
              </a:rPr>
              <a:t>  Lyuben Asenov Nikolov, Adelina </a:t>
            </a:r>
            <a:r>
              <a:rPr lang="en-IN" dirty="0" err="1">
                <a:latin typeface="Cambria" panose="02040503050406030204" pitchFamily="18" charset="0"/>
                <a:ea typeface="Cambria" panose="02040503050406030204" pitchFamily="18" charset="0"/>
              </a:rPr>
              <a:t>Plamenova</a:t>
            </a:r>
            <a:r>
              <a:rPr lang="en-IN" dirty="0">
                <a:latin typeface="Cambria" panose="02040503050406030204" pitchFamily="18" charset="0"/>
                <a:ea typeface="Cambria" panose="02040503050406030204" pitchFamily="18" charset="0"/>
              </a:rPr>
              <a:t> </a:t>
            </a:r>
            <a:r>
              <a:rPr lang="en-IN" dirty="0" err="1">
                <a:latin typeface="Cambria" panose="02040503050406030204" pitchFamily="18" charset="0"/>
                <a:ea typeface="Cambria" panose="02040503050406030204" pitchFamily="18" charset="0"/>
              </a:rPr>
              <a:t>Aleksieva</a:t>
            </a:r>
            <a:r>
              <a:rPr lang="en-IN" dirty="0">
                <a:latin typeface="Cambria" panose="02040503050406030204" pitchFamily="18" charset="0"/>
                <a:ea typeface="Cambria" panose="02040503050406030204" pitchFamily="18" charset="0"/>
              </a:rPr>
              <a:t>-Petrova, </a:t>
            </a:r>
            <a:r>
              <a:rPr lang="en-IN" i="1" dirty="0">
                <a:latin typeface="Cambria" panose="02040503050406030204" pitchFamily="18" charset="0"/>
                <a:ea typeface="Cambria" panose="02040503050406030204" pitchFamily="18" charset="0"/>
              </a:rPr>
              <a:t>Action Research on the </a:t>
            </a:r>
            <a:r>
              <a:rPr lang="en-IN" i="1" dirty="0" err="1">
                <a:latin typeface="Cambria" panose="02040503050406030204" pitchFamily="18" charset="0"/>
                <a:ea typeface="Cambria" panose="02040503050406030204" pitchFamily="18" charset="0"/>
              </a:rPr>
              <a:t>DevSecOps</a:t>
            </a:r>
            <a:r>
              <a:rPr lang="en-IN" i="1" dirty="0">
                <a:latin typeface="Cambria" panose="02040503050406030204" pitchFamily="18" charset="0"/>
                <a:ea typeface="Cambria" panose="02040503050406030204" pitchFamily="18" charset="0"/>
              </a:rPr>
              <a:t> Pipeline</a:t>
            </a:r>
            <a:r>
              <a:rPr lang="en-IN" dirty="0">
                <a:latin typeface="Cambria" panose="02040503050406030204" pitchFamily="18" charset="0"/>
                <a:ea typeface="Cambria" panose="02040503050406030204" pitchFamily="18" charset="0"/>
              </a:rPr>
              <a:t>, 2023 International Scientific Conference on Computer Science (COMSCI 2023), DOI: 10.1109/COMSCI59259.2023.10315920, ISBN: 979-8-3503-2525-6, 2023.</a:t>
            </a:r>
          </a:p>
          <a:p>
            <a:pPr algn="just">
              <a:lnSpc>
                <a:spcPct val="150000"/>
              </a:lnSpc>
            </a:pPr>
            <a:r>
              <a:rPr lang="en-IN" b="1" dirty="0">
                <a:latin typeface="Cambria" panose="02040503050406030204" pitchFamily="18" charset="0"/>
                <a:ea typeface="Cambria" panose="02040503050406030204" pitchFamily="18" charset="0"/>
              </a:rPr>
              <a:t>[3]</a:t>
            </a:r>
            <a:r>
              <a:rPr lang="en-IN" dirty="0">
                <a:latin typeface="Cambria" panose="02040503050406030204" pitchFamily="18" charset="0"/>
                <a:ea typeface="Cambria" panose="02040503050406030204" pitchFamily="18" charset="0"/>
              </a:rPr>
              <a:t>  Manohar Marandi, A. Bertia, </a:t>
            </a:r>
            <a:r>
              <a:rPr lang="en-IN" dirty="0" err="1">
                <a:latin typeface="Cambria" panose="02040503050406030204" pitchFamily="18" charset="0"/>
                <a:ea typeface="Cambria" panose="02040503050406030204" pitchFamily="18" charset="0"/>
              </a:rPr>
              <a:t>Salaja</a:t>
            </a:r>
            <a:r>
              <a:rPr lang="en-IN" dirty="0">
                <a:latin typeface="Cambria" panose="02040503050406030204" pitchFamily="18" charset="0"/>
                <a:ea typeface="Cambria" panose="02040503050406030204" pitchFamily="18" charset="0"/>
              </a:rPr>
              <a:t> Silas, </a:t>
            </a:r>
            <a:r>
              <a:rPr lang="en-IN" i="1" dirty="0">
                <a:latin typeface="Cambria" panose="02040503050406030204" pitchFamily="18" charset="0"/>
                <a:ea typeface="Cambria" panose="02040503050406030204" pitchFamily="18" charset="0"/>
              </a:rPr>
              <a:t>Implementing and Automating Security Scanning to a </a:t>
            </a:r>
            <a:r>
              <a:rPr lang="en-IN" i="1" dirty="0" err="1">
                <a:latin typeface="Cambria" panose="02040503050406030204" pitchFamily="18" charset="0"/>
                <a:ea typeface="Cambria" panose="02040503050406030204" pitchFamily="18" charset="0"/>
              </a:rPr>
              <a:t>DevSecOps</a:t>
            </a:r>
            <a:r>
              <a:rPr lang="en-IN" i="1" dirty="0">
                <a:latin typeface="Cambria" panose="02040503050406030204" pitchFamily="18" charset="0"/>
                <a:ea typeface="Cambria" panose="02040503050406030204" pitchFamily="18" charset="0"/>
              </a:rPr>
              <a:t> CI/CD Pipeline</a:t>
            </a:r>
            <a:r>
              <a:rPr lang="en-IN" dirty="0">
                <a:latin typeface="Cambria" panose="02040503050406030204" pitchFamily="18" charset="0"/>
                <a:ea typeface="Cambria" panose="02040503050406030204" pitchFamily="18" charset="0"/>
              </a:rPr>
              <a:t>, 2023 World Conference on Communication &amp; Computing (WCONF 2023), Raipur, India, DOI: 10.1109/WCONF58270.2023.10235015, ISBN: 979-8-3503-1120-4, July 2023. </a:t>
            </a:r>
          </a:p>
          <a:p>
            <a:pPr algn="just">
              <a:lnSpc>
                <a:spcPct val="150000"/>
              </a:lnSpc>
            </a:pPr>
            <a:r>
              <a:rPr lang="en-IN" b="1" dirty="0">
                <a:latin typeface="Cambria" panose="02040503050406030204" pitchFamily="18" charset="0"/>
                <a:ea typeface="Cambria" panose="02040503050406030204" pitchFamily="18" charset="0"/>
              </a:rPr>
              <a:t>[4]</a:t>
            </a:r>
            <a:r>
              <a:rPr lang="en-IN" dirty="0">
                <a:latin typeface="Cambria" panose="02040503050406030204" pitchFamily="18" charset="0"/>
                <a:ea typeface="Cambria" panose="02040503050406030204" pitchFamily="18" charset="0"/>
              </a:rPr>
              <a:t> Nalini M. K., Mahalakshmi B. S., </a:t>
            </a:r>
            <a:r>
              <a:rPr lang="en-IN" dirty="0" err="1">
                <a:latin typeface="Cambria" panose="02040503050406030204" pitchFamily="18" charset="0"/>
                <a:ea typeface="Cambria" panose="02040503050406030204" pitchFamily="18" charset="0"/>
              </a:rPr>
              <a:t>Nevya</a:t>
            </a:r>
            <a:r>
              <a:rPr lang="en-IN" dirty="0">
                <a:latin typeface="Cambria" panose="02040503050406030204" pitchFamily="18" charset="0"/>
                <a:ea typeface="Cambria" panose="02040503050406030204" pitchFamily="18" charset="0"/>
              </a:rPr>
              <a:t> Khandelwal, Nandan Pai, Sharan L., </a:t>
            </a:r>
            <a:r>
              <a:rPr lang="en-IN" i="1" dirty="0">
                <a:latin typeface="Cambria" panose="02040503050406030204" pitchFamily="18" charset="0"/>
                <a:ea typeface="Cambria" panose="02040503050406030204" pitchFamily="18" charset="0"/>
              </a:rPr>
              <a:t>CI/CD Pipeline with Vulnerability Mitigation</a:t>
            </a:r>
            <a:r>
              <a:rPr lang="en-IN" dirty="0">
                <a:latin typeface="Cambria" panose="02040503050406030204" pitchFamily="18" charset="0"/>
                <a:ea typeface="Cambria" panose="02040503050406030204" pitchFamily="18" charset="0"/>
              </a:rPr>
              <a:t>, 2023 International Conference on Recent Advances in Science and Engineering Technology (ICRASET 2023), DOI: 10.1109/ICRASET59632.2023.10419921, ISBN: 979-8-3503-0692-7, 2023.</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12003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17C19-72BC-C65D-4DE5-CDC404FCE16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F1989D5-040C-48FF-3583-A035723D05DA}"/>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9C7C27A8-04EB-FC69-3366-E2553ABD677B}"/>
              </a:ext>
            </a:extLst>
          </p:cNvPr>
          <p:cNvSpPr>
            <a:spLocks noGrp="1"/>
          </p:cNvSpPr>
          <p:nvPr>
            <p:ph type="sldNum" sz="quarter" idx="4"/>
          </p:nvPr>
        </p:nvSpPr>
        <p:spPr/>
        <p:txBody>
          <a:bodyPr/>
          <a:lstStyle/>
          <a:p>
            <a:fld id="{FFAE6D68-FB99-4243-9CC1-93FAA8C005BC}" type="slidenum">
              <a:rPr lang="en-IN" smtClean="0"/>
              <a:pPr/>
              <a:t>12</a:t>
            </a:fld>
            <a:endParaRPr lang="en-IN"/>
          </a:p>
        </p:txBody>
      </p:sp>
      <p:sp>
        <p:nvSpPr>
          <p:cNvPr id="4" name="TextBox 3">
            <a:extLst>
              <a:ext uri="{FF2B5EF4-FFF2-40B4-BE49-F238E27FC236}">
                <a16:creationId xmlns:a16="http://schemas.microsoft.com/office/drawing/2014/main" id="{3566918C-DFE7-E4B3-10EA-7B81A123BEDF}"/>
              </a:ext>
            </a:extLst>
          </p:cNvPr>
          <p:cNvSpPr txBox="1"/>
          <p:nvPr/>
        </p:nvSpPr>
        <p:spPr>
          <a:xfrm>
            <a:off x="2580264" y="300881"/>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References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77FC6673-52C9-6728-7FF9-80114038DB00}"/>
              </a:ext>
            </a:extLst>
          </p:cNvPr>
          <p:cNvSpPr txBox="1"/>
          <p:nvPr/>
        </p:nvSpPr>
        <p:spPr>
          <a:xfrm>
            <a:off x="81280" y="1008979"/>
            <a:ext cx="12029440" cy="5033557"/>
          </a:xfrm>
          <a:prstGeom prst="rect">
            <a:avLst/>
          </a:prstGeom>
          <a:noFill/>
        </p:spPr>
        <p:txBody>
          <a:bodyPr wrap="square">
            <a:spAutoFit/>
          </a:bodyPr>
          <a:lstStyle/>
          <a:p>
            <a:pPr algn="just">
              <a:lnSpc>
                <a:spcPct val="150000"/>
              </a:lnSpc>
            </a:pPr>
            <a:r>
              <a:rPr lang="en-IN" b="1" dirty="0">
                <a:latin typeface="Cambria" panose="02040503050406030204" pitchFamily="18" charset="0"/>
                <a:ea typeface="Cambria" panose="02040503050406030204" pitchFamily="18" charset="0"/>
              </a:rPr>
              <a:t>[5]</a:t>
            </a:r>
            <a:r>
              <a:rPr lang="en-IN" dirty="0">
                <a:latin typeface="Cambria" panose="02040503050406030204" pitchFamily="18" charset="0"/>
                <a:ea typeface="Cambria" panose="02040503050406030204" pitchFamily="18" charset="0"/>
              </a:rPr>
              <a:t> Markus </a:t>
            </a:r>
            <a:r>
              <a:rPr lang="en-IN" dirty="0" err="1">
                <a:latin typeface="Cambria" panose="02040503050406030204" pitchFamily="18" charset="0"/>
                <a:ea typeface="Cambria" panose="02040503050406030204" pitchFamily="18" charset="0"/>
              </a:rPr>
              <a:t>Voggenreiter</a:t>
            </a:r>
            <a:r>
              <a:rPr lang="en-IN" dirty="0">
                <a:latin typeface="Cambria" panose="02040503050406030204" pitchFamily="18" charset="0"/>
                <a:ea typeface="Cambria" panose="02040503050406030204" pitchFamily="18" charset="0"/>
              </a:rPr>
              <a:t>, Florian </a:t>
            </a:r>
            <a:r>
              <a:rPr lang="en-IN" dirty="0" err="1">
                <a:latin typeface="Cambria" panose="02040503050406030204" pitchFamily="18" charset="0"/>
                <a:ea typeface="Cambria" panose="02040503050406030204" pitchFamily="18" charset="0"/>
              </a:rPr>
              <a:t>Angermeir</a:t>
            </a:r>
            <a:r>
              <a:rPr lang="en-IN" dirty="0">
                <a:latin typeface="Cambria" panose="02040503050406030204" pitchFamily="18" charset="0"/>
                <a:ea typeface="Cambria" panose="02040503050406030204" pitchFamily="18" charset="0"/>
              </a:rPr>
              <a:t>, Fabiola </a:t>
            </a:r>
            <a:r>
              <a:rPr lang="en-IN" dirty="0" err="1">
                <a:latin typeface="Cambria" panose="02040503050406030204" pitchFamily="18" charset="0"/>
                <a:ea typeface="Cambria" panose="02040503050406030204" pitchFamily="18" charset="0"/>
              </a:rPr>
              <a:t>Moyón</a:t>
            </a:r>
            <a:r>
              <a:rPr lang="en-IN" dirty="0">
                <a:latin typeface="Cambria" panose="02040503050406030204" pitchFamily="18" charset="0"/>
                <a:ea typeface="Cambria" panose="02040503050406030204" pitchFamily="18" charset="0"/>
              </a:rPr>
              <a:t>, Ulrich </a:t>
            </a:r>
            <a:r>
              <a:rPr lang="en-IN" dirty="0" err="1">
                <a:latin typeface="Cambria" panose="02040503050406030204" pitchFamily="18" charset="0"/>
                <a:ea typeface="Cambria" panose="02040503050406030204" pitchFamily="18" charset="0"/>
              </a:rPr>
              <a:t>Schöpp</a:t>
            </a:r>
            <a:r>
              <a:rPr lang="en-IN" dirty="0">
                <a:latin typeface="Cambria" panose="02040503050406030204" pitchFamily="18" charset="0"/>
                <a:ea typeface="Cambria" panose="02040503050406030204" pitchFamily="18" charset="0"/>
              </a:rPr>
              <a:t>, Pierre </a:t>
            </a:r>
            <a:r>
              <a:rPr lang="en-IN" dirty="0" err="1">
                <a:latin typeface="Cambria" panose="02040503050406030204" pitchFamily="18" charset="0"/>
                <a:ea typeface="Cambria" panose="02040503050406030204" pitchFamily="18" charset="0"/>
              </a:rPr>
              <a:t>Bonvin</a:t>
            </a:r>
            <a:r>
              <a:rPr lang="en-IN" dirty="0">
                <a:latin typeface="Cambria" panose="02040503050406030204" pitchFamily="18" charset="0"/>
                <a:ea typeface="Cambria" panose="02040503050406030204" pitchFamily="18" charset="0"/>
              </a:rPr>
              <a:t>, </a:t>
            </a:r>
            <a:r>
              <a:rPr lang="en-IN" i="1" dirty="0">
                <a:latin typeface="Cambria" panose="02040503050406030204" pitchFamily="18" charset="0"/>
                <a:ea typeface="Cambria" panose="02040503050406030204" pitchFamily="18" charset="0"/>
              </a:rPr>
              <a:t>Automated Security Findings Management: A Case Study in Industrial DevOps</a:t>
            </a:r>
            <a:r>
              <a:rPr lang="en-IN" dirty="0">
                <a:latin typeface="Cambria" panose="02040503050406030204" pitchFamily="18" charset="0"/>
                <a:ea typeface="Cambria" panose="02040503050406030204" pitchFamily="18" charset="0"/>
              </a:rPr>
              <a:t>, 46th International Conference on Software Engineering: Software Engineering in Practice (ICSE-SEIP 2024), DOI: 10.1145/3639477.3639744, ISBN: 979-8-4007-0501-4, April 2024.</a:t>
            </a:r>
          </a:p>
          <a:p>
            <a:pPr algn="just">
              <a:lnSpc>
                <a:spcPct val="150000"/>
              </a:lnSpc>
            </a:pPr>
            <a:r>
              <a:rPr lang="en-IN" b="1" dirty="0">
                <a:latin typeface="Cambria" panose="02040503050406030204" pitchFamily="18" charset="0"/>
                <a:ea typeface="Cambria" panose="02040503050406030204" pitchFamily="18" charset="0"/>
              </a:rPr>
              <a:t>[6]</a:t>
            </a:r>
            <a:r>
              <a:rPr lang="en-IN" dirty="0">
                <a:latin typeface="Cambria" panose="02040503050406030204" pitchFamily="18" charset="0"/>
                <a:ea typeface="Cambria" panose="02040503050406030204" pitchFamily="18" charset="0"/>
              </a:rPr>
              <a:t> Akalanka </a:t>
            </a:r>
            <a:r>
              <a:rPr lang="en-IN" dirty="0" err="1">
                <a:latin typeface="Cambria" panose="02040503050406030204" pitchFamily="18" charset="0"/>
                <a:ea typeface="Cambria" panose="02040503050406030204" pitchFamily="18" charset="0"/>
              </a:rPr>
              <a:t>Nayanajith</a:t>
            </a:r>
            <a:r>
              <a:rPr lang="en-IN" dirty="0">
                <a:latin typeface="Cambria" panose="02040503050406030204" pitchFamily="18" charset="0"/>
                <a:ea typeface="Cambria" panose="02040503050406030204" pitchFamily="18" charset="0"/>
              </a:rPr>
              <a:t>, Ruwan Wickramarachchi, </a:t>
            </a:r>
            <a:r>
              <a:rPr lang="en-IN" i="1" dirty="0">
                <a:latin typeface="Cambria" panose="02040503050406030204" pitchFamily="18" charset="0"/>
                <a:ea typeface="Cambria" panose="02040503050406030204" pitchFamily="18" charset="0"/>
              </a:rPr>
              <a:t>Challenges Affecting the Successful Adoption of DevOps Practices: A Systematic Literature Review</a:t>
            </a:r>
            <a:r>
              <a:rPr lang="en-IN" dirty="0">
                <a:latin typeface="Cambria" panose="02040503050406030204" pitchFamily="18" charset="0"/>
                <a:ea typeface="Cambria" panose="02040503050406030204" pitchFamily="18" charset="0"/>
              </a:rPr>
              <a:t>, 4th International Conference on Advanced Research in Computing (ICARC 2024), DOI: 10.1109/ICARC61713.2024.10499735, ISBN: 979-8-3503-8486-4, 2024.</a:t>
            </a:r>
          </a:p>
          <a:p>
            <a:pPr algn="just">
              <a:lnSpc>
                <a:spcPct val="150000"/>
              </a:lnSpc>
            </a:pPr>
            <a:r>
              <a:rPr lang="en-IN" b="1" dirty="0">
                <a:latin typeface="Cambria" panose="02040503050406030204" pitchFamily="18" charset="0"/>
                <a:ea typeface="Cambria" panose="02040503050406030204" pitchFamily="18" charset="0"/>
              </a:rPr>
              <a:t>[7]</a:t>
            </a:r>
            <a:r>
              <a:rPr lang="en-IN" dirty="0">
                <a:latin typeface="Cambria" panose="02040503050406030204" pitchFamily="18" charset="0"/>
                <a:ea typeface="Cambria" panose="02040503050406030204" pitchFamily="18" charset="0"/>
              </a:rPr>
              <a:t> Samridhi Jain, Puneet Kumar, </a:t>
            </a:r>
            <a:r>
              <a:rPr lang="en-IN" i="1" dirty="0">
                <a:latin typeface="Cambria" panose="02040503050406030204" pitchFamily="18" charset="0"/>
                <a:ea typeface="Cambria" panose="02040503050406030204" pitchFamily="18" charset="0"/>
              </a:rPr>
              <a:t>DevOps Practices into Machine Learning</a:t>
            </a:r>
            <a:r>
              <a:rPr lang="en-IN" dirty="0">
                <a:latin typeface="Cambria" panose="02040503050406030204" pitchFamily="18" charset="0"/>
                <a:ea typeface="Cambria" panose="02040503050406030204" pitchFamily="18" charset="0"/>
              </a:rPr>
              <a:t>, 2024 IEEE International Conference on Intelligent Systems, Smart and Green Technologies (ICISSGT 2024), DOI: 10.1109/ICISSGT58904.2024.00029, ISBN: 979-8-3503-0432-9, 2024.</a:t>
            </a:r>
          </a:p>
          <a:p>
            <a:pPr algn="just">
              <a:lnSpc>
                <a:spcPct val="150000"/>
              </a:lnSpc>
            </a:pPr>
            <a:r>
              <a:rPr lang="en-IN" b="1" dirty="0">
                <a:latin typeface="Cambria" panose="02040503050406030204" pitchFamily="18" charset="0"/>
                <a:ea typeface="Cambria" panose="02040503050406030204" pitchFamily="18" charset="0"/>
              </a:rPr>
              <a:t>[8]</a:t>
            </a:r>
            <a:r>
              <a:rPr lang="en-IN" dirty="0">
                <a:latin typeface="Cambria" panose="02040503050406030204" pitchFamily="18" charset="0"/>
                <a:ea typeface="Cambria" panose="02040503050406030204" pitchFamily="18" charset="0"/>
              </a:rPr>
              <a:t> Semi Yulianto, Gerard Nathaniel </a:t>
            </a:r>
            <a:r>
              <a:rPr lang="en-IN" dirty="0" err="1">
                <a:latin typeface="Cambria" panose="02040503050406030204" pitchFamily="18" charset="0"/>
                <a:ea typeface="Cambria" panose="02040503050406030204" pitchFamily="18" charset="0"/>
              </a:rPr>
              <a:t>Cac</a:t>
            </a:r>
            <a:r>
              <a:rPr lang="en-IN" dirty="0">
                <a:latin typeface="Cambria" panose="02040503050406030204" pitchFamily="18" charset="0"/>
                <a:ea typeface="Cambria" panose="02040503050406030204" pitchFamily="18" charset="0"/>
              </a:rPr>
              <a:t> Ngo, </a:t>
            </a:r>
            <a:r>
              <a:rPr lang="en-IN" i="1" dirty="0">
                <a:latin typeface="Cambria" panose="02040503050406030204" pitchFamily="18" charset="0"/>
                <a:ea typeface="Cambria" panose="02040503050406030204" pitchFamily="18" charset="0"/>
              </a:rPr>
              <a:t>Enhancing </a:t>
            </a:r>
            <a:r>
              <a:rPr lang="en-IN" i="1" dirty="0" err="1">
                <a:latin typeface="Cambria" panose="02040503050406030204" pitchFamily="18" charset="0"/>
                <a:ea typeface="Cambria" panose="02040503050406030204" pitchFamily="18" charset="0"/>
              </a:rPr>
              <a:t>DevSecOps</a:t>
            </a:r>
            <a:r>
              <a:rPr lang="en-IN" i="1" dirty="0">
                <a:latin typeface="Cambria" panose="02040503050406030204" pitchFamily="18" charset="0"/>
                <a:ea typeface="Cambria" panose="02040503050406030204" pitchFamily="18" charset="0"/>
              </a:rPr>
              <a:t> Pipelines with AI-Driven Threat Detection and Response</a:t>
            </a:r>
            <a:r>
              <a:rPr lang="en-IN" dirty="0">
                <a:latin typeface="Cambria" panose="02040503050406030204" pitchFamily="18" charset="0"/>
                <a:ea typeface="Cambria" panose="02040503050406030204" pitchFamily="18" charset="0"/>
              </a:rPr>
              <a:t>, 2024 International Conference on ICT for Smart Society (ICISS 2024), DOI: 10.1109/ICISS62896.2024.10751269, ISBN: 979-8-3503-8965-4, 2024. </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19417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2E31D-6A68-EC41-3769-3FA475E7357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5F5CE51-A00A-EB78-BB3D-E8C3F156EB3B}"/>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2E51823F-7493-E248-900D-96BCEEA7069C}"/>
              </a:ext>
            </a:extLst>
          </p:cNvPr>
          <p:cNvSpPr>
            <a:spLocks noGrp="1"/>
          </p:cNvSpPr>
          <p:nvPr>
            <p:ph type="sldNum" sz="quarter" idx="4"/>
          </p:nvPr>
        </p:nvSpPr>
        <p:spPr/>
        <p:txBody>
          <a:bodyPr/>
          <a:lstStyle/>
          <a:p>
            <a:fld id="{FFAE6D68-FB99-4243-9CC1-93FAA8C005BC}" type="slidenum">
              <a:rPr lang="en-IN" smtClean="0"/>
              <a:pPr/>
              <a:t>13</a:t>
            </a:fld>
            <a:endParaRPr lang="en-IN"/>
          </a:p>
        </p:txBody>
      </p:sp>
      <p:sp>
        <p:nvSpPr>
          <p:cNvPr id="4" name="TextBox 3">
            <a:extLst>
              <a:ext uri="{FF2B5EF4-FFF2-40B4-BE49-F238E27FC236}">
                <a16:creationId xmlns:a16="http://schemas.microsoft.com/office/drawing/2014/main" id="{28722679-9A7D-692A-02FF-A960B30F2E29}"/>
              </a:ext>
            </a:extLst>
          </p:cNvPr>
          <p:cNvSpPr txBox="1"/>
          <p:nvPr/>
        </p:nvSpPr>
        <p:spPr>
          <a:xfrm>
            <a:off x="2798445" y="207637"/>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References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251B1A3A-D9E3-8CB3-E3A3-08D526BC564A}"/>
              </a:ext>
            </a:extLst>
          </p:cNvPr>
          <p:cNvSpPr txBox="1"/>
          <p:nvPr/>
        </p:nvSpPr>
        <p:spPr>
          <a:xfrm>
            <a:off x="81280" y="915523"/>
            <a:ext cx="12029440" cy="5026954"/>
          </a:xfrm>
          <a:prstGeom prst="rect">
            <a:avLst/>
          </a:prstGeom>
          <a:noFill/>
        </p:spPr>
        <p:txBody>
          <a:bodyPr wrap="square">
            <a:spAutoFit/>
          </a:bodyPr>
          <a:lstStyle/>
          <a:p>
            <a:pPr algn="just">
              <a:lnSpc>
                <a:spcPct val="150000"/>
              </a:lnSpc>
            </a:pPr>
            <a:r>
              <a:rPr lang="en-IN" b="1" dirty="0">
                <a:latin typeface="Cambria" panose="02040503050406030204" pitchFamily="18" charset="0"/>
                <a:ea typeface="Cambria" panose="02040503050406030204" pitchFamily="18" charset="0"/>
              </a:rPr>
              <a:t>[9]</a:t>
            </a:r>
            <a:r>
              <a:rPr lang="en-IN" dirty="0">
                <a:latin typeface="Cambria" panose="02040503050406030204" pitchFamily="18" charset="0"/>
                <a:ea typeface="Cambria" panose="02040503050406030204" pitchFamily="18" charset="0"/>
              </a:rPr>
              <a:t> Fabiola </a:t>
            </a:r>
            <a:r>
              <a:rPr lang="en-IN" dirty="0" err="1">
                <a:latin typeface="Cambria" panose="02040503050406030204" pitchFamily="18" charset="0"/>
                <a:ea typeface="Cambria" panose="02040503050406030204" pitchFamily="18" charset="0"/>
              </a:rPr>
              <a:t>Moyón</a:t>
            </a:r>
            <a:r>
              <a:rPr lang="en-IN" dirty="0">
                <a:latin typeface="Cambria" panose="02040503050406030204" pitchFamily="18" charset="0"/>
                <a:ea typeface="Cambria" panose="02040503050406030204" pitchFamily="18" charset="0"/>
              </a:rPr>
              <a:t>, Florian </a:t>
            </a:r>
            <a:r>
              <a:rPr lang="en-IN" dirty="0" err="1">
                <a:latin typeface="Cambria" panose="02040503050406030204" pitchFamily="18" charset="0"/>
                <a:ea typeface="Cambria" panose="02040503050406030204" pitchFamily="18" charset="0"/>
              </a:rPr>
              <a:t>Angermeir</a:t>
            </a:r>
            <a:r>
              <a:rPr lang="en-IN" dirty="0">
                <a:latin typeface="Cambria" panose="02040503050406030204" pitchFamily="18" charset="0"/>
                <a:ea typeface="Cambria" panose="02040503050406030204" pitchFamily="18" charset="0"/>
              </a:rPr>
              <a:t>, Daniel Mendez, </a:t>
            </a:r>
            <a:r>
              <a:rPr lang="en-IN" i="1" dirty="0">
                <a:latin typeface="Cambria" panose="02040503050406030204" pitchFamily="18" charset="0"/>
                <a:ea typeface="Cambria" panose="02040503050406030204" pitchFamily="18" charset="0"/>
              </a:rPr>
              <a:t>Industrial Challenges in Secure Continuous Development</a:t>
            </a:r>
            <a:r>
              <a:rPr lang="en-IN" dirty="0">
                <a:latin typeface="Cambria" panose="02040503050406030204" pitchFamily="18" charset="0"/>
                <a:ea typeface="Cambria" panose="02040503050406030204" pitchFamily="18" charset="0"/>
              </a:rPr>
              <a:t>, 46th International Conference on Software Engineering: Software Engineering in Practice (ICSE-SEIP 2024), Lisbon, Portugal, April 2024, DOI: 10.1145/3639477.3639736, ISBN: 979-8-4007-0501-4. </a:t>
            </a:r>
          </a:p>
          <a:p>
            <a:pPr algn="just">
              <a:lnSpc>
                <a:spcPct val="150000"/>
              </a:lnSpc>
            </a:pPr>
            <a:r>
              <a:rPr lang="en-IN" b="1" dirty="0">
                <a:latin typeface="Cambria" panose="02040503050406030204" pitchFamily="18" charset="0"/>
                <a:ea typeface="Cambria" panose="02040503050406030204" pitchFamily="18" charset="0"/>
              </a:rPr>
              <a:t>[10]</a:t>
            </a:r>
            <a:r>
              <a:rPr lang="en-IN" dirty="0">
                <a:latin typeface="Cambria" panose="02040503050406030204" pitchFamily="18" charset="0"/>
                <a:ea typeface="Cambria" panose="02040503050406030204" pitchFamily="18" charset="0"/>
              </a:rPr>
              <a:t> Muhammad Zohaib, Ahmed </a:t>
            </a:r>
            <a:r>
              <a:rPr lang="en-IN" dirty="0" err="1">
                <a:latin typeface="Cambria" panose="02040503050406030204" pitchFamily="18" charset="0"/>
                <a:ea typeface="Cambria" panose="02040503050406030204" pitchFamily="18" charset="0"/>
              </a:rPr>
              <a:t>Alsanad</a:t>
            </a:r>
            <a:r>
              <a:rPr lang="en-IN" dirty="0">
                <a:latin typeface="Cambria" panose="02040503050406030204" pitchFamily="18" charset="0"/>
                <a:ea typeface="Cambria" panose="02040503050406030204" pitchFamily="18" charset="0"/>
              </a:rPr>
              <a:t>, Areej Abdullah </a:t>
            </a:r>
            <a:r>
              <a:rPr lang="en-IN" dirty="0" err="1">
                <a:latin typeface="Cambria" panose="02040503050406030204" pitchFamily="18" charset="0"/>
                <a:ea typeface="Cambria" panose="02040503050406030204" pitchFamily="18" charset="0"/>
              </a:rPr>
              <a:t>Alhogail</a:t>
            </a:r>
            <a:r>
              <a:rPr lang="en-IN" dirty="0">
                <a:latin typeface="Cambria" panose="02040503050406030204" pitchFamily="18" charset="0"/>
                <a:ea typeface="Cambria" panose="02040503050406030204" pitchFamily="18" charset="0"/>
              </a:rPr>
              <a:t>, </a:t>
            </a:r>
            <a:r>
              <a:rPr lang="en-IN" i="1" dirty="0">
                <a:latin typeface="Cambria" panose="02040503050406030204" pitchFamily="18" charset="0"/>
                <a:ea typeface="Cambria" panose="02040503050406030204" pitchFamily="18" charset="0"/>
              </a:rPr>
              <a:t>Prioritizing DevOps Implementation Guidelines for Sustainable Software Projects</a:t>
            </a:r>
            <a:r>
              <a:rPr lang="en-IN" dirty="0">
                <a:latin typeface="Cambria" panose="02040503050406030204" pitchFamily="18" charset="0"/>
                <a:ea typeface="Cambria" panose="02040503050406030204" pitchFamily="18" charset="0"/>
              </a:rPr>
              <a:t>, IEEE Access, vol. 12, pp. 71109–71130, 2024, DOI: 10.1109/ACCESS.2024.3402832.</a:t>
            </a:r>
          </a:p>
          <a:p>
            <a:pPr algn="just">
              <a:lnSpc>
                <a:spcPct val="150000"/>
              </a:lnSpc>
            </a:pPr>
            <a:r>
              <a:rPr lang="en-IN" b="1" dirty="0">
                <a:latin typeface="Cambria" panose="02040503050406030204" pitchFamily="18" charset="0"/>
                <a:ea typeface="Cambria" panose="02040503050406030204" pitchFamily="18" charset="0"/>
              </a:rPr>
              <a:t>[11] Nghia Dinh, Vinh Truong Hoang, Bay Nguyen Van, Thien Ho Huong, Ha Duong </a:t>
            </a:r>
            <a:r>
              <a:rPr lang="en-IN" b="1" dirty="0" err="1">
                <a:latin typeface="Cambria" panose="02040503050406030204" pitchFamily="18" charset="0"/>
                <a:ea typeface="Cambria" panose="02040503050406030204" pitchFamily="18" charset="0"/>
              </a:rPr>
              <a:t>Thi</a:t>
            </a:r>
            <a:r>
              <a:rPr lang="en-IN" b="1" dirty="0">
                <a:latin typeface="Cambria" panose="02040503050406030204" pitchFamily="18" charset="0"/>
                <a:ea typeface="Cambria" panose="02040503050406030204" pitchFamily="18" charset="0"/>
              </a:rPr>
              <a:t> Hong, Hau Nguyen Trung, Kiet Tran Trung, </a:t>
            </a:r>
            <a:r>
              <a:rPr lang="en-IN" b="1" i="1" dirty="0">
                <a:latin typeface="Cambria" panose="02040503050406030204" pitchFamily="18" charset="0"/>
                <a:ea typeface="Cambria" panose="02040503050406030204" pitchFamily="18" charset="0"/>
              </a:rPr>
              <a:t>Enhancing Smart Contract Security Through </a:t>
            </a:r>
            <a:r>
              <a:rPr lang="en-IN" b="1" i="1" dirty="0" err="1">
                <a:latin typeface="Cambria" panose="02040503050406030204" pitchFamily="18" charset="0"/>
                <a:ea typeface="Cambria" panose="02040503050406030204" pitchFamily="18" charset="0"/>
              </a:rPr>
              <a:t>DevSecOps</a:t>
            </a:r>
            <a:r>
              <a:rPr lang="en-IN" b="1" i="1" dirty="0">
                <a:latin typeface="Cambria" panose="02040503050406030204" pitchFamily="18" charset="0"/>
                <a:ea typeface="Cambria" panose="02040503050406030204" pitchFamily="18" charset="0"/>
              </a:rPr>
              <a:t>: An Adaptive Approach for Vulnerability Detection</a:t>
            </a:r>
            <a:r>
              <a:rPr lang="en-IN" b="1" dirty="0">
                <a:latin typeface="Cambria" panose="02040503050406030204" pitchFamily="18" charset="0"/>
                <a:ea typeface="Cambria" panose="02040503050406030204" pitchFamily="18" charset="0"/>
              </a:rPr>
              <a:t>, IEEE Access, vol. 13, pp. 159454–159520, 2025, DOI: 10.1109/ACCESS.2025.3606572. </a:t>
            </a:r>
          </a:p>
          <a:p>
            <a:pPr algn="just">
              <a:lnSpc>
                <a:spcPct val="150000"/>
              </a:lnSpc>
            </a:pPr>
            <a:r>
              <a:rPr lang="en-IN" b="1" dirty="0">
                <a:latin typeface="Cambria" panose="02040503050406030204" pitchFamily="18" charset="0"/>
                <a:ea typeface="Cambria" panose="02040503050406030204" pitchFamily="18" charset="0"/>
              </a:rPr>
              <a:t>[12]</a:t>
            </a:r>
            <a:r>
              <a:rPr lang="en-IN" dirty="0">
                <a:latin typeface="Cambria" panose="02040503050406030204" pitchFamily="18" charset="0"/>
                <a:ea typeface="Cambria" panose="02040503050406030204" pitchFamily="18" charset="0"/>
              </a:rPr>
              <a:t> Rashmi </a:t>
            </a:r>
            <a:r>
              <a:rPr lang="en-IN" dirty="0" err="1">
                <a:latin typeface="Cambria" panose="02040503050406030204" pitchFamily="18" charset="0"/>
                <a:ea typeface="Cambria" panose="02040503050406030204" pitchFamily="18" charset="0"/>
              </a:rPr>
              <a:t>Ashtagi</a:t>
            </a:r>
            <a:r>
              <a:rPr lang="en-IN" dirty="0">
                <a:latin typeface="Cambria" panose="02040503050406030204" pitchFamily="18" charset="0"/>
                <a:ea typeface="Cambria" panose="02040503050406030204" pitchFamily="18" charset="0"/>
              </a:rPr>
              <a:t>, Yash Bhalerao, Chirag Belani, Prasanna Bhalerao, Atharva </a:t>
            </a:r>
            <a:r>
              <a:rPr lang="en-IN" dirty="0" err="1">
                <a:latin typeface="Cambria" panose="02040503050406030204" pitchFamily="18" charset="0"/>
                <a:ea typeface="Cambria" panose="02040503050406030204" pitchFamily="18" charset="0"/>
              </a:rPr>
              <a:t>Chawle</a:t>
            </a:r>
            <a:r>
              <a:rPr lang="en-IN" dirty="0">
                <a:latin typeface="Cambria" panose="02040503050406030204" pitchFamily="18" charset="0"/>
                <a:ea typeface="Cambria" panose="02040503050406030204" pitchFamily="18" charset="0"/>
              </a:rPr>
              <a:t>, </a:t>
            </a:r>
            <a:r>
              <a:rPr lang="en-IN" i="1" dirty="0">
                <a:latin typeface="Cambria" panose="02040503050406030204" pitchFamily="18" charset="0"/>
                <a:ea typeface="Cambria" panose="02040503050406030204" pitchFamily="18" charset="0"/>
              </a:rPr>
              <a:t>Building Resilient CICD Pipelines: A DevOps Security-First Framework</a:t>
            </a:r>
            <a:r>
              <a:rPr lang="en-IN" dirty="0">
                <a:latin typeface="Cambria" panose="02040503050406030204" pitchFamily="18" charset="0"/>
                <a:ea typeface="Cambria" panose="02040503050406030204" pitchFamily="18" charset="0"/>
              </a:rPr>
              <a:t>, 2025 International Conference on Computational, Communication and Information Technology (ICCCIT 2025), DOI: 10.1109/ICCCIT62592.2025.10927871, ISBN: 979-8-3315-1296-5, 2025.</a:t>
            </a:r>
            <a:endParaRPr lang="en-IN" b="1" dirty="0">
              <a:latin typeface="Cambria" panose="02040503050406030204" pitchFamily="18" charset="0"/>
              <a:ea typeface="Cambria" panose="02040503050406030204" pitchFamily="18" charset="0"/>
            </a:endParaRPr>
          </a:p>
          <a:p>
            <a:pPr algn="just">
              <a:lnSpc>
                <a:spcPct val="150000"/>
              </a:lnSpc>
            </a:pP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46822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8420F-0B4F-1C06-D058-3DC1FD60C62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607595-07EB-C05E-75FC-789F522BB295}"/>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775D3CA2-6FB1-A895-A041-3C080DBF2814}"/>
              </a:ext>
            </a:extLst>
          </p:cNvPr>
          <p:cNvSpPr>
            <a:spLocks noGrp="1"/>
          </p:cNvSpPr>
          <p:nvPr>
            <p:ph type="sldNum" sz="quarter" idx="4"/>
          </p:nvPr>
        </p:nvSpPr>
        <p:spPr/>
        <p:txBody>
          <a:bodyPr/>
          <a:lstStyle/>
          <a:p>
            <a:fld id="{FFAE6D68-FB99-4243-9CC1-93FAA8C005BC}" type="slidenum">
              <a:rPr lang="en-IN" smtClean="0"/>
              <a:pPr/>
              <a:t>14</a:t>
            </a:fld>
            <a:endParaRPr lang="en-IN"/>
          </a:p>
        </p:txBody>
      </p:sp>
      <p:sp>
        <p:nvSpPr>
          <p:cNvPr id="4" name="TextBox 3">
            <a:extLst>
              <a:ext uri="{FF2B5EF4-FFF2-40B4-BE49-F238E27FC236}">
                <a16:creationId xmlns:a16="http://schemas.microsoft.com/office/drawing/2014/main" id="{0243B8F3-B67E-9B13-E35D-2B786B831C5F}"/>
              </a:ext>
            </a:extLst>
          </p:cNvPr>
          <p:cNvSpPr txBox="1"/>
          <p:nvPr/>
        </p:nvSpPr>
        <p:spPr>
          <a:xfrm>
            <a:off x="3021965" y="207637"/>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References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2FE47139-41B6-2381-B163-0C613E00DB3A}"/>
              </a:ext>
            </a:extLst>
          </p:cNvPr>
          <p:cNvSpPr txBox="1"/>
          <p:nvPr/>
        </p:nvSpPr>
        <p:spPr>
          <a:xfrm>
            <a:off x="162560" y="915523"/>
            <a:ext cx="12029440" cy="5026954"/>
          </a:xfrm>
          <a:prstGeom prst="rect">
            <a:avLst/>
          </a:prstGeom>
          <a:noFill/>
        </p:spPr>
        <p:txBody>
          <a:bodyPr wrap="square">
            <a:spAutoFit/>
          </a:bodyPr>
          <a:lstStyle/>
          <a:p>
            <a:pPr algn="just">
              <a:lnSpc>
                <a:spcPct val="150000"/>
              </a:lnSpc>
            </a:pPr>
            <a:r>
              <a:rPr lang="en-IN" b="1" dirty="0">
                <a:latin typeface="Cambria" panose="02040503050406030204" pitchFamily="18" charset="0"/>
                <a:ea typeface="Cambria" panose="02040503050406030204" pitchFamily="18" charset="0"/>
              </a:rPr>
              <a:t>[13]</a:t>
            </a:r>
            <a:r>
              <a:rPr lang="en-IN" dirty="0">
                <a:latin typeface="Cambria" panose="02040503050406030204" pitchFamily="18" charset="0"/>
                <a:ea typeface="Cambria" panose="02040503050406030204" pitchFamily="18" charset="0"/>
              </a:rPr>
              <a:t> Roberto Carlos Bautista Ramos, Sang </a:t>
            </a:r>
            <a:r>
              <a:rPr lang="en-IN" dirty="0" err="1">
                <a:latin typeface="Cambria" panose="02040503050406030204" pitchFamily="18" charset="0"/>
                <a:ea typeface="Cambria" panose="02040503050406030204" pitchFamily="18" charset="0"/>
              </a:rPr>
              <a:t>Guun</a:t>
            </a:r>
            <a:r>
              <a:rPr lang="en-IN" dirty="0">
                <a:latin typeface="Cambria" panose="02040503050406030204" pitchFamily="18" charset="0"/>
                <a:ea typeface="Cambria" panose="02040503050406030204" pitchFamily="18" charset="0"/>
              </a:rPr>
              <a:t> Yoo, </a:t>
            </a:r>
            <a:r>
              <a:rPr lang="en-IN" i="1" dirty="0">
                <a:latin typeface="Cambria" panose="02040503050406030204" pitchFamily="18" charset="0"/>
                <a:ea typeface="Cambria" panose="02040503050406030204" pitchFamily="18" charset="0"/>
              </a:rPr>
              <a:t>Cybersecurity in DevOps Environments: A Systematic Literature Review</a:t>
            </a:r>
            <a:r>
              <a:rPr lang="en-IN" dirty="0">
                <a:latin typeface="Cambria" panose="02040503050406030204" pitchFamily="18" charset="0"/>
                <a:ea typeface="Cambria" panose="02040503050406030204" pitchFamily="18" charset="0"/>
              </a:rPr>
              <a:t>, IEEE Access, vol. 13, pp. 191959–191980, 2025, DOI: 10.1109/ACCESS.2025.3582892. </a:t>
            </a:r>
          </a:p>
          <a:p>
            <a:pPr algn="just">
              <a:lnSpc>
                <a:spcPct val="150000"/>
              </a:lnSpc>
            </a:pPr>
            <a:r>
              <a:rPr lang="en-IN" b="1" dirty="0">
                <a:latin typeface="Cambria" panose="02040503050406030204" pitchFamily="18" charset="0"/>
                <a:ea typeface="Cambria" panose="02040503050406030204" pitchFamily="18" charset="0"/>
              </a:rPr>
              <a:t>[14] </a:t>
            </a:r>
            <a:r>
              <a:rPr lang="en-IN" dirty="0">
                <a:latin typeface="Cambria" panose="02040503050406030204" pitchFamily="18" charset="0"/>
                <a:ea typeface="Cambria" panose="02040503050406030204" pitchFamily="18" charset="0"/>
              </a:rPr>
              <a:t>Rania Rajab, Mouhib </a:t>
            </a:r>
            <a:r>
              <a:rPr lang="en-IN" dirty="0" err="1">
                <a:latin typeface="Cambria" panose="02040503050406030204" pitchFamily="18" charset="0"/>
                <a:ea typeface="Cambria" panose="02040503050406030204" pitchFamily="18" charset="0"/>
              </a:rPr>
              <a:t>Alnoukari</a:t>
            </a:r>
            <a:r>
              <a:rPr lang="en-IN" dirty="0">
                <a:latin typeface="Cambria" panose="02040503050406030204" pitchFamily="18" charset="0"/>
                <a:ea typeface="Cambria" panose="02040503050406030204" pitchFamily="18" charset="0"/>
              </a:rPr>
              <a:t>, DevOps Integration With Capability Model Maturity Integration: A Systematic Mapping Review, IEEE Access, vol. 13, pp. 31829–31840, 2025, DOI: 10.1109/ACCESS.2025.3542630. </a:t>
            </a:r>
          </a:p>
          <a:p>
            <a:pPr algn="just">
              <a:lnSpc>
                <a:spcPct val="150000"/>
              </a:lnSpc>
            </a:pPr>
            <a:r>
              <a:rPr lang="en-IN" b="1" dirty="0">
                <a:latin typeface="Cambria" panose="02040503050406030204" pitchFamily="18" charset="0"/>
                <a:ea typeface="Cambria" panose="02040503050406030204" pitchFamily="18" charset="0"/>
              </a:rPr>
              <a:t>[15] </a:t>
            </a:r>
            <a:r>
              <a:rPr lang="en-IN" dirty="0" err="1">
                <a:latin typeface="Cambria" panose="02040503050406030204" pitchFamily="18" charset="0"/>
                <a:ea typeface="Cambria" panose="02040503050406030204" pitchFamily="18" charset="0"/>
              </a:rPr>
              <a:t>Sadaquat</a:t>
            </a:r>
            <a:r>
              <a:rPr lang="en-IN" dirty="0">
                <a:latin typeface="Cambria" panose="02040503050406030204" pitchFamily="18" charset="0"/>
                <a:ea typeface="Cambria" panose="02040503050406030204" pitchFamily="18" charset="0"/>
              </a:rPr>
              <a:t> Ali Ruk, Yasir Mahmood, Azri Azmi, </a:t>
            </a:r>
            <a:r>
              <a:rPr lang="en-IN" dirty="0" err="1">
                <a:latin typeface="Cambria" panose="02040503050406030204" pitchFamily="18" charset="0"/>
                <a:ea typeface="Cambria" panose="02040503050406030204" pitchFamily="18" charset="0"/>
              </a:rPr>
              <a:t>Nurulhuda</a:t>
            </a:r>
            <a:r>
              <a:rPr lang="en-IN" dirty="0">
                <a:latin typeface="Cambria" panose="02040503050406030204" pitchFamily="18" charset="0"/>
                <a:ea typeface="Cambria" panose="02040503050406030204" pitchFamily="18" charset="0"/>
              </a:rPr>
              <a:t> Firdaus Mohd Azmi, Sehar Gul, Effort Estimation in Agile and DevOps: A Systematic Literature Review of Stakeholder Dissatisfaction, IEEE Access, vol. 13, pp. 167925–167960, 2025, DOI: 10.1109/ACCESS.2025.3600321. </a:t>
            </a:r>
          </a:p>
          <a:p>
            <a:pPr algn="just">
              <a:lnSpc>
                <a:spcPct val="150000"/>
              </a:lnSpc>
            </a:pPr>
            <a:r>
              <a:rPr lang="en-IN" b="1" dirty="0">
                <a:latin typeface="Cambria" panose="02040503050406030204" pitchFamily="18" charset="0"/>
                <a:ea typeface="Cambria" panose="02040503050406030204" pitchFamily="18" charset="0"/>
              </a:rPr>
              <a:t>[16]</a:t>
            </a:r>
            <a:r>
              <a:rPr lang="en-IN" dirty="0">
                <a:latin typeface="Cambria" panose="02040503050406030204" pitchFamily="18" charset="0"/>
                <a:ea typeface="Cambria" panose="02040503050406030204" pitchFamily="18" charset="0"/>
              </a:rPr>
              <a:t> Muhammad Azeem Akbar, Abeer Abdulaziz </a:t>
            </a:r>
            <a:r>
              <a:rPr lang="en-IN" dirty="0" err="1">
                <a:latin typeface="Cambria" panose="02040503050406030204" pitchFamily="18" charset="0"/>
                <a:ea typeface="Cambria" panose="02040503050406030204" pitchFamily="18" charset="0"/>
              </a:rPr>
              <a:t>Alsanad</a:t>
            </a:r>
            <a:r>
              <a:rPr lang="en-IN" dirty="0">
                <a:latin typeface="Cambria" panose="02040503050406030204" pitchFamily="18" charset="0"/>
                <a:ea typeface="Cambria" panose="02040503050406030204" pitchFamily="18" charset="0"/>
              </a:rPr>
              <a:t>, </a:t>
            </a:r>
            <a:r>
              <a:rPr lang="en-IN" i="1" dirty="0">
                <a:latin typeface="Cambria" panose="02040503050406030204" pitchFamily="18" charset="0"/>
                <a:ea typeface="Cambria" panose="02040503050406030204" pitchFamily="18" charset="0"/>
              </a:rPr>
              <a:t>Empirical Investigation of Key Enablers for Secure DevOps Practices</a:t>
            </a:r>
            <a:r>
              <a:rPr lang="en-IN" dirty="0">
                <a:latin typeface="Cambria" panose="02040503050406030204" pitchFamily="18" charset="0"/>
                <a:ea typeface="Cambria" panose="02040503050406030204" pitchFamily="18" charset="0"/>
              </a:rPr>
              <a:t>, IEEE Access, vol. 13, pp. 43698–43710, 2025, DOI: 10.1109/ACCESS.2025.3549183.</a:t>
            </a:r>
          </a:p>
          <a:p>
            <a:pPr algn="just">
              <a:lnSpc>
                <a:spcPct val="150000"/>
              </a:lnSpc>
            </a:pPr>
            <a:r>
              <a:rPr lang="en-IN" b="1" dirty="0">
                <a:latin typeface="Cambria" panose="02040503050406030204" pitchFamily="18" charset="0"/>
                <a:ea typeface="Cambria" panose="02040503050406030204" pitchFamily="18" charset="0"/>
              </a:rPr>
              <a:t>[17] </a:t>
            </a:r>
            <a:r>
              <a:rPr lang="en-IN" dirty="0">
                <a:latin typeface="Cambria" panose="02040503050406030204" pitchFamily="18" charset="0"/>
                <a:ea typeface="Cambria" panose="02040503050406030204" pitchFamily="18" charset="0"/>
              </a:rPr>
              <a:t>Junaid Nasir Qureshi, Muhammad Shoaib Farooq, Usman Ali, Adel Khelifi, Zabihullah Atal, Exploring the Integration of Blockchain and Distributed DevOps for Secure, Transparent, and Traceable Software Development, IEEE Access, vol. 13, pp. 15489–15500, 2025, DOI: 10.1109/ACCESS.2024.3509036. </a:t>
            </a:r>
          </a:p>
        </p:txBody>
      </p:sp>
    </p:spTree>
    <p:extLst>
      <p:ext uri="{BB962C8B-B14F-4D97-AF65-F5344CB8AC3E}">
        <p14:creationId xmlns:p14="http://schemas.microsoft.com/office/powerpoint/2010/main" val="906954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27D20-7005-0819-0C79-88760924DDE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7F88FF0-F558-D0C5-2D88-A64AF38A77B6}"/>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D9E393CE-B698-0251-D608-806ABF621E63}"/>
              </a:ext>
            </a:extLst>
          </p:cNvPr>
          <p:cNvSpPr>
            <a:spLocks noGrp="1"/>
          </p:cNvSpPr>
          <p:nvPr>
            <p:ph type="sldNum" sz="quarter" idx="4"/>
          </p:nvPr>
        </p:nvSpPr>
        <p:spPr/>
        <p:txBody>
          <a:bodyPr/>
          <a:lstStyle/>
          <a:p>
            <a:fld id="{FFAE6D68-FB99-4243-9CC1-93FAA8C005BC}" type="slidenum">
              <a:rPr lang="en-IN" smtClean="0"/>
              <a:pPr/>
              <a:t>15</a:t>
            </a:fld>
            <a:endParaRPr lang="en-IN"/>
          </a:p>
        </p:txBody>
      </p:sp>
      <p:sp>
        <p:nvSpPr>
          <p:cNvPr id="4" name="TextBox 3">
            <a:extLst>
              <a:ext uri="{FF2B5EF4-FFF2-40B4-BE49-F238E27FC236}">
                <a16:creationId xmlns:a16="http://schemas.microsoft.com/office/drawing/2014/main" id="{89FA5180-8AA2-57F5-F7C7-980816CEC6D8}"/>
              </a:ext>
            </a:extLst>
          </p:cNvPr>
          <p:cNvSpPr txBox="1"/>
          <p:nvPr/>
        </p:nvSpPr>
        <p:spPr>
          <a:xfrm>
            <a:off x="2798445" y="487802"/>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References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E574BC18-E414-67B4-6133-AD7CFCE406A9}"/>
              </a:ext>
            </a:extLst>
          </p:cNvPr>
          <p:cNvSpPr txBox="1"/>
          <p:nvPr/>
        </p:nvSpPr>
        <p:spPr>
          <a:xfrm>
            <a:off x="81280" y="1754488"/>
            <a:ext cx="12029440" cy="2949462"/>
          </a:xfrm>
          <a:prstGeom prst="rect">
            <a:avLst/>
          </a:prstGeom>
          <a:noFill/>
        </p:spPr>
        <p:txBody>
          <a:bodyPr wrap="square">
            <a:spAutoFit/>
          </a:bodyPr>
          <a:lstStyle/>
          <a:p>
            <a:pPr algn="just">
              <a:lnSpc>
                <a:spcPct val="150000"/>
              </a:lnSpc>
            </a:pPr>
            <a:r>
              <a:rPr lang="en-IN" b="1" dirty="0">
                <a:latin typeface="Cambria" panose="02040503050406030204" pitchFamily="18" charset="0"/>
                <a:ea typeface="Cambria" panose="02040503050406030204" pitchFamily="18" charset="0"/>
              </a:rPr>
              <a:t>[18] </a:t>
            </a:r>
            <a:r>
              <a:rPr lang="en-IN" dirty="0" err="1">
                <a:latin typeface="Cambria" panose="02040503050406030204" pitchFamily="18" charset="0"/>
                <a:ea typeface="Cambria" panose="02040503050406030204" pitchFamily="18" charset="0"/>
              </a:rPr>
              <a:t>Nagasundari</a:t>
            </a:r>
            <a:r>
              <a:rPr lang="en-IN" dirty="0">
                <a:latin typeface="Cambria" panose="02040503050406030204" pitchFamily="18" charset="0"/>
                <a:ea typeface="Cambria" panose="02040503050406030204" pitchFamily="18" charset="0"/>
              </a:rPr>
              <a:t> S, Pratham Manja, Priyansh Mathur, Prasad B. </a:t>
            </a:r>
            <a:r>
              <a:rPr lang="en-IN" dirty="0" err="1">
                <a:latin typeface="Cambria" panose="02040503050406030204" pitchFamily="18" charset="0"/>
                <a:ea typeface="Cambria" panose="02040503050406030204" pitchFamily="18" charset="0"/>
              </a:rPr>
              <a:t>Honnavalli</a:t>
            </a:r>
            <a:r>
              <a:rPr lang="en-IN" dirty="0">
                <a:latin typeface="Cambria" panose="02040503050406030204" pitchFamily="18" charset="0"/>
                <a:ea typeface="Cambria" panose="02040503050406030204" pitchFamily="18" charset="0"/>
              </a:rPr>
              <a:t>, Extensive Review of Threat Models for </a:t>
            </a:r>
            <a:r>
              <a:rPr lang="en-IN" dirty="0" err="1">
                <a:latin typeface="Cambria" panose="02040503050406030204" pitchFamily="18" charset="0"/>
                <a:ea typeface="Cambria" panose="02040503050406030204" pitchFamily="18" charset="0"/>
              </a:rPr>
              <a:t>DevSecOps</a:t>
            </a:r>
            <a:r>
              <a:rPr lang="en-IN" dirty="0">
                <a:latin typeface="Cambria" panose="02040503050406030204" pitchFamily="18" charset="0"/>
                <a:ea typeface="Cambria" panose="02040503050406030204" pitchFamily="18" charset="0"/>
              </a:rPr>
              <a:t>, IEEE Access, vol. 13, pp. 45252–45274, 2025, DOI: 10.1109/ACCESS.2025.3547932, 2025. </a:t>
            </a:r>
          </a:p>
          <a:p>
            <a:pPr algn="just">
              <a:lnSpc>
                <a:spcPct val="150000"/>
              </a:lnSpc>
            </a:pPr>
            <a:r>
              <a:rPr lang="en-IN" b="1" dirty="0">
                <a:latin typeface="Cambria" panose="02040503050406030204" pitchFamily="18" charset="0"/>
                <a:ea typeface="Cambria" panose="02040503050406030204" pitchFamily="18" charset="0"/>
              </a:rPr>
              <a:t>[19]</a:t>
            </a:r>
            <a:r>
              <a:rPr lang="en-IN" dirty="0">
                <a:latin typeface="Cambria" panose="02040503050406030204" pitchFamily="18" charset="0"/>
                <a:ea typeface="Cambria" panose="02040503050406030204" pitchFamily="18" charset="0"/>
              </a:rPr>
              <a:t> Jafar Ababneh, Esam Y. A. Al-</a:t>
            </a:r>
            <a:r>
              <a:rPr lang="en-IN" dirty="0" err="1">
                <a:latin typeface="Cambria" panose="02040503050406030204" pitchFamily="18" charset="0"/>
                <a:ea typeface="Cambria" panose="02040503050406030204" pitchFamily="18" charset="0"/>
              </a:rPr>
              <a:t>Nsour</a:t>
            </a:r>
            <a:r>
              <a:rPr lang="en-IN" dirty="0">
                <a:latin typeface="Cambria" panose="02040503050406030204" pitchFamily="18" charset="0"/>
                <a:ea typeface="Cambria" panose="02040503050406030204" pitchFamily="18" charset="0"/>
              </a:rPr>
              <a:t>, </a:t>
            </a:r>
            <a:r>
              <a:rPr lang="en-IN" dirty="0" err="1">
                <a:latin typeface="Cambria" panose="02040503050406030204" pitchFamily="18" charset="0"/>
                <a:ea typeface="Cambria" panose="02040503050406030204" pitchFamily="18" charset="0"/>
              </a:rPr>
              <a:t>Alaa’a</a:t>
            </a:r>
            <a:r>
              <a:rPr lang="en-IN" dirty="0">
                <a:latin typeface="Cambria" panose="02040503050406030204" pitchFamily="18" charset="0"/>
                <a:ea typeface="Cambria" panose="02040503050406030204" pitchFamily="18" charset="0"/>
              </a:rPr>
              <a:t> Al-Shaikh, Mohammad Rasmi Al-Mousa, Ahmad Al-Zabin, Mahmoud </a:t>
            </a:r>
            <a:r>
              <a:rPr lang="en-IN" dirty="0" err="1">
                <a:latin typeface="Cambria" panose="02040503050406030204" pitchFamily="18" charset="0"/>
                <a:ea typeface="Cambria" panose="02040503050406030204" pitchFamily="18" charset="0"/>
              </a:rPr>
              <a:t>Asassfeh</a:t>
            </a:r>
            <a:r>
              <a:rPr lang="en-IN" dirty="0">
                <a:latin typeface="Cambria" panose="02040503050406030204" pitchFamily="18" charset="0"/>
                <a:ea typeface="Cambria" panose="02040503050406030204" pitchFamily="18" charset="0"/>
              </a:rPr>
              <a:t>, Hasan </a:t>
            </a:r>
            <a:r>
              <a:rPr lang="en-IN" dirty="0" err="1">
                <a:latin typeface="Cambria" panose="02040503050406030204" pitchFamily="18" charset="0"/>
                <a:ea typeface="Cambria" panose="02040503050406030204" pitchFamily="18" charset="0"/>
              </a:rPr>
              <a:t>Abualese</a:t>
            </a:r>
            <a:r>
              <a:rPr lang="en-IN" dirty="0">
                <a:latin typeface="Cambria" panose="02040503050406030204" pitchFamily="18" charset="0"/>
                <a:ea typeface="Cambria" panose="02040503050406030204" pitchFamily="18" charset="0"/>
              </a:rPr>
              <a:t>, </a:t>
            </a:r>
            <a:r>
              <a:rPr lang="en-IN" i="1" dirty="0">
                <a:latin typeface="Cambria" panose="02040503050406030204" pitchFamily="18" charset="0"/>
                <a:ea typeface="Cambria" panose="02040503050406030204" pitchFamily="18" charset="0"/>
              </a:rPr>
              <a:t>Enhancing DevOps Continuous Monitoring Phase: Hybrid Intrusion Detection and Ensemble Learning System (HIDELS)</a:t>
            </a:r>
            <a:r>
              <a:rPr lang="en-IN" dirty="0">
                <a:latin typeface="Cambria" panose="02040503050406030204" pitchFamily="18" charset="0"/>
                <a:ea typeface="Cambria" panose="02040503050406030204" pitchFamily="18" charset="0"/>
              </a:rPr>
              <a:t>, IEEE Access, vol. 14, pp. 4733–4755, 2026, DOI: 10.1109/ACCESS.2026.3650793.</a:t>
            </a:r>
          </a:p>
          <a:p>
            <a:pPr algn="just">
              <a:lnSpc>
                <a:spcPct val="150000"/>
              </a:lnSpc>
            </a:pPr>
            <a:r>
              <a:rPr lang="en-US" b="1" dirty="0">
                <a:latin typeface="Cambria" panose="02040503050406030204" pitchFamily="18" charset="0"/>
                <a:ea typeface="Cambria" panose="02040503050406030204" pitchFamily="18" charset="0"/>
              </a:rPr>
              <a:t>[20]</a:t>
            </a:r>
            <a:r>
              <a:rPr lang="en-US" dirty="0">
                <a:latin typeface="Cambria" panose="02040503050406030204" pitchFamily="18" charset="0"/>
                <a:ea typeface="Cambria" panose="02040503050406030204" pitchFamily="18" charset="0"/>
              </a:rPr>
              <a:t> Ahmad </a:t>
            </a:r>
            <a:r>
              <a:rPr lang="en-US" dirty="0" err="1">
                <a:latin typeface="Cambria" panose="02040503050406030204" pitchFamily="18" charset="0"/>
                <a:ea typeface="Cambria" panose="02040503050406030204" pitchFamily="18" charset="0"/>
              </a:rPr>
              <a:t>Alnafessah</a:t>
            </a:r>
            <a:r>
              <a:rPr lang="en-US" dirty="0">
                <a:latin typeface="Cambria" panose="02040503050406030204" pitchFamily="18" charset="0"/>
                <a:ea typeface="Cambria" panose="02040503050406030204" pitchFamily="18" charset="0"/>
              </a:rPr>
              <a:t>, Alim Ul </a:t>
            </a:r>
            <a:r>
              <a:rPr lang="en-US" dirty="0" err="1">
                <a:latin typeface="Cambria" panose="02040503050406030204" pitchFamily="18" charset="0"/>
                <a:ea typeface="Cambria" panose="02040503050406030204" pitchFamily="18" charset="0"/>
              </a:rPr>
              <a:t>Gias</a:t>
            </a:r>
            <a:r>
              <a:rPr lang="en-US" dirty="0">
                <a:latin typeface="Cambria" panose="02040503050406030204" pitchFamily="18" charset="0"/>
                <a:ea typeface="Cambria" panose="02040503050406030204" pitchFamily="18" charset="0"/>
              </a:rPr>
              <a:t>, Runan Wang, Lulai Zhu, Giuliano Casale, Antonio </a:t>
            </a:r>
            <a:r>
              <a:rPr lang="en-US" dirty="0" err="1">
                <a:latin typeface="Cambria" panose="02040503050406030204" pitchFamily="18" charset="0"/>
                <a:ea typeface="Cambria" panose="02040503050406030204" pitchFamily="18" charset="0"/>
              </a:rPr>
              <a:t>Filieri</a:t>
            </a:r>
            <a:r>
              <a:rPr lang="en-US" dirty="0">
                <a:latin typeface="Cambria" panose="02040503050406030204" pitchFamily="18" charset="0"/>
                <a:ea typeface="Cambria" panose="02040503050406030204" pitchFamily="18" charset="0"/>
              </a:rPr>
              <a:t>, </a:t>
            </a:r>
            <a:r>
              <a:rPr lang="en-US" i="1" dirty="0">
                <a:latin typeface="Cambria" panose="02040503050406030204" pitchFamily="18" charset="0"/>
                <a:ea typeface="Cambria" panose="02040503050406030204" pitchFamily="18" charset="0"/>
              </a:rPr>
              <a:t>Quality-Aware DevOps Research: Where Do We Stand?</a:t>
            </a:r>
            <a:r>
              <a:rPr lang="en-US" dirty="0">
                <a:latin typeface="Cambria" panose="02040503050406030204" pitchFamily="18" charset="0"/>
                <a:ea typeface="Cambria" panose="02040503050406030204" pitchFamily="18" charset="0"/>
              </a:rPr>
              <a:t>, IEEE Access, vol. 9, pp. 44476–44489, 2021, DOI: 10.1109/ACCESS.2021.3064867.</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23000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16</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30389" y="2775955"/>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Questions and Answers</a:t>
            </a:r>
            <a:endParaRPr lang="en-IN" sz="40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85023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17</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580264" y="2735011"/>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Thank You</a:t>
            </a:r>
            <a:endParaRPr lang="en-IN" sz="40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384833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TotalTime>
  <Words>1970</Words>
  <Application>Microsoft Office PowerPoint</Application>
  <PresentationFormat>Widescreen</PresentationFormat>
  <Paragraphs>202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Shakthivel K</cp:lastModifiedBy>
  <cp:revision>42</cp:revision>
  <dcterms:created xsi:type="dcterms:W3CDTF">2026-02-18T04:52:12Z</dcterms:created>
  <dcterms:modified xsi:type="dcterms:W3CDTF">2026-03-01T12:48:22Z</dcterms:modified>
</cp:coreProperties>
</file>