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9" r:id="rId4"/>
    <p:sldId id="260" r:id="rId5"/>
    <p:sldId id="266" r:id="rId6"/>
    <p:sldId id="265" r:id="rId7"/>
    <p:sldId id="277" r:id="rId8"/>
    <p:sldId id="278" r:id="rId9"/>
    <p:sldId id="281" r:id="rId10"/>
    <p:sldId id="271" r:id="rId11"/>
    <p:sldId id="279" r:id="rId12"/>
    <p:sldId id="273" r:id="rId13"/>
    <p:sldId id="274" r:id="rId14"/>
    <p:sldId id="275" r:id="rId15"/>
    <p:sldId id="267" r:id="rId16"/>
    <p:sldId id="261" r:id="rId17"/>
    <p:sldId id="272" r:id="rId18"/>
    <p:sldId id="262" r:id="rId19"/>
    <p:sldId id="269" r:id="rId20"/>
    <p:sldId id="263" r:id="rId21"/>
    <p:sldId id="26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81A4-97E0-4626-BA30-074D23D3B5E2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CCE34-49A7-43AF-8BAD-FB84CE1E71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021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370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1247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4880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1774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5445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6266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000" y="6410138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5374" y="639669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6349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847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46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3252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9690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4466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09/AIIoT58432.2024.10574621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omputer science certificate&#10;&#10;AI-generated content may be incorrect.">
            <a:extLst>
              <a:ext uri="{FF2B5EF4-FFF2-40B4-BE49-F238E27FC236}">
                <a16:creationId xmlns:a16="http://schemas.microsoft.com/office/drawing/2014/main" id="{40420FD3-0A06-0436-D3A4-96837D4EB6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787"/>
          <a:stretch/>
        </p:blipFill>
        <p:spPr bwMode="auto">
          <a:xfrm>
            <a:off x="737937" y="0"/>
            <a:ext cx="10590433" cy="17165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1ED9E-B03E-AADD-5318-2A3BC6BF9023}"/>
              </a:ext>
            </a:extLst>
          </p:cNvPr>
          <p:cNvSpPr txBox="1"/>
          <p:nvPr/>
        </p:nvSpPr>
        <p:spPr>
          <a:xfrm>
            <a:off x="1295397" y="1832577"/>
            <a:ext cx="9601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6</a:t>
            </a:r>
            <a:r>
              <a:rPr lang="en-US" sz="2000" b="1" baseline="30000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</a:t>
            </a:r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Semester</a:t>
            </a:r>
          </a:p>
          <a:p>
            <a:pPr algn="ctr"/>
            <a:r>
              <a:rPr lang="en-US" sz="2400" b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Major Project Phase – I (CSEP23605) 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Review 1</a:t>
            </a:r>
            <a:endParaRPr lang="en-IN" sz="20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90C19-52FC-CFB5-047F-5C4C7AB83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64945"/>
              </p:ext>
            </p:extLst>
          </p:nvPr>
        </p:nvGraphicFramePr>
        <p:xfrm>
          <a:off x="245265" y="3025867"/>
          <a:ext cx="11701463" cy="3187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6655">
                  <a:extLst>
                    <a:ext uri="{9D8B030D-6E8A-4147-A177-3AD203B41FA5}">
                      <a16:colId xmlns:a16="http://schemas.microsoft.com/office/drawing/2014/main" val="2777636275"/>
                    </a:ext>
                  </a:extLst>
                </a:gridCol>
                <a:gridCol w="4061570">
                  <a:extLst>
                    <a:ext uri="{9D8B030D-6E8A-4147-A177-3AD203B41FA5}">
                      <a16:colId xmlns:a16="http://schemas.microsoft.com/office/drawing/2014/main" val="930982237"/>
                    </a:ext>
                  </a:extLst>
                </a:gridCol>
                <a:gridCol w="2749902">
                  <a:extLst>
                    <a:ext uri="{9D8B030D-6E8A-4147-A177-3AD203B41FA5}">
                      <a16:colId xmlns:a16="http://schemas.microsoft.com/office/drawing/2014/main" val="2160730651"/>
                    </a:ext>
                  </a:extLst>
                </a:gridCol>
                <a:gridCol w="2623336">
                  <a:extLst>
                    <a:ext uri="{9D8B030D-6E8A-4147-A177-3AD203B41FA5}">
                      <a16:colId xmlns:a16="http://schemas.microsoft.com/office/drawing/2014/main" val="26985477"/>
                    </a:ext>
                  </a:extLst>
                </a:gridCol>
              </a:tblGrid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Group No.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G14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Project ID</a:t>
                      </a:r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P43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035671"/>
                  </a:ext>
                </a:extLst>
              </a:tr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Project Title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Implementation of a Secure CI/CD Pipeline Using DevOps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sz="240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 sz="240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5941917"/>
                  </a:ext>
                </a:extLst>
              </a:tr>
              <a:tr h="453878">
                <a:tc rowSpan="4"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Student Name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Vignesh P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USN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1GA23CS193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18601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Revanth Kumar T S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1GA23CS137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442161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Sanket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1GA23CS148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26222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Shakthi Vel K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1GA23CS151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284577"/>
                  </a:ext>
                </a:extLst>
              </a:tr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Guide Name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Prof. Sameena H S</a:t>
                      </a:r>
                      <a:r>
                        <a:rPr lang="en-IN" sz="2400" dirty="0"/>
                        <a:t> </a:t>
                      </a:r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,  Assistant Professor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4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144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9C1741-F608-45C9-6668-19733C50868C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Agenda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F745C16F-33D2-99EB-7E0E-85A0DC9ADD16}"/>
              </a:ext>
            </a:extLst>
          </p:cNvPr>
          <p:cNvSpPr txBox="1">
            <a:spLocks/>
          </p:cNvSpPr>
          <p:nvPr/>
        </p:nvSpPr>
        <p:spPr>
          <a:xfrm>
            <a:off x="851846" y="1002233"/>
            <a:ext cx="9438565" cy="50983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Literature Survey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Objectives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Proposed System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Methodology</a:t>
            </a: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Design Diagrams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Requirements Specification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Conclusion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37627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3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12894-0E7D-FCE9-A846-069E08CD7E41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5D9E7-4487-349B-13E8-4E6CC30D8029}"/>
              </a:ext>
            </a:extLst>
          </p:cNvPr>
          <p:cNvSpPr txBox="1"/>
          <p:nvPr/>
        </p:nvSpPr>
        <p:spPr>
          <a:xfrm>
            <a:off x="488574" y="1484630"/>
            <a:ext cx="11430000" cy="3630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Security vulnerabilities are often detected </a:t>
            </a: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after deployment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This leads to: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Increased risk of cyberattacks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High remediation and maintenance costs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Delays in software releases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Lack of automated security integration in traditional DevOps pipelines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Need for early vulnerability detection in development lifecycle</a:t>
            </a:r>
            <a:endParaRPr lang="en-IN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626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4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Literature Survey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79220"/>
              </p:ext>
            </p:extLst>
          </p:nvPr>
        </p:nvGraphicFramePr>
        <p:xfrm>
          <a:off x="490749" y="890766"/>
          <a:ext cx="10972801" cy="534227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817552">
                  <a:extLst>
                    <a:ext uri="{9D8B030D-6E8A-4147-A177-3AD203B41FA5}">
                      <a16:colId xmlns:a16="http://schemas.microsoft.com/office/drawing/2014/main" val="1246332516"/>
                    </a:ext>
                  </a:extLst>
                </a:gridCol>
                <a:gridCol w="3571569">
                  <a:extLst>
                    <a:ext uri="{9D8B030D-6E8A-4147-A177-3AD203B41FA5}">
                      <a16:colId xmlns:a16="http://schemas.microsoft.com/office/drawing/2014/main" val="351159409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750598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69376826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042864848"/>
                    </a:ext>
                  </a:extLst>
                </a:gridCol>
              </a:tblGrid>
              <a:tr h="1814358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Sl. 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Title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of the paper and year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Methodology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And Datasets used (if any)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Merits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Limitations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800540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441998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2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382206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3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219671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4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57622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5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128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1449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5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Literature Survey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435351"/>
              </p:ext>
            </p:extLst>
          </p:nvPr>
        </p:nvGraphicFramePr>
        <p:xfrm>
          <a:off x="381000" y="1473223"/>
          <a:ext cx="10972801" cy="3230880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817552">
                  <a:extLst>
                    <a:ext uri="{9D8B030D-6E8A-4147-A177-3AD203B41FA5}">
                      <a16:colId xmlns:a16="http://schemas.microsoft.com/office/drawing/2014/main" val="1246332516"/>
                    </a:ext>
                  </a:extLst>
                </a:gridCol>
                <a:gridCol w="3571569">
                  <a:extLst>
                    <a:ext uri="{9D8B030D-6E8A-4147-A177-3AD203B41FA5}">
                      <a16:colId xmlns:a16="http://schemas.microsoft.com/office/drawing/2014/main" val="351159409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750598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69376826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042864848"/>
                    </a:ext>
                  </a:extLst>
                </a:gridCol>
              </a:tblGrid>
              <a:tr h="358231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Sl. 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Title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of the paper and year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Methodology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And Datasets used (if any)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Merits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Limitations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800540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6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441998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7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382206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8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219671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57622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10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128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0469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6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Objectives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580072" y="1332845"/>
            <a:ext cx="10769917" cy="256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To design and implement a secure CI/CD pipeline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To integrate security testing tools into DevOps workflows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To identify and mitigate vulnerabilities at early stages of development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To reduce security risks and remediation costs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To ensure faster and secure software delivery </a:t>
            </a:r>
            <a:endParaRPr lang="en-IN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39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7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Proposed System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689254" y="1428380"/>
            <a:ext cx="1076991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Overview of the new solution (1 point)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Advantages over existing systems (2-3 points)</a:t>
            </a:r>
          </a:p>
        </p:txBody>
      </p:sp>
    </p:spTree>
    <p:extLst>
      <p:ext uri="{BB962C8B-B14F-4D97-AF65-F5344CB8AC3E}">
        <p14:creationId xmlns:p14="http://schemas.microsoft.com/office/powerpoint/2010/main" val="459360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8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Methodology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689254" y="1428380"/>
            <a:ext cx="10769917" cy="537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Techniques used to solve the problem</a:t>
            </a:r>
            <a:endParaRPr lang="en-US" alt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9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77839" y="1122481"/>
            <a:ext cx="1107743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 Diagram of the Proposed system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Explanation of the Architecture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0710" y="2244371"/>
            <a:ext cx="5338753" cy="29462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285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10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6853" y="1337480"/>
            <a:ext cx="105633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Definition: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Data Flow Diagram is a graphical representation that shows how data moves through a system. It illustrates the inputs, outputs, processes, and data stores within a system without showing control flow or timing.</a:t>
            </a:r>
          </a:p>
        </p:txBody>
      </p:sp>
    </p:spTree>
    <p:extLst>
      <p:ext uri="{BB962C8B-B14F-4D97-AF65-F5344CB8AC3E}">
        <p14:creationId xmlns:p14="http://schemas.microsoft.com/office/powerpoint/2010/main" val="1527851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11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0999" y="1064525"/>
            <a:ext cx="11096767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DFD Level 0 — Context Diagram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topmost level of DFD that represents the entire system as a single process. It shows how the system interacts with the outside world.</a:t>
            </a:r>
          </a:p>
          <a:p>
            <a:pPr algn="just">
              <a:lnSpc>
                <a:spcPct val="150000"/>
              </a:lnSpc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DFD Level 1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Level 1 breaks the single process of Level 0 into major sub-processes (main functions of the system). Data stores are introduced at this level.</a:t>
            </a:r>
          </a:p>
          <a:p>
            <a:pPr algn="just">
              <a:lnSpc>
                <a:spcPct val="150000"/>
              </a:lnSpc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DFD Level 2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Level 2 further decomposes each Level 1 process into detailed sub-processes. Each major process from Level 1 gets its own Level 2 DFD.</a:t>
            </a:r>
          </a:p>
        </p:txBody>
      </p:sp>
    </p:spTree>
    <p:extLst>
      <p:ext uri="{BB962C8B-B14F-4D97-AF65-F5344CB8AC3E}">
        <p14:creationId xmlns:p14="http://schemas.microsoft.com/office/powerpoint/2010/main" val="3624662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12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Level 0 DFD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2076" y="3326251"/>
            <a:ext cx="7476529" cy="16521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958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13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Level 1 DFD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109" y="3787821"/>
            <a:ext cx="7252462" cy="1310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37147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14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Level 2 DFD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246" y="1928379"/>
            <a:ext cx="6923598" cy="30116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68360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15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Requirements Specification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78195" y="1227061"/>
            <a:ext cx="10676741" cy="46628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Hardware Requirements</a:t>
            </a:r>
          </a:p>
          <a:p>
            <a:pPr marL="0"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the hardware components required for the implementation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Software Requirements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and explain in brief about the software and tools to be used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 include versions of software and hardware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988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16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Conclusion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003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17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536529" y="1115130"/>
            <a:ext cx="11031357" cy="5032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200" b="1" dirty="0">
                <a:latin typeface="Cambria" panose="02040503050406030204" pitchFamily="18" charset="0"/>
                <a:ea typeface="Cambria" panose="02040503050406030204" pitchFamily="18" charset="0"/>
              </a:rPr>
              <a:t>Sample IEEE Format:</a:t>
            </a:r>
          </a:p>
          <a:p>
            <a:pPr algn="just">
              <a:lnSpc>
                <a:spcPct val="150000"/>
              </a:lnSpc>
            </a:pP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[1] B Sheryl </a:t>
            </a:r>
            <a:r>
              <a:rPr lang="en-IN" sz="2200" dirty="0" err="1">
                <a:latin typeface="Cambria" panose="02040503050406030204" pitchFamily="18" charset="0"/>
                <a:ea typeface="Cambria" panose="02040503050406030204" pitchFamily="18" charset="0"/>
              </a:rPr>
              <a:t>Rochana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IN" sz="2200" dirty="0" err="1">
                <a:latin typeface="Cambria" panose="02040503050406030204" pitchFamily="18" charset="0"/>
                <a:ea typeface="Cambria" panose="02040503050406030204" pitchFamily="18" charset="0"/>
              </a:rPr>
              <a:t>Sujitha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 Juliet, </a:t>
            </a: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Virtual Dress Trials: Leveraging GANs for Realistic Clothing Simulation, 3</a:t>
            </a:r>
            <a:r>
              <a:rPr lang="en-US" sz="2200" baseline="30000" dirty="0">
                <a:latin typeface="Cambria" panose="02040503050406030204" pitchFamily="18" charset="0"/>
                <a:ea typeface="Cambria" panose="02040503050406030204" pitchFamily="18" charset="0"/>
              </a:rPr>
              <a:t>rd</a:t>
            </a: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 IEEE International Conference on Artificial Intelligence for Internet of Things (</a:t>
            </a:r>
            <a:r>
              <a:rPr lang="en-US" sz="2200" dirty="0" err="1">
                <a:latin typeface="Cambria" panose="02040503050406030204" pitchFamily="18" charset="0"/>
                <a:ea typeface="Cambria" panose="02040503050406030204" pitchFamily="18" charset="0"/>
              </a:rPr>
              <a:t>AIIoT</a:t>
            </a: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 2024), 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DOI: 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  <a:hlinkClick r:id="rId2"/>
              </a:rPr>
              <a:t>10.1109/AIIoT58432.2024.10574621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, ISBN:979-8-3503-7213-7, May 2024.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Minimum of 20 papers to be referred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[1] Base Paper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[2]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[3]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969411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18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536529" y="1115130"/>
            <a:ext cx="11031357" cy="5107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[5]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[6]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[7]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[8]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[9]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[10]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[11]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[12]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[13]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[14]</a:t>
            </a:r>
          </a:p>
        </p:txBody>
      </p:sp>
    </p:spTree>
    <p:extLst>
      <p:ext uri="{BB962C8B-B14F-4D97-AF65-F5344CB8AC3E}">
        <p14:creationId xmlns:p14="http://schemas.microsoft.com/office/powerpoint/2010/main" val="819823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F3DEE-A381-4BCD-D2CD-F39689DBB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A23DBE6-B402-8DFD-5F70-4FB2300E32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98702D-27AC-DDC8-167C-DA8F9AC93A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19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FDB625-069A-46D7-7C46-3C8A4F435C39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FA0B8B-96E7-71B7-F695-C5D0D6679633}"/>
              </a:ext>
            </a:extLst>
          </p:cNvPr>
          <p:cNvSpPr txBox="1"/>
          <p:nvPr/>
        </p:nvSpPr>
        <p:spPr>
          <a:xfrm>
            <a:off x="536529" y="1115130"/>
            <a:ext cx="11031357" cy="3584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[15]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[16]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[17]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[18]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[19]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[20]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3346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20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30389" y="2775955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Q &amp; A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023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21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580264" y="2735011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Thank You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8483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784</Words>
  <Application>Microsoft Office PowerPoint</Application>
  <PresentationFormat>Widescreen</PresentationFormat>
  <Paragraphs>179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Shakthivel K</cp:lastModifiedBy>
  <cp:revision>61</cp:revision>
  <dcterms:created xsi:type="dcterms:W3CDTF">2026-02-18T04:52:12Z</dcterms:created>
  <dcterms:modified xsi:type="dcterms:W3CDTF">2026-03-12T15:42:37Z</dcterms:modified>
</cp:coreProperties>
</file>