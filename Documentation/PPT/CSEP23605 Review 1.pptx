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3"/>
  </p:notesMasterIdLst>
  <p:sldIdLst>
    <p:sldId id="256" r:id="rId2"/>
    <p:sldId id="258" r:id="rId3"/>
    <p:sldId id="259" r:id="rId4"/>
    <p:sldId id="260" r:id="rId5"/>
    <p:sldId id="282" r:id="rId6"/>
    <p:sldId id="283" r:id="rId7"/>
    <p:sldId id="266" r:id="rId8"/>
    <p:sldId id="265" r:id="rId9"/>
    <p:sldId id="277" r:id="rId10"/>
    <p:sldId id="278" r:id="rId11"/>
    <p:sldId id="281" r:id="rId12"/>
    <p:sldId id="271" r:id="rId13"/>
    <p:sldId id="279" r:id="rId14"/>
    <p:sldId id="273" r:id="rId15"/>
    <p:sldId id="274" r:id="rId16"/>
    <p:sldId id="275" r:id="rId17"/>
    <p:sldId id="284" r:id="rId18"/>
    <p:sldId id="285" r:id="rId19"/>
    <p:sldId id="290" r:id="rId20"/>
    <p:sldId id="291" r:id="rId21"/>
    <p:sldId id="292" r:id="rId22"/>
    <p:sldId id="293" r:id="rId23"/>
    <p:sldId id="294" r:id="rId24"/>
    <p:sldId id="261" r:id="rId25"/>
    <p:sldId id="286" r:id="rId26"/>
    <p:sldId id="287" r:id="rId27"/>
    <p:sldId id="276" r:id="rId28"/>
    <p:sldId id="288" r:id="rId29"/>
    <p:sldId id="289" r:id="rId30"/>
    <p:sldId id="263" r:id="rId31"/>
    <p:sldId id="26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17" autoAdjust="0"/>
    <p:restoredTop sz="94660"/>
  </p:normalViewPr>
  <p:slideViewPr>
    <p:cSldViewPr snapToGrid="0">
      <p:cViewPr varScale="1">
        <p:scale>
          <a:sx n="63" d="100"/>
          <a:sy n="63" d="100"/>
        </p:scale>
        <p:origin x="91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881A4-97E0-4626-BA30-074D23D3B5E2}" type="datetimeFigureOut">
              <a:rPr lang="en-IN" smtClean="0"/>
              <a:t>19-05-2026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CCE34-49A7-43AF-8BAD-FB84CE1E7183}" type="slidenum">
              <a:rPr lang="en-IN" smtClean="0"/>
              <a:t>‹#›</a:t>
            </a:fld>
            <a:endParaRPr lang="en-IN"/>
          </a:p>
        </p:txBody>
      </p:sp>
    </p:spTree>
    <p:extLst>
      <p:ext uri="{BB962C8B-B14F-4D97-AF65-F5344CB8AC3E}">
        <p14:creationId xmlns:p14="http://schemas.microsoft.com/office/powerpoint/2010/main" val="1998021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7"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2778370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3171247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2954880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9"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1851774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Footer Placeholder 4"/>
          <p:cNvSpPr>
            <a:spLocks noGrp="1"/>
          </p:cNvSpPr>
          <p:nvPr>
            <p:ph type="ftr" sz="quarter" idx="10"/>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11" name="Slide Number Placeholder 5"/>
          <p:cNvSpPr>
            <a:spLocks noGrp="1"/>
          </p:cNvSpPr>
          <p:nvPr>
            <p:ph type="sldNum" sz="quarter" idx="11"/>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3665445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6"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7"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1396266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81000" y="6410138"/>
            <a:ext cx="7315200" cy="365125"/>
          </a:xfrm>
          <a:prstGeom prst="rect">
            <a:avLst/>
          </a:prstGeom>
        </p:spPr>
        <p:txBody>
          <a:bodyPr vert="horz" lIns="91440" tIns="45720" rIns="91440" bIns="45720" rtlCol="0" anchor="ctr"/>
          <a:lstStyle>
            <a:lvl1pPr algn="l">
              <a:defRPr sz="1200">
                <a:solidFill>
                  <a:schemeClr val="bg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6" name="Slide Number Placeholder 5"/>
          <p:cNvSpPr>
            <a:spLocks noGrp="1"/>
          </p:cNvSpPr>
          <p:nvPr>
            <p:ph type="sldNum" sz="quarter" idx="4"/>
          </p:nvPr>
        </p:nvSpPr>
        <p:spPr>
          <a:xfrm>
            <a:off x="9175374" y="6396691"/>
            <a:ext cx="2743200" cy="365125"/>
          </a:xfrm>
          <a:prstGeom prst="rect">
            <a:avLst/>
          </a:prstGeom>
        </p:spPr>
        <p:txBody>
          <a:bodyPr vert="horz" lIns="91440" tIns="45720" rIns="91440" bIns="45720" rtlCol="0" anchor="ctr"/>
          <a:lstStyle>
            <a:lvl1pPr algn="r">
              <a:defRPr sz="1200">
                <a:solidFill>
                  <a:schemeClr val="bg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3326349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9"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965847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9"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136467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3783252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2069690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bg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3754466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computer science certificate&#10;&#10;AI-generated content may be incorrect.">
            <a:extLst>
              <a:ext uri="{FF2B5EF4-FFF2-40B4-BE49-F238E27FC236}">
                <a16:creationId xmlns:a16="http://schemas.microsoft.com/office/drawing/2014/main" id="{40420FD3-0A06-0436-D3A4-96837D4EB68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7787"/>
          <a:stretch/>
        </p:blipFill>
        <p:spPr bwMode="auto">
          <a:xfrm>
            <a:off x="737937" y="0"/>
            <a:ext cx="10590433" cy="1716505"/>
          </a:xfrm>
          <a:prstGeom prst="rect">
            <a:avLst/>
          </a:prstGeom>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F8F1ED9E-B03E-AADD-5318-2A3BC6BF9023}"/>
              </a:ext>
            </a:extLst>
          </p:cNvPr>
          <p:cNvSpPr txBox="1"/>
          <p:nvPr/>
        </p:nvSpPr>
        <p:spPr>
          <a:xfrm>
            <a:off x="1295397" y="1832577"/>
            <a:ext cx="9601200" cy="1077218"/>
          </a:xfrm>
          <a:prstGeom prst="rect">
            <a:avLst/>
          </a:prstGeom>
          <a:noFill/>
        </p:spPr>
        <p:txBody>
          <a:bodyPr wrap="square" rtlCol="0">
            <a:spAutoFit/>
          </a:bodyPr>
          <a:lstStyle/>
          <a:p>
            <a:pPr algn="ctr"/>
            <a:r>
              <a:rPr lang="en-US" sz="2000" b="1" dirty="0">
                <a:solidFill>
                  <a:srgbClr val="002060"/>
                </a:solidFill>
                <a:latin typeface="Cambria" panose="02040503050406030204" pitchFamily="18" charset="0"/>
                <a:ea typeface="Cambria" panose="02040503050406030204" pitchFamily="18" charset="0"/>
                <a:cs typeface="Times New Roman" panose="02020603050405020304" pitchFamily="18" charset="0"/>
              </a:rPr>
              <a:t>6</a:t>
            </a:r>
            <a:r>
              <a:rPr lang="en-US" sz="2000" b="1" baseline="30000" dirty="0">
                <a:solidFill>
                  <a:srgbClr val="002060"/>
                </a:solidFill>
                <a:latin typeface="Cambria" panose="02040503050406030204" pitchFamily="18" charset="0"/>
                <a:ea typeface="Cambria" panose="02040503050406030204" pitchFamily="18" charset="0"/>
                <a:cs typeface="Times New Roman" panose="02020603050405020304" pitchFamily="18" charset="0"/>
              </a:rPr>
              <a:t>th</a:t>
            </a:r>
            <a:r>
              <a:rPr lang="en-US" sz="2000" b="1" dirty="0">
                <a:solidFill>
                  <a:srgbClr val="002060"/>
                </a:solidFill>
                <a:latin typeface="Cambria" panose="02040503050406030204" pitchFamily="18" charset="0"/>
                <a:ea typeface="Cambria" panose="02040503050406030204" pitchFamily="18" charset="0"/>
                <a:cs typeface="Times New Roman" panose="02020603050405020304" pitchFamily="18" charset="0"/>
              </a:rPr>
              <a:t> Semester</a:t>
            </a:r>
          </a:p>
          <a:p>
            <a:pPr algn="ctr"/>
            <a:r>
              <a:rPr lang="en-US" sz="2400" b="1" dirty="0">
                <a:solidFill>
                  <a:srgbClr val="C00000"/>
                </a:solidFill>
                <a:latin typeface="Cambria" panose="02040503050406030204" pitchFamily="18" charset="0"/>
                <a:ea typeface="Cambria" panose="02040503050406030204" pitchFamily="18" charset="0"/>
                <a:cs typeface="Times New Roman" panose="02020603050405020304" pitchFamily="18" charset="0"/>
              </a:rPr>
              <a:t>Major Project Phase – I (CSEP23605) </a:t>
            </a:r>
          </a:p>
          <a:p>
            <a:pPr algn="ctr"/>
            <a:r>
              <a:rPr lang="en-US" sz="2000" b="1" dirty="0">
                <a:solidFill>
                  <a:srgbClr val="002060"/>
                </a:solidFill>
                <a:latin typeface="Cambria" panose="02040503050406030204" pitchFamily="18" charset="0"/>
                <a:ea typeface="Cambria" panose="02040503050406030204" pitchFamily="18" charset="0"/>
                <a:cs typeface="Times New Roman" panose="02020603050405020304" pitchFamily="18" charset="0"/>
              </a:rPr>
              <a:t>Review 1</a:t>
            </a:r>
            <a:endParaRPr lang="en-IN" sz="2000" b="1"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DAC90C19-52FC-CFB5-047F-5C4C7AB83503}"/>
              </a:ext>
            </a:extLst>
          </p:cNvPr>
          <p:cNvGraphicFramePr>
            <a:graphicFrameLocks noGrp="1"/>
          </p:cNvGraphicFramePr>
          <p:nvPr>
            <p:extLst>
              <p:ext uri="{D42A27DB-BD31-4B8C-83A1-F6EECF244321}">
                <p14:modId xmlns:p14="http://schemas.microsoft.com/office/powerpoint/2010/main" val="1771164945"/>
              </p:ext>
            </p:extLst>
          </p:nvPr>
        </p:nvGraphicFramePr>
        <p:xfrm>
          <a:off x="245265" y="3025867"/>
          <a:ext cx="11701463" cy="3187112"/>
        </p:xfrm>
        <a:graphic>
          <a:graphicData uri="http://schemas.openxmlformats.org/drawingml/2006/table">
            <a:tbl>
              <a:tblPr firstRow="1" bandRow="1">
                <a:tableStyleId>{5940675A-B579-460E-94D1-54222C63F5DA}</a:tableStyleId>
              </a:tblPr>
              <a:tblGrid>
                <a:gridCol w="2266655">
                  <a:extLst>
                    <a:ext uri="{9D8B030D-6E8A-4147-A177-3AD203B41FA5}">
                      <a16:colId xmlns:a16="http://schemas.microsoft.com/office/drawing/2014/main" val="2777636275"/>
                    </a:ext>
                  </a:extLst>
                </a:gridCol>
                <a:gridCol w="4061570">
                  <a:extLst>
                    <a:ext uri="{9D8B030D-6E8A-4147-A177-3AD203B41FA5}">
                      <a16:colId xmlns:a16="http://schemas.microsoft.com/office/drawing/2014/main" val="930982237"/>
                    </a:ext>
                  </a:extLst>
                </a:gridCol>
                <a:gridCol w="2749902">
                  <a:extLst>
                    <a:ext uri="{9D8B030D-6E8A-4147-A177-3AD203B41FA5}">
                      <a16:colId xmlns:a16="http://schemas.microsoft.com/office/drawing/2014/main" val="2160730651"/>
                    </a:ext>
                  </a:extLst>
                </a:gridCol>
                <a:gridCol w="2623336">
                  <a:extLst>
                    <a:ext uri="{9D8B030D-6E8A-4147-A177-3AD203B41FA5}">
                      <a16:colId xmlns:a16="http://schemas.microsoft.com/office/drawing/2014/main" val="26985477"/>
                    </a:ext>
                  </a:extLst>
                </a:gridCol>
              </a:tblGrid>
              <a:tr h="453878">
                <a:tc>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Group No.</a:t>
                      </a:r>
                      <a:endParaRPr lang="en-IN" sz="2200" b="1" kern="1200" dirty="0">
                        <a:solidFill>
                          <a:schemeClr val="tx1"/>
                        </a:solidFill>
                        <a:latin typeface="Cambria" panose="02040503050406030204" pitchFamily="18" charset="0"/>
                        <a:ea typeface="Cambria" panose="02040503050406030204" pitchFamily="18" charset="0"/>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G14</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Project ID</a:t>
                      </a:r>
                      <a:endParaRPr lang="en-IN" sz="22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400" b="1" dirty="0">
                          <a:latin typeface="Cambria" panose="02040503050406030204" pitchFamily="18" charset="0"/>
                          <a:ea typeface="Cambria" panose="02040503050406030204" pitchFamily="18" charset="0"/>
                        </a:rPr>
                        <a:t>P43</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9035671"/>
                  </a:ext>
                </a:extLst>
              </a:tr>
              <a:tr h="453878">
                <a:tc>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Project Title</a:t>
                      </a:r>
                      <a:endParaRPr lang="en-IN" sz="2200" b="1" kern="1200" dirty="0">
                        <a:solidFill>
                          <a:schemeClr val="tx1"/>
                        </a:solidFill>
                        <a:latin typeface="Cambria" panose="02040503050406030204" pitchFamily="18" charset="0"/>
                        <a:ea typeface="Cambria" panose="02040503050406030204" pitchFamily="18" charset="0"/>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Cambria" panose="02040503050406030204" pitchFamily="18" charset="0"/>
                          <a:ea typeface="Cambria" panose="02040503050406030204" pitchFamily="18" charset="0"/>
                        </a:rPr>
                        <a:t>Implementation of a Secure CI/CD Pipeline Using DevOps Tools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sz="2400" b="1" dirty="0">
                        <a:latin typeface="+mn-lt"/>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c hMerge="1">
                  <a:txBody>
                    <a:bodyPr/>
                    <a:lstStyle/>
                    <a:p>
                      <a:endParaRPr lang="en-IN" sz="2400" b="1" dirty="0">
                        <a:latin typeface="+mn-lt"/>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525941917"/>
                  </a:ext>
                </a:extLst>
              </a:tr>
              <a:tr h="453878">
                <a:tc rowSpan="4">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Student Name</a:t>
                      </a:r>
                      <a:endParaRPr lang="en-IN" sz="2200" b="1" kern="1200" dirty="0">
                        <a:solidFill>
                          <a:schemeClr val="tx1"/>
                        </a:solidFill>
                        <a:latin typeface="Cambria" panose="02040503050406030204" pitchFamily="18" charset="0"/>
                        <a:ea typeface="Cambria" panose="02040503050406030204" pitchFamily="18" charset="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 Vignesh P</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USN</a:t>
                      </a:r>
                      <a:endParaRPr lang="en-IN" sz="2200" b="1" kern="1200" dirty="0">
                        <a:solidFill>
                          <a:schemeClr val="tx1"/>
                        </a:solidFill>
                        <a:latin typeface="Cambria" panose="02040503050406030204" pitchFamily="18" charset="0"/>
                        <a:ea typeface="Cambria" panose="02040503050406030204" pitchFamily="18" charset="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1GA23CS193</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418601"/>
                  </a:ext>
                </a:extLst>
              </a:tr>
              <a:tr h="453878">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Revanth Kumar T S</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1GA23CS137</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7442161"/>
                  </a:ext>
                </a:extLst>
              </a:tr>
              <a:tr h="453878">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Sanket</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1GA23CS148</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6726222"/>
                  </a:ext>
                </a:extLst>
              </a:tr>
              <a:tr h="453878">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Shakthi Vel K</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1GA23CS151</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4284577"/>
                  </a:ext>
                </a:extLst>
              </a:tr>
              <a:tr h="453878">
                <a:tc>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Guide Name</a:t>
                      </a:r>
                      <a:endParaRPr lang="en-IN" sz="2200" b="1" kern="1200" dirty="0">
                        <a:solidFill>
                          <a:schemeClr val="tx1"/>
                        </a:solidFill>
                        <a:latin typeface="Cambria" panose="02040503050406030204" pitchFamily="18" charset="0"/>
                        <a:ea typeface="Cambria" panose="02040503050406030204" pitchFamily="18" charset="0"/>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lang="en-IN" sz="2400" b="1" dirty="0">
                          <a:latin typeface="Cambria" panose="02040503050406030204" pitchFamily="18" charset="0"/>
                          <a:ea typeface="Cambria" panose="02040503050406030204" pitchFamily="18" charset="0"/>
                        </a:rPr>
                        <a:t>Prof. Sameena H S</a:t>
                      </a:r>
                      <a:r>
                        <a:rPr lang="en-IN" sz="2400" dirty="0"/>
                        <a:t> </a:t>
                      </a:r>
                      <a:r>
                        <a:rPr lang="en-US" sz="2200" b="1" dirty="0">
                          <a:solidFill>
                            <a:schemeClr val="tx1"/>
                          </a:solidFill>
                          <a:latin typeface="Cambria" panose="02040503050406030204" pitchFamily="18" charset="0"/>
                          <a:ea typeface="Cambria" panose="02040503050406030204" pitchFamily="18" charset="0"/>
                        </a:rPr>
                        <a:t>,  Assistant Professor</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sz="2000" dirty="0"/>
                    </a:p>
                  </a:txBody>
                  <a:tcPr>
                    <a:lnL w="12700" cap="flat" cmpd="sng" algn="ctr">
                      <a:solidFill>
                        <a:schemeClr val="tx1"/>
                      </a:solidFill>
                      <a:prstDash val="solid"/>
                      <a:round/>
                      <a:headEnd type="none" w="med" len="med"/>
                      <a:tailEnd type="none" w="med" len="med"/>
                    </a:lnL>
                    <a:solidFill>
                      <a:schemeClr val="bg1"/>
                    </a:solidFill>
                  </a:tcPr>
                </a:tc>
                <a:tc hMerge="1">
                  <a:txBody>
                    <a:bodyPr/>
                    <a:lstStyle/>
                    <a:p>
                      <a:endParaRPr lang="en-IN" sz="2000" dirty="0"/>
                    </a:p>
                  </a:txBody>
                  <a:tcPr>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4083224178"/>
                  </a:ext>
                </a:extLst>
              </a:tr>
            </a:tbl>
          </a:graphicData>
        </a:graphic>
      </p:graphicFrame>
    </p:spTree>
    <p:extLst>
      <p:ext uri="{BB962C8B-B14F-4D97-AF65-F5344CB8AC3E}">
        <p14:creationId xmlns:p14="http://schemas.microsoft.com/office/powerpoint/2010/main" val="2162144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2</a:t>
            </a:fld>
            <a:endParaRPr lang="en-IN"/>
          </a:p>
        </p:txBody>
      </p:sp>
      <p:sp>
        <p:nvSpPr>
          <p:cNvPr id="4" name="TextBox 3">
            <a:extLst>
              <a:ext uri="{FF2B5EF4-FFF2-40B4-BE49-F238E27FC236}">
                <a16:creationId xmlns:a16="http://schemas.microsoft.com/office/drawing/2014/main" id="{8A9C1741-F608-45C9-6668-19733C50868C}"/>
              </a:ext>
            </a:extLst>
          </p:cNvPr>
          <p:cNvSpPr txBox="1"/>
          <p:nvPr/>
        </p:nvSpPr>
        <p:spPr>
          <a:xfrm>
            <a:off x="2798445" y="18288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Agenda</a:t>
            </a:r>
            <a:endParaRPr lang="en-IN" sz="4000" b="1" dirty="0">
              <a:latin typeface="Cambria" panose="02040503050406030204" pitchFamily="18" charset="0"/>
              <a:ea typeface="Cambria" panose="02040503050406030204" pitchFamily="18" charset="0"/>
            </a:endParaRPr>
          </a:p>
        </p:txBody>
      </p:sp>
      <p:sp>
        <p:nvSpPr>
          <p:cNvPr id="6" name="Content Placeholder 7">
            <a:extLst>
              <a:ext uri="{FF2B5EF4-FFF2-40B4-BE49-F238E27FC236}">
                <a16:creationId xmlns:a16="http://schemas.microsoft.com/office/drawing/2014/main" id="{B62D77C7-8CCF-6D0D-A25B-E4D401ED93B0}"/>
              </a:ext>
            </a:extLst>
          </p:cNvPr>
          <p:cNvSpPr txBox="1">
            <a:spLocks/>
          </p:cNvSpPr>
          <p:nvPr/>
        </p:nvSpPr>
        <p:spPr>
          <a:xfrm>
            <a:off x="756311" y="890766"/>
            <a:ext cx="8237377" cy="53872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2600"/>
              </a:lnSpc>
              <a:spcBef>
                <a:spcPts val="0"/>
              </a:spcBef>
            </a:pPr>
            <a:r>
              <a:rPr lang="en-US" sz="2200" dirty="0">
                <a:latin typeface="Cambria" panose="02040503050406030204" pitchFamily="18" charset="0"/>
                <a:ea typeface="Cambria" panose="02040503050406030204" pitchFamily="18" charset="0"/>
              </a:rPr>
              <a:t>Problem Statement</a:t>
            </a:r>
          </a:p>
          <a:p>
            <a:pPr>
              <a:lnSpc>
                <a:spcPts val="2600"/>
              </a:lnSpc>
              <a:spcBef>
                <a:spcPts val="0"/>
              </a:spcBef>
            </a:pPr>
            <a:r>
              <a:rPr lang="en-US" sz="2200" dirty="0">
                <a:latin typeface="Cambria" panose="02040503050406030204" pitchFamily="18" charset="0"/>
                <a:ea typeface="Cambria" panose="02040503050406030204" pitchFamily="18" charset="0"/>
              </a:rPr>
              <a:t>Literature Survey</a:t>
            </a:r>
          </a:p>
          <a:p>
            <a:pPr>
              <a:lnSpc>
                <a:spcPts val="2600"/>
              </a:lnSpc>
              <a:spcBef>
                <a:spcPts val="0"/>
              </a:spcBef>
            </a:pPr>
            <a:r>
              <a:rPr lang="en-US" sz="2200" dirty="0">
                <a:latin typeface="Cambria" panose="02040503050406030204" pitchFamily="18" charset="0"/>
                <a:ea typeface="Cambria" panose="02040503050406030204" pitchFamily="18" charset="0"/>
              </a:rPr>
              <a:t>Objectives</a:t>
            </a:r>
          </a:p>
          <a:p>
            <a:pPr>
              <a:lnSpc>
                <a:spcPts val="2600"/>
              </a:lnSpc>
              <a:spcBef>
                <a:spcPts val="0"/>
              </a:spcBef>
            </a:pPr>
            <a:r>
              <a:rPr lang="en-US" sz="2200" dirty="0">
                <a:latin typeface="Cambria" panose="02040503050406030204" pitchFamily="18" charset="0"/>
                <a:ea typeface="Cambria" panose="02040503050406030204" pitchFamily="18" charset="0"/>
              </a:rPr>
              <a:t>Proposed System</a:t>
            </a:r>
          </a:p>
          <a:p>
            <a:pPr>
              <a:lnSpc>
                <a:spcPts val="2600"/>
              </a:lnSpc>
              <a:spcBef>
                <a:spcPts val="0"/>
              </a:spcBef>
            </a:pPr>
            <a:r>
              <a:rPr lang="en-IN" sz="2200" dirty="0">
                <a:latin typeface="Cambria" panose="02040503050406030204" pitchFamily="18" charset="0"/>
                <a:ea typeface="Cambria" panose="02040503050406030204" pitchFamily="18" charset="0"/>
              </a:rPr>
              <a:t>Methodology</a:t>
            </a:r>
            <a:endParaRPr lang="en-US" sz="2200" dirty="0">
              <a:latin typeface="Cambria" panose="02040503050406030204" pitchFamily="18" charset="0"/>
              <a:ea typeface="Cambria" panose="02040503050406030204" pitchFamily="18" charset="0"/>
            </a:endParaRPr>
          </a:p>
          <a:p>
            <a:pPr>
              <a:lnSpc>
                <a:spcPts val="2600"/>
              </a:lnSpc>
              <a:spcBef>
                <a:spcPts val="0"/>
              </a:spcBef>
            </a:pPr>
            <a:r>
              <a:rPr lang="en-US" sz="2200" dirty="0">
                <a:latin typeface="Cambria" panose="02040503050406030204" pitchFamily="18" charset="0"/>
                <a:ea typeface="Cambria" panose="02040503050406030204" pitchFamily="18" charset="0"/>
              </a:rPr>
              <a:t>System Architecture</a:t>
            </a:r>
          </a:p>
          <a:p>
            <a:pPr>
              <a:lnSpc>
                <a:spcPts val="2600"/>
              </a:lnSpc>
              <a:spcBef>
                <a:spcPts val="0"/>
              </a:spcBef>
            </a:pPr>
            <a:r>
              <a:rPr lang="en-US" sz="2200" dirty="0">
                <a:latin typeface="Cambria" panose="02040503050406030204" pitchFamily="18" charset="0"/>
                <a:ea typeface="Cambria" panose="02040503050406030204" pitchFamily="18" charset="0"/>
              </a:rPr>
              <a:t>Design Diagrams</a:t>
            </a:r>
          </a:p>
          <a:p>
            <a:pPr>
              <a:lnSpc>
                <a:spcPts val="2600"/>
              </a:lnSpc>
              <a:spcBef>
                <a:spcPts val="0"/>
              </a:spcBef>
            </a:pPr>
            <a:r>
              <a:rPr lang="en-US" sz="2200" dirty="0">
                <a:latin typeface="Cambria" panose="02040503050406030204" pitchFamily="18" charset="0"/>
                <a:ea typeface="Cambria" panose="02040503050406030204" pitchFamily="18" charset="0"/>
              </a:rPr>
              <a:t>Requirements Specification</a:t>
            </a:r>
          </a:p>
          <a:p>
            <a:pPr>
              <a:lnSpc>
                <a:spcPts val="2600"/>
              </a:lnSpc>
              <a:spcBef>
                <a:spcPts val="0"/>
              </a:spcBef>
            </a:pPr>
            <a:r>
              <a:rPr lang="en-US" sz="2200" dirty="0">
                <a:latin typeface="Cambria" panose="02040503050406030204" pitchFamily="18" charset="0"/>
                <a:ea typeface="Cambria" panose="02040503050406030204" pitchFamily="18" charset="0"/>
              </a:rPr>
              <a:t>Implementation</a:t>
            </a:r>
          </a:p>
          <a:p>
            <a:pPr>
              <a:lnSpc>
                <a:spcPts val="2600"/>
              </a:lnSpc>
              <a:spcBef>
                <a:spcPts val="0"/>
              </a:spcBef>
            </a:pPr>
            <a:r>
              <a:rPr lang="en-US" sz="2200" dirty="0">
                <a:latin typeface="Cambria" panose="02040503050406030204" pitchFamily="18" charset="0"/>
                <a:ea typeface="Cambria" panose="02040503050406030204" pitchFamily="18" charset="0"/>
              </a:rPr>
              <a:t>Results</a:t>
            </a:r>
          </a:p>
          <a:p>
            <a:pPr>
              <a:lnSpc>
                <a:spcPts val="2600"/>
              </a:lnSpc>
              <a:spcBef>
                <a:spcPts val="0"/>
              </a:spcBef>
            </a:pPr>
            <a:r>
              <a:rPr lang="en-US" sz="2200" dirty="0">
                <a:latin typeface="Cambria" panose="02040503050406030204" pitchFamily="18" charset="0"/>
                <a:ea typeface="Cambria" panose="02040503050406030204" pitchFamily="18" charset="0"/>
              </a:rPr>
              <a:t>Plagiarism report of Project Report and Conference Paper</a:t>
            </a:r>
          </a:p>
          <a:p>
            <a:pPr>
              <a:lnSpc>
                <a:spcPts val="2600"/>
              </a:lnSpc>
              <a:spcBef>
                <a:spcPts val="0"/>
              </a:spcBef>
            </a:pPr>
            <a:r>
              <a:rPr lang="en-US" sz="2200" dirty="0">
                <a:latin typeface="Cambria" panose="02040503050406030204" pitchFamily="18" charset="0"/>
                <a:ea typeface="Cambria" panose="02040503050406030204" pitchFamily="18" charset="0"/>
              </a:rPr>
              <a:t>Proof of Submission </a:t>
            </a:r>
          </a:p>
          <a:p>
            <a:pPr>
              <a:lnSpc>
                <a:spcPts val="2600"/>
              </a:lnSpc>
              <a:spcBef>
                <a:spcPts val="0"/>
              </a:spcBef>
            </a:pPr>
            <a:r>
              <a:rPr lang="en-US" sz="2200" dirty="0">
                <a:latin typeface="Cambria" panose="02040503050406030204" pitchFamily="18" charset="0"/>
                <a:ea typeface="Cambria" panose="02040503050406030204" pitchFamily="18" charset="0"/>
              </a:rPr>
              <a:t>Conclusion</a:t>
            </a:r>
          </a:p>
          <a:p>
            <a:pPr>
              <a:lnSpc>
                <a:spcPts val="2600"/>
              </a:lnSpc>
              <a:spcBef>
                <a:spcPts val="0"/>
              </a:spcBef>
            </a:pPr>
            <a:r>
              <a:rPr lang="en-US" sz="2200" dirty="0">
                <a:latin typeface="Cambria" panose="02040503050406030204" pitchFamily="18" charset="0"/>
                <a:ea typeface="Cambria" panose="02040503050406030204" pitchFamily="18" charset="0"/>
              </a:rPr>
              <a:t>References</a:t>
            </a:r>
          </a:p>
          <a:p>
            <a:pPr>
              <a:lnSpc>
                <a:spcPts val="2600"/>
              </a:lnSpc>
              <a:spcBef>
                <a:spcPts val="0"/>
              </a:spcBef>
            </a:pPr>
            <a:r>
              <a:rPr lang="en-US" sz="2200" dirty="0">
                <a:latin typeface="Cambria" panose="02040503050406030204" pitchFamily="18" charset="0"/>
                <a:ea typeface="Cambria" panose="02040503050406030204" pitchFamily="18" charset="0"/>
              </a:rPr>
              <a:t>Plan of Action for Phase – II</a:t>
            </a:r>
          </a:p>
          <a:p>
            <a:pPr>
              <a:lnSpc>
                <a:spcPts val="2600"/>
              </a:lnSpc>
              <a:spcBef>
                <a:spcPts val="0"/>
              </a:spcBef>
            </a:pPr>
            <a:r>
              <a:rPr lang="en-US" sz="2200" dirty="0">
                <a:latin typeface="Cambria" panose="02040503050406030204" pitchFamily="18" charset="0"/>
                <a:ea typeface="Cambria" panose="02040503050406030204" pitchFamily="18" charset="0"/>
              </a:rPr>
              <a:t>Time Line for Phase - II</a:t>
            </a:r>
          </a:p>
        </p:txBody>
      </p:sp>
    </p:spTree>
    <p:extLst>
      <p:ext uri="{BB962C8B-B14F-4D97-AF65-F5344CB8AC3E}">
        <p14:creationId xmlns:p14="http://schemas.microsoft.com/office/powerpoint/2010/main" val="1376272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3</a:t>
            </a:fld>
            <a:endParaRPr lang="en-IN"/>
          </a:p>
        </p:txBody>
      </p:sp>
      <p:sp>
        <p:nvSpPr>
          <p:cNvPr id="4" name="TextBox 3">
            <a:extLst>
              <a:ext uri="{FF2B5EF4-FFF2-40B4-BE49-F238E27FC236}">
                <a16:creationId xmlns:a16="http://schemas.microsoft.com/office/drawing/2014/main" id="{F4A12894-0E7D-FCE9-A846-069E08CD7E41}"/>
              </a:ext>
            </a:extLst>
          </p:cNvPr>
          <p:cNvSpPr txBox="1"/>
          <p:nvPr/>
        </p:nvSpPr>
        <p:spPr>
          <a:xfrm>
            <a:off x="2798445" y="18288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Problem Statement</a:t>
            </a:r>
            <a:endParaRPr lang="en-IN" sz="4000" b="1" dirty="0">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2FE5D9E7-4487-349B-13E8-4E6CC30D8029}"/>
              </a:ext>
            </a:extLst>
          </p:cNvPr>
          <p:cNvSpPr txBox="1"/>
          <p:nvPr/>
        </p:nvSpPr>
        <p:spPr>
          <a:xfrm>
            <a:off x="488574" y="1484630"/>
            <a:ext cx="11430000" cy="3630546"/>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dirty="0">
                <a:latin typeface="Cambria" panose="02040503050406030204" pitchFamily="18" charset="0"/>
                <a:ea typeface="Cambria" panose="02040503050406030204" pitchFamily="18" charset="0"/>
              </a:rPr>
              <a:t>Security vulnerabilities are often detected </a:t>
            </a:r>
            <a:r>
              <a:rPr lang="en-US" sz="2400" b="1" dirty="0">
                <a:latin typeface="Cambria" panose="02040503050406030204" pitchFamily="18" charset="0"/>
                <a:ea typeface="Cambria" panose="02040503050406030204" pitchFamily="18" charset="0"/>
              </a:rPr>
              <a:t>after deployment</a:t>
            </a:r>
          </a:p>
          <a:p>
            <a:pPr marL="342900"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This leads to:</a:t>
            </a:r>
          </a:p>
          <a:p>
            <a:pPr marL="1257300" lvl="2"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Increased risk of cyberattacks</a:t>
            </a:r>
          </a:p>
          <a:p>
            <a:pPr marL="1257300" lvl="2"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High remediation and maintenance costs</a:t>
            </a:r>
          </a:p>
          <a:p>
            <a:pPr marL="1257300" lvl="2"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Delays in software releases</a:t>
            </a:r>
          </a:p>
          <a:p>
            <a:pPr marL="1257300" lvl="2"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Lack of automated security integration in traditional DevOps pipelines</a:t>
            </a:r>
          </a:p>
          <a:p>
            <a:pPr marL="342900"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Need for early vulnerability detection in development lifecycle</a:t>
            </a:r>
            <a:endParaRPr lang="en-IN"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97626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4</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98445" y="-57786"/>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Literature Survey</a:t>
            </a:r>
            <a:endParaRPr lang="en-IN" sz="4000" b="1" dirty="0">
              <a:latin typeface="Cambria" panose="02040503050406030204" pitchFamily="18" charset="0"/>
              <a:ea typeface="Cambria" panose="020405030504060302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1897484980"/>
              </p:ext>
            </p:extLst>
          </p:nvPr>
        </p:nvGraphicFramePr>
        <p:xfrm>
          <a:off x="126999" y="965060"/>
          <a:ext cx="11938001" cy="4631194"/>
        </p:xfrm>
        <a:graphic>
          <a:graphicData uri="http://schemas.openxmlformats.org/drawingml/2006/table">
            <a:tbl>
              <a:tblPr firstRow="1" bandRow="1">
                <a:tableStyleId>{74C1A8A3-306A-4EB7-A6B1-4F7E0EB9C5D6}</a:tableStyleId>
              </a:tblPr>
              <a:tblGrid>
                <a:gridCol w="889466">
                  <a:extLst>
                    <a:ext uri="{9D8B030D-6E8A-4147-A177-3AD203B41FA5}">
                      <a16:colId xmlns:a16="http://schemas.microsoft.com/office/drawing/2014/main" val="1246332516"/>
                    </a:ext>
                  </a:extLst>
                </a:gridCol>
                <a:gridCol w="3885735">
                  <a:extLst>
                    <a:ext uri="{9D8B030D-6E8A-4147-A177-3AD203B41FA5}">
                      <a16:colId xmlns:a16="http://schemas.microsoft.com/office/drawing/2014/main" val="3511594090"/>
                    </a:ext>
                  </a:extLst>
                </a:gridCol>
                <a:gridCol w="2387600">
                  <a:extLst>
                    <a:ext uri="{9D8B030D-6E8A-4147-A177-3AD203B41FA5}">
                      <a16:colId xmlns:a16="http://schemas.microsoft.com/office/drawing/2014/main" val="2075059803"/>
                    </a:ext>
                  </a:extLst>
                </a:gridCol>
                <a:gridCol w="2387600">
                  <a:extLst>
                    <a:ext uri="{9D8B030D-6E8A-4147-A177-3AD203B41FA5}">
                      <a16:colId xmlns:a16="http://schemas.microsoft.com/office/drawing/2014/main" val="469376826"/>
                    </a:ext>
                  </a:extLst>
                </a:gridCol>
                <a:gridCol w="2387600">
                  <a:extLst>
                    <a:ext uri="{9D8B030D-6E8A-4147-A177-3AD203B41FA5}">
                      <a16:colId xmlns:a16="http://schemas.microsoft.com/office/drawing/2014/main" val="4042864848"/>
                    </a:ext>
                  </a:extLst>
                </a:gridCol>
              </a:tblGrid>
              <a:tr h="470674">
                <a:tc>
                  <a:txBody>
                    <a:bodyPr/>
                    <a:lstStyle/>
                    <a:p>
                      <a:pPr algn="ctr"/>
                      <a:r>
                        <a:rPr lang="en-US" sz="2200" dirty="0">
                          <a:solidFill>
                            <a:srgbClr val="002060"/>
                          </a:solidFill>
                          <a:latin typeface="Cambria" panose="02040503050406030204" pitchFamily="18" charset="0"/>
                          <a:ea typeface="Cambria" panose="02040503050406030204" pitchFamily="18" charset="0"/>
                        </a:rPr>
                        <a:t>Sl.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Title</a:t>
                      </a:r>
                      <a:r>
                        <a:rPr lang="en-IN" sz="2200" baseline="0" dirty="0">
                          <a:solidFill>
                            <a:srgbClr val="002060"/>
                          </a:solidFill>
                          <a:latin typeface="Cambria" panose="02040503050406030204" pitchFamily="18" charset="0"/>
                          <a:ea typeface="Cambria" panose="02040503050406030204" pitchFamily="18" charset="0"/>
                        </a:rPr>
                        <a:t> of the paper and year</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Methodology</a:t>
                      </a:r>
                      <a:r>
                        <a:rPr lang="en-IN" sz="2200" baseline="0" dirty="0">
                          <a:solidFill>
                            <a:srgbClr val="002060"/>
                          </a:solidFill>
                          <a:latin typeface="Cambria" panose="02040503050406030204" pitchFamily="18" charset="0"/>
                          <a:ea typeface="Cambria" panose="02040503050406030204" pitchFamily="18"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Merits</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Limitations</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7800540"/>
                  </a:ext>
                </a:extLst>
              </a:tr>
              <a:tr h="705584">
                <a:tc>
                  <a:txBody>
                    <a:bodyPr/>
                    <a:lstStyle/>
                    <a:p>
                      <a:pPr algn="ctr"/>
                      <a:r>
                        <a:rPr lang="en-US" sz="1700" dirty="0">
                          <a:latin typeface="Cambria" panose="02040503050406030204" pitchFamily="18" charset="0"/>
                          <a:ea typeface="Cambria" panose="02040503050406030204" pitchFamily="18" charset="0"/>
                        </a:rPr>
                        <a:t>1</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i="1" dirty="0">
                          <a:latin typeface="Cambria" panose="02040503050406030204" pitchFamily="18" charset="0"/>
                          <a:ea typeface="Cambria" panose="02040503050406030204" pitchFamily="18" charset="0"/>
                        </a:rPr>
                        <a:t>Implementing and Automating Security Scanning to a </a:t>
                      </a:r>
                      <a:r>
                        <a:rPr lang="en-US" sz="1700" i="1" dirty="0" err="1">
                          <a:latin typeface="Cambria" panose="02040503050406030204" pitchFamily="18" charset="0"/>
                          <a:ea typeface="Cambria" panose="02040503050406030204" pitchFamily="18" charset="0"/>
                        </a:rPr>
                        <a:t>DevSecOps</a:t>
                      </a:r>
                      <a:r>
                        <a:rPr lang="en-US" sz="1700" i="1" dirty="0">
                          <a:latin typeface="Cambria" panose="02040503050406030204" pitchFamily="18" charset="0"/>
                          <a:ea typeface="Cambria" panose="02040503050406030204" pitchFamily="18" charset="0"/>
                        </a:rPr>
                        <a:t> CI/CD Pipeline</a:t>
                      </a:r>
                      <a:r>
                        <a:rPr lang="en-US" sz="1700" dirty="0">
                          <a:latin typeface="Cambria" panose="02040503050406030204" pitchFamily="18" charset="0"/>
                          <a:ea typeface="Cambria" panose="02040503050406030204" pitchFamily="18" charset="0"/>
                        </a:rPr>
                        <a:t> (2023)</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Integrates </a:t>
                      </a:r>
                      <a:r>
                        <a:rPr lang="en-US" sz="1700" b="1" dirty="0">
                          <a:latin typeface="Cambria" panose="02040503050406030204" pitchFamily="18" charset="0"/>
                          <a:ea typeface="Cambria" panose="02040503050406030204" pitchFamily="18" charset="0"/>
                        </a:rPr>
                        <a:t>SAST (</a:t>
                      </a:r>
                      <a:r>
                        <a:rPr lang="en-US" sz="1700" b="1" dirty="0" err="1">
                          <a:latin typeface="Cambria" panose="02040503050406030204" pitchFamily="18" charset="0"/>
                          <a:ea typeface="Cambria" panose="02040503050406030204" pitchFamily="18" charset="0"/>
                        </a:rPr>
                        <a:t>Snyk</a:t>
                      </a:r>
                      <a:r>
                        <a:rPr lang="en-US" sz="1700" b="1" dirty="0">
                          <a:latin typeface="Cambria" panose="02040503050406030204" pitchFamily="18" charset="0"/>
                          <a:ea typeface="Cambria" panose="02040503050406030204" pitchFamily="18" charset="0"/>
                        </a:rPr>
                        <a:t>)</a:t>
                      </a:r>
                      <a:r>
                        <a:rPr lang="en-US" sz="1700" dirty="0">
                          <a:latin typeface="Cambria" panose="02040503050406030204" pitchFamily="18" charset="0"/>
                          <a:ea typeface="Cambria" panose="02040503050406030204" pitchFamily="18" charset="0"/>
                        </a:rPr>
                        <a:t> and </a:t>
                      </a:r>
                      <a:r>
                        <a:rPr lang="en-US" sz="1700" b="1" dirty="0">
                          <a:latin typeface="Cambria" panose="02040503050406030204" pitchFamily="18" charset="0"/>
                          <a:ea typeface="Cambria" panose="02040503050406030204" pitchFamily="18" charset="0"/>
                        </a:rPr>
                        <a:t>DAST (</a:t>
                      </a:r>
                      <a:r>
                        <a:rPr lang="en-US" sz="1700" b="1" dirty="0" err="1">
                          <a:latin typeface="Cambria" panose="02040503050406030204" pitchFamily="18" charset="0"/>
                          <a:ea typeface="Cambria" panose="02040503050406030204" pitchFamily="18" charset="0"/>
                        </a:rPr>
                        <a:t>StackHawk</a:t>
                      </a:r>
                      <a:r>
                        <a:rPr lang="en-US" sz="1700" b="1" dirty="0">
                          <a:latin typeface="Cambria" panose="02040503050406030204" pitchFamily="18" charset="0"/>
                          <a:ea typeface="Cambria" panose="02040503050406030204" pitchFamily="18" charset="0"/>
                        </a:rPr>
                        <a:t>)</a:t>
                      </a:r>
                      <a:r>
                        <a:rPr lang="en-US" sz="1700" dirty="0">
                          <a:latin typeface="Cambria" panose="02040503050406030204" pitchFamily="18" charset="0"/>
                          <a:ea typeface="Cambria" panose="02040503050406030204" pitchFamily="18" charset="0"/>
                        </a:rPr>
                        <a:t> in CI/CD to automate vulnerability scanning.</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Early vulnerability detection and automated security scanning.</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Tested only with limited tools and a demo application.</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2441998"/>
                  </a:ext>
                </a:extLst>
              </a:tr>
              <a:tr h="705584">
                <a:tc>
                  <a:txBody>
                    <a:bodyPr/>
                    <a:lstStyle/>
                    <a:p>
                      <a:pPr algn="ctr"/>
                      <a:r>
                        <a:rPr lang="en-US" sz="1700" dirty="0">
                          <a:latin typeface="Cambria" panose="02040503050406030204" pitchFamily="18" charset="0"/>
                          <a:ea typeface="Cambria" panose="02040503050406030204" pitchFamily="18" charset="0"/>
                        </a:rPr>
                        <a:t>2</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i="1" dirty="0">
                          <a:latin typeface="Cambria" panose="02040503050406030204" pitchFamily="18" charset="0"/>
                          <a:ea typeface="Cambria" panose="02040503050406030204" pitchFamily="18" charset="0"/>
                        </a:rPr>
                        <a:t>Automated Security Findings Management: A Case Study in Industrial DevOps</a:t>
                      </a:r>
                      <a:r>
                        <a:rPr lang="en-US" sz="1700" dirty="0">
                          <a:latin typeface="Cambria" panose="02040503050406030204" pitchFamily="18" charset="0"/>
                          <a:ea typeface="Cambria" panose="02040503050406030204" pitchFamily="18" charset="0"/>
                        </a:rPr>
                        <a:t> (2024)</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Uses </a:t>
                      </a:r>
                      <a:r>
                        <a:rPr lang="en-US" sz="1700" b="1" dirty="0">
                          <a:latin typeface="Cambria" panose="02040503050406030204" pitchFamily="18" charset="0"/>
                          <a:ea typeface="Cambria" panose="02040503050406030204" pitchFamily="18" charset="0"/>
                        </a:rPr>
                        <a:t>Security </a:t>
                      </a:r>
                      <a:r>
                        <a:rPr lang="en-US" sz="1700" b="1" dirty="0" err="1">
                          <a:latin typeface="Cambria" panose="02040503050406030204" pitchFamily="18" charset="0"/>
                          <a:ea typeface="Cambria" panose="02040503050406030204" pitchFamily="18" charset="0"/>
                        </a:rPr>
                        <a:t>Flama</a:t>
                      </a:r>
                      <a:r>
                        <a:rPr lang="en-US" sz="1700" dirty="0">
                          <a:latin typeface="Cambria" panose="02040503050406030204" pitchFamily="18" charset="0"/>
                          <a:ea typeface="Cambria" panose="02040503050406030204" pitchFamily="18" charset="0"/>
                        </a:rPr>
                        <a:t> to automate collection and management of security findings in DevOps pipelines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Improves visibility of security issues.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Requires manual input and good interface design.</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382206"/>
                  </a:ext>
                </a:extLst>
              </a:tr>
              <a:tr h="705584">
                <a:tc>
                  <a:txBody>
                    <a:bodyPr/>
                    <a:lstStyle/>
                    <a:p>
                      <a:pPr algn="ctr"/>
                      <a:r>
                        <a:rPr lang="en-US" sz="1700" dirty="0">
                          <a:latin typeface="Cambria" panose="02040503050406030204" pitchFamily="18" charset="0"/>
                          <a:ea typeface="Cambria" panose="02040503050406030204" pitchFamily="18" charset="0"/>
                        </a:rPr>
                        <a:t>3</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i="1" dirty="0">
                          <a:latin typeface="Cambria" panose="02040503050406030204" pitchFamily="18" charset="0"/>
                          <a:ea typeface="Cambria" panose="02040503050406030204" pitchFamily="18" charset="0"/>
                        </a:rPr>
                        <a:t>Challenges Affecting the Successful Adoption of DevOps Practices: A Systematic Literature Review</a:t>
                      </a:r>
                      <a:r>
                        <a:rPr lang="en-US" sz="1700" dirty="0">
                          <a:latin typeface="Cambria" panose="02040503050406030204" pitchFamily="18" charset="0"/>
                          <a:ea typeface="Cambria" panose="02040503050406030204" pitchFamily="18" charset="0"/>
                        </a:rPr>
                        <a:t> (2024)</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Systematic literature review using </a:t>
                      </a:r>
                      <a:r>
                        <a:rPr lang="en-US" sz="1700" b="1" dirty="0">
                          <a:latin typeface="Cambria" panose="02040503050406030204" pitchFamily="18" charset="0"/>
                          <a:ea typeface="Cambria" panose="02040503050406030204" pitchFamily="18" charset="0"/>
                        </a:rPr>
                        <a:t>PRISMA method</a:t>
                      </a:r>
                      <a:r>
                        <a:rPr lang="en-US" sz="1700" dirty="0">
                          <a:latin typeface="Cambria" panose="02040503050406030204" pitchFamily="18" charset="0"/>
                          <a:ea typeface="Cambria" panose="02040503050406030204" pitchFamily="18" charset="0"/>
                        </a:rPr>
                        <a:t> to analyze DevOps adoption challenges.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Identifies major DevOps adoption challenges.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Based only on literature, not real-world experiments.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4219671"/>
                  </a:ext>
                </a:extLst>
              </a:tr>
            </a:tbl>
          </a:graphicData>
        </a:graphic>
      </p:graphicFrame>
    </p:spTree>
    <p:extLst>
      <p:ext uri="{BB962C8B-B14F-4D97-AF65-F5344CB8AC3E}">
        <p14:creationId xmlns:p14="http://schemas.microsoft.com/office/powerpoint/2010/main" val="3131449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D5B5D-82FE-053E-B83A-2144868CD33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31F3FC-7EB6-758D-1007-B4458A2E431E}"/>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648CC46D-FD94-D6E4-FFBF-E4DC737E289B}"/>
              </a:ext>
            </a:extLst>
          </p:cNvPr>
          <p:cNvSpPr>
            <a:spLocks noGrp="1"/>
          </p:cNvSpPr>
          <p:nvPr>
            <p:ph type="sldNum" sz="quarter" idx="4"/>
          </p:nvPr>
        </p:nvSpPr>
        <p:spPr/>
        <p:txBody>
          <a:bodyPr/>
          <a:lstStyle/>
          <a:p>
            <a:fld id="{FFAE6D68-FB99-4243-9CC1-93FAA8C005BC}" type="slidenum">
              <a:rPr lang="en-IN" smtClean="0"/>
              <a:pPr/>
              <a:t>5</a:t>
            </a:fld>
            <a:endParaRPr lang="en-IN"/>
          </a:p>
        </p:txBody>
      </p:sp>
      <p:sp>
        <p:nvSpPr>
          <p:cNvPr id="4" name="TextBox 3">
            <a:extLst>
              <a:ext uri="{FF2B5EF4-FFF2-40B4-BE49-F238E27FC236}">
                <a16:creationId xmlns:a16="http://schemas.microsoft.com/office/drawing/2014/main" id="{2B17892B-E0F8-B39D-5052-DA4FFDB15CA6}"/>
              </a:ext>
            </a:extLst>
          </p:cNvPr>
          <p:cNvSpPr txBox="1"/>
          <p:nvPr/>
        </p:nvSpPr>
        <p:spPr>
          <a:xfrm>
            <a:off x="2798445" y="-13507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Literature Survey</a:t>
            </a:r>
            <a:endParaRPr lang="en-IN" sz="4000" b="1" dirty="0">
              <a:latin typeface="Cambria" panose="02040503050406030204" pitchFamily="18" charset="0"/>
              <a:ea typeface="Cambria" panose="02040503050406030204" pitchFamily="18" charset="0"/>
            </a:endParaRPr>
          </a:p>
        </p:txBody>
      </p:sp>
      <p:graphicFrame>
        <p:nvGraphicFramePr>
          <p:cNvPr id="7" name="Table 6">
            <a:extLst>
              <a:ext uri="{FF2B5EF4-FFF2-40B4-BE49-F238E27FC236}">
                <a16:creationId xmlns:a16="http://schemas.microsoft.com/office/drawing/2014/main" id="{1EC453E0-88D5-CBEC-42FE-A938951A8E51}"/>
              </a:ext>
            </a:extLst>
          </p:cNvPr>
          <p:cNvGraphicFramePr>
            <a:graphicFrameLocks noGrp="1"/>
          </p:cNvGraphicFramePr>
          <p:nvPr>
            <p:extLst>
              <p:ext uri="{D42A27DB-BD31-4B8C-83A1-F6EECF244321}">
                <p14:modId xmlns:p14="http://schemas.microsoft.com/office/powerpoint/2010/main" val="810682337"/>
              </p:ext>
            </p:extLst>
          </p:nvPr>
        </p:nvGraphicFramePr>
        <p:xfrm>
          <a:off x="182880" y="587623"/>
          <a:ext cx="11887201" cy="5430407"/>
        </p:xfrm>
        <a:graphic>
          <a:graphicData uri="http://schemas.openxmlformats.org/drawingml/2006/table">
            <a:tbl>
              <a:tblPr firstRow="1" bandRow="1">
                <a:tableStyleId>{74C1A8A3-306A-4EB7-A6B1-4F7E0EB9C5D6}</a:tableStyleId>
              </a:tblPr>
              <a:tblGrid>
                <a:gridCol w="885681">
                  <a:extLst>
                    <a:ext uri="{9D8B030D-6E8A-4147-A177-3AD203B41FA5}">
                      <a16:colId xmlns:a16="http://schemas.microsoft.com/office/drawing/2014/main" val="1246332516"/>
                    </a:ext>
                  </a:extLst>
                </a:gridCol>
                <a:gridCol w="3869200">
                  <a:extLst>
                    <a:ext uri="{9D8B030D-6E8A-4147-A177-3AD203B41FA5}">
                      <a16:colId xmlns:a16="http://schemas.microsoft.com/office/drawing/2014/main" val="3511594090"/>
                    </a:ext>
                  </a:extLst>
                </a:gridCol>
                <a:gridCol w="2377440">
                  <a:extLst>
                    <a:ext uri="{9D8B030D-6E8A-4147-A177-3AD203B41FA5}">
                      <a16:colId xmlns:a16="http://schemas.microsoft.com/office/drawing/2014/main" val="2075059803"/>
                    </a:ext>
                  </a:extLst>
                </a:gridCol>
                <a:gridCol w="2377440">
                  <a:extLst>
                    <a:ext uri="{9D8B030D-6E8A-4147-A177-3AD203B41FA5}">
                      <a16:colId xmlns:a16="http://schemas.microsoft.com/office/drawing/2014/main" val="469376826"/>
                    </a:ext>
                  </a:extLst>
                </a:gridCol>
                <a:gridCol w="2377440">
                  <a:extLst>
                    <a:ext uri="{9D8B030D-6E8A-4147-A177-3AD203B41FA5}">
                      <a16:colId xmlns:a16="http://schemas.microsoft.com/office/drawing/2014/main" val="4042864848"/>
                    </a:ext>
                  </a:extLst>
                </a:gridCol>
              </a:tblGrid>
              <a:tr h="400522">
                <a:tc>
                  <a:txBody>
                    <a:bodyPr/>
                    <a:lstStyle/>
                    <a:p>
                      <a:pPr algn="ctr"/>
                      <a:r>
                        <a:rPr lang="en-US" sz="2200" dirty="0">
                          <a:solidFill>
                            <a:srgbClr val="002060"/>
                          </a:solidFill>
                          <a:latin typeface="Cambria" panose="02040503050406030204" pitchFamily="18" charset="0"/>
                          <a:ea typeface="Cambria" panose="02040503050406030204" pitchFamily="18" charset="0"/>
                        </a:rPr>
                        <a:t>Sl.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Title</a:t>
                      </a:r>
                      <a:r>
                        <a:rPr lang="en-IN" sz="2200" baseline="0" dirty="0">
                          <a:solidFill>
                            <a:srgbClr val="002060"/>
                          </a:solidFill>
                          <a:latin typeface="Cambria" panose="02040503050406030204" pitchFamily="18" charset="0"/>
                          <a:ea typeface="Cambria" panose="02040503050406030204" pitchFamily="18" charset="0"/>
                        </a:rPr>
                        <a:t> of the paper and year</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Methodology</a:t>
                      </a:r>
                      <a:r>
                        <a:rPr lang="en-IN" sz="2200" baseline="0" dirty="0">
                          <a:solidFill>
                            <a:srgbClr val="002060"/>
                          </a:solidFill>
                          <a:latin typeface="Cambria" panose="02040503050406030204" pitchFamily="18" charset="0"/>
                          <a:ea typeface="Cambria" panose="02040503050406030204" pitchFamily="18"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Merits</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Limitations</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7800540"/>
                  </a:ext>
                </a:extLst>
              </a:tr>
              <a:tr h="1711847">
                <a:tc>
                  <a:txBody>
                    <a:bodyPr/>
                    <a:lstStyle/>
                    <a:p>
                      <a:pPr algn="ctr"/>
                      <a:r>
                        <a:rPr lang="en-US" sz="1700" dirty="0">
                          <a:latin typeface="Cambria" panose="02040503050406030204" pitchFamily="18" charset="0"/>
                          <a:ea typeface="Cambria" panose="02040503050406030204" pitchFamily="18" charset="0"/>
                        </a:rPr>
                        <a:t>4</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700" i="1" dirty="0">
                          <a:latin typeface="Cambria" panose="02040503050406030204" pitchFamily="18" charset="0"/>
                          <a:ea typeface="Cambria" panose="02040503050406030204" pitchFamily="18" charset="0"/>
                        </a:rPr>
                        <a:t>Enhancing Smart Contract Security Through </a:t>
                      </a:r>
                      <a:r>
                        <a:rPr lang="en-US" sz="1700" i="1" dirty="0" err="1">
                          <a:latin typeface="Cambria" panose="02040503050406030204" pitchFamily="18" charset="0"/>
                          <a:ea typeface="Cambria" panose="02040503050406030204" pitchFamily="18" charset="0"/>
                        </a:rPr>
                        <a:t>DevSecOps</a:t>
                      </a:r>
                      <a:r>
                        <a:rPr lang="en-US" sz="1700" i="1" dirty="0">
                          <a:latin typeface="Cambria" panose="02040503050406030204" pitchFamily="18" charset="0"/>
                          <a:ea typeface="Cambria" panose="02040503050406030204" pitchFamily="18" charset="0"/>
                        </a:rPr>
                        <a:t>: An Adaptive Approach for Vulnerability Detection</a:t>
                      </a:r>
                      <a:r>
                        <a:rPr lang="en-US" sz="1700" dirty="0">
                          <a:latin typeface="Cambria" panose="02040503050406030204" pitchFamily="18" charset="0"/>
                          <a:ea typeface="Cambria" panose="02040503050406030204" pitchFamily="18" charset="0"/>
                        </a:rPr>
                        <a:t> (2025)</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700" dirty="0">
                          <a:latin typeface="Cambria" panose="02040503050406030204" pitchFamily="18" charset="0"/>
                          <a:ea typeface="Cambria" panose="02040503050406030204" pitchFamily="18" charset="0"/>
                        </a:rPr>
                        <a:t>Uses </a:t>
                      </a:r>
                      <a:r>
                        <a:rPr lang="en-US" sz="1700" b="1" dirty="0" err="1">
                          <a:latin typeface="Cambria" panose="02040503050406030204" pitchFamily="18" charset="0"/>
                          <a:ea typeface="Cambria" panose="02040503050406030204" pitchFamily="18" charset="0"/>
                        </a:rPr>
                        <a:t>DevSecOps</a:t>
                      </a:r>
                      <a:r>
                        <a:rPr lang="en-US" sz="1700" b="1" dirty="0">
                          <a:latin typeface="Cambria" panose="02040503050406030204" pitchFamily="18" charset="0"/>
                          <a:ea typeface="Cambria" panose="02040503050406030204" pitchFamily="18" charset="0"/>
                        </a:rPr>
                        <a:t> pipeline with AI-based vulnerability detection</a:t>
                      </a:r>
                      <a:r>
                        <a:rPr lang="en-US" sz="1700" dirty="0">
                          <a:latin typeface="Cambria" panose="02040503050406030204" pitchFamily="18" charset="0"/>
                          <a:ea typeface="Cambria" panose="02040503050406030204" pitchFamily="18" charset="0"/>
                        </a:rPr>
                        <a:t> techniques like static analysis, fuzzing, and symbolic execution.</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700" dirty="0">
                          <a:latin typeface="Cambria" panose="02040503050406030204" pitchFamily="18" charset="0"/>
                          <a:ea typeface="Cambria" panose="02040503050406030204" pitchFamily="18" charset="0"/>
                        </a:rPr>
                        <a:t>Improves security by detecting vulnerabilities early in CI/CD.</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700" dirty="0">
                          <a:latin typeface="Cambria" panose="02040503050406030204" pitchFamily="18" charset="0"/>
                          <a:ea typeface="Cambria" panose="02040503050406030204" pitchFamily="18" charset="0"/>
                        </a:rPr>
                        <a:t>Focused mainly on blockchain smart contracts.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492441998"/>
                  </a:ext>
                </a:extLst>
              </a:tr>
              <a:tr h="1348880">
                <a:tc>
                  <a:txBody>
                    <a:bodyPr/>
                    <a:lstStyle/>
                    <a:p>
                      <a:pPr algn="ctr"/>
                      <a:r>
                        <a:rPr lang="en-US" sz="1700" dirty="0">
                          <a:latin typeface="Cambria" panose="02040503050406030204" pitchFamily="18" charset="0"/>
                          <a:ea typeface="Cambria" panose="02040503050406030204" pitchFamily="18" charset="0"/>
                        </a:rPr>
                        <a:t>5</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i="1" dirty="0">
                          <a:latin typeface="Cambria" panose="02040503050406030204" pitchFamily="18" charset="0"/>
                          <a:ea typeface="Cambria" panose="02040503050406030204" pitchFamily="18" charset="0"/>
                        </a:rPr>
                        <a:t>Cybersecurity in DevOps Environments: A Systematic Literature Review</a:t>
                      </a:r>
                      <a:r>
                        <a:rPr lang="en-US" sz="1700" dirty="0">
                          <a:latin typeface="Cambria" panose="02040503050406030204" pitchFamily="18" charset="0"/>
                          <a:ea typeface="Cambria" panose="02040503050406030204" pitchFamily="18" charset="0"/>
                        </a:rPr>
                        <a:t> (2025)</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Systematic Literature Review analyzing cybersecurity threats and mitigation strategies in DevOps.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Identifies major DevOps security threats and mitigation methods.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Lacks strong empirical validation in many studies.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382206"/>
                  </a:ext>
                </a:extLst>
              </a:tr>
              <a:tr h="1711847">
                <a:tc>
                  <a:txBody>
                    <a:bodyPr/>
                    <a:lstStyle/>
                    <a:p>
                      <a:pPr algn="ctr"/>
                      <a:r>
                        <a:rPr lang="en-US" sz="1700" dirty="0">
                          <a:latin typeface="Cambria" panose="02040503050406030204" pitchFamily="18" charset="0"/>
                          <a:ea typeface="Cambria" panose="02040503050406030204" pitchFamily="18" charset="0"/>
                        </a:rPr>
                        <a:t>6</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i="1" dirty="0">
                          <a:latin typeface="Cambria" panose="02040503050406030204" pitchFamily="18" charset="0"/>
                          <a:ea typeface="Cambria" panose="02040503050406030204" pitchFamily="18" charset="0"/>
                        </a:rPr>
                        <a:t>Effort Estimation in Agile and DevOps: A Systematic Literature Review of Stakeholder Dissatisfaction</a:t>
                      </a:r>
                      <a:r>
                        <a:rPr lang="en-US" sz="1700" dirty="0">
                          <a:latin typeface="Cambria" panose="02040503050406030204" pitchFamily="18" charset="0"/>
                          <a:ea typeface="Cambria" panose="02040503050406030204" pitchFamily="18" charset="0"/>
                        </a:rPr>
                        <a:t> (2025)</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Systematic Literature Review (SLR) analyzing factors affecting effort estimation in Agile–DevOps environments.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700" dirty="0">
                          <a:latin typeface="Cambria" panose="02040503050406030204" pitchFamily="18" charset="0"/>
                          <a:ea typeface="Cambria" panose="02040503050406030204" pitchFamily="18" charset="0"/>
                        </a:rPr>
                        <a:t>Identifies key estimation challenges and improvement techniques.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Based mainly on literature analysis, limited real-world validation.</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4219671"/>
                  </a:ext>
                </a:extLst>
              </a:tr>
            </a:tbl>
          </a:graphicData>
        </a:graphic>
      </p:graphicFrame>
    </p:spTree>
    <p:extLst>
      <p:ext uri="{BB962C8B-B14F-4D97-AF65-F5344CB8AC3E}">
        <p14:creationId xmlns:p14="http://schemas.microsoft.com/office/powerpoint/2010/main" val="1444055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A89FC-57B5-738B-8574-5691ED0BBC9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47C9519-5A08-0E1E-F287-071EF6B24046}"/>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A3D01B00-16BE-A7E8-86B3-CF3073421B96}"/>
              </a:ext>
            </a:extLst>
          </p:cNvPr>
          <p:cNvSpPr>
            <a:spLocks noGrp="1"/>
          </p:cNvSpPr>
          <p:nvPr>
            <p:ph type="sldNum" sz="quarter" idx="4"/>
          </p:nvPr>
        </p:nvSpPr>
        <p:spPr/>
        <p:txBody>
          <a:bodyPr/>
          <a:lstStyle/>
          <a:p>
            <a:fld id="{FFAE6D68-FB99-4243-9CC1-93FAA8C005BC}" type="slidenum">
              <a:rPr lang="en-IN" smtClean="0"/>
              <a:pPr/>
              <a:t>6</a:t>
            </a:fld>
            <a:endParaRPr lang="en-IN"/>
          </a:p>
        </p:txBody>
      </p:sp>
      <p:sp>
        <p:nvSpPr>
          <p:cNvPr id="4" name="TextBox 3">
            <a:extLst>
              <a:ext uri="{FF2B5EF4-FFF2-40B4-BE49-F238E27FC236}">
                <a16:creationId xmlns:a16="http://schemas.microsoft.com/office/drawing/2014/main" id="{1ABEF8A5-473E-4884-FF89-464DA0780C61}"/>
              </a:ext>
            </a:extLst>
          </p:cNvPr>
          <p:cNvSpPr txBox="1"/>
          <p:nvPr/>
        </p:nvSpPr>
        <p:spPr>
          <a:xfrm>
            <a:off x="2798445" y="-13507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Literature Survey</a:t>
            </a:r>
            <a:endParaRPr lang="en-IN" sz="4000" b="1" dirty="0">
              <a:latin typeface="Cambria" panose="02040503050406030204" pitchFamily="18" charset="0"/>
              <a:ea typeface="Cambria" panose="02040503050406030204" pitchFamily="18" charset="0"/>
            </a:endParaRPr>
          </a:p>
        </p:txBody>
      </p:sp>
      <p:graphicFrame>
        <p:nvGraphicFramePr>
          <p:cNvPr id="7" name="Table 6">
            <a:extLst>
              <a:ext uri="{FF2B5EF4-FFF2-40B4-BE49-F238E27FC236}">
                <a16:creationId xmlns:a16="http://schemas.microsoft.com/office/drawing/2014/main" id="{84B27A5B-F0E8-952C-7127-CF21579AEE1A}"/>
              </a:ext>
            </a:extLst>
          </p:cNvPr>
          <p:cNvGraphicFramePr>
            <a:graphicFrameLocks noGrp="1"/>
          </p:cNvGraphicFramePr>
          <p:nvPr>
            <p:extLst>
              <p:ext uri="{D42A27DB-BD31-4B8C-83A1-F6EECF244321}">
                <p14:modId xmlns:p14="http://schemas.microsoft.com/office/powerpoint/2010/main" val="3463736204"/>
              </p:ext>
            </p:extLst>
          </p:nvPr>
        </p:nvGraphicFramePr>
        <p:xfrm>
          <a:off x="31374" y="472440"/>
          <a:ext cx="12160626" cy="5767610"/>
        </p:xfrm>
        <a:graphic>
          <a:graphicData uri="http://schemas.openxmlformats.org/drawingml/2006/table">
            <a:tbl>
              <a:tblPr firstRow="1" bandRow="1">
                <a:tableStyleId>{74C1A8A3-306A-4EB7-A6B1-4F7E0EB9C5D6}</a:tableStyleId>
              </a:tblPr>
              <a:tblGrid>
                <a:gridCol w="906053">
                  <a:extLst>
                    <a:ext uri="{9D8B030D-6E8A-4147-A177-3AD203B41FA5}">
                      <a16:colId xmlns:a16="http://schemas.microsoft.com/office/drawing/2014/main" val="1246332516"/>
                    </a:ext>
                  </a:extLst>
                </a:gridCol>
                <a:gridCol w="3958198">
                  <a:extLst>
                    <a:ext uri="{9D8B030D-6E8A-4147-A177-3AD203B41FA5}">
                      <a16:colId xmlns:a16="http://schemas.microsoft.com/office/drawing/2014/main" val="3511594090"/>
                    </a:ext>
                  </a:extLst>
                </a:gridCol>
                <a:gridCol w="2577636">
                  <a:extLst>
                    <a:ext uri="{9D8B030D-6E8A-4147-A177-3AD203B41FA5}">
                      <a16:colId xmlns:a16="http://schemas.microsoft.com/office/drawing/2014/main" val="2075059803"/>
                    </a:ext>
                  </a:extLst>
                </a:gridCol>
                <a:gridCol w="2286614">
                  <a:extLst>
                    <a:ext uri="{9D8B030D-6E8A-4147-A177-3AD203B41FA5}">
                      <a16:colId xmlns:a16="http://schemas.microsoft.com/office/drawing/2014/main" val="469376826"/>
                    </a:ext>
                  </a:extLst>
                </a:gridCol>
                <a:gridCol w="2432125">
                  <a:extLst>
                    <a:ext uri="{9D8B030D-6E8A-4147-A177-3AD203B41FA5}">
                      <a16:colId xmlns:a16="http://schemas.microsoft.com/office/drawing/2014/main" val="4042864848"/>
                    </a:ext>
                  </a:extLst>
                </a:gridCol>
              </a:tblGrid>
              <a:tr h="415403">
                <a:tc>
                  <a:txBody>
                    <a:bodyPr/>
                    <a:lstStyle/>
                    <a:p>
                      <a:pPr algn="ctr"/>
                      <a:r>
                        <a:rPr lang="en-US" sz="2200" dirty="0">
                          <a:solidFill>
                            <a:srgbClr val="002060"/>
                          </a:solidFill>
                          <a:latin typeface="Cambria" panose="02040503050406030204" pitchFamily="18" charset="0"/>
                          <a:ea typeface="Cambria" panose="02040503050406030204" pitchFamily="18" charset="0"/>
                        </a:rPr>
                        <a:t>Sl.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Title</a:t>
                      </a:r>
                      <a:r>
                        <a:rPr lang="en-IN" sz="2200" baseline="0" dirty="0">
                          <a:solidFill>
                            <a:srgbClr val="002060"/>
                          </a:solidFill>
                          <a:latin typeface="Cambria" panose="02040503050406030204" pitchFamily="18" charset="0"/>
                          <a:ea typeface="Cambria" panose="02040503050406030204" pitchFamily="18" charset="0"/>
                        </a:rPr>
                        <a:t> of the paper and year</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Methodology</a:t>
                      </a:r>
                      <a:r>
                        <a:rPr lang="en-IN" sz="2200" baseline="0" dirty="0">
                          <a:solidFill>
                            <a:srgbClr val="002060"/>
                          </a:solidFill>
                          <a:latin typeface="Cambria" panose="02040503050406030204" pitchFamily="18" charset="0"/>
                          <a:ea typeface="Cambria" panose="02040503050406030204" pitchFamily="18"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Merits</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Limitations</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7800540"/>
                  </a:ext>
                </a:extLst>
              </a:tr>
              <a:tr h="1691282">
                <a:tc>
                  <a:txBody>
                    <a:bodyPr/>
                    <a:lstStyle/>
                    <a:p>
                      <a:pPr algn="ctr"/>
                      <a:r>
                        <a:rPr lang="en-US" sz="1700" dirty="0">
                          <a:latin typeface="Cambria" panose="02040503050406030204" pitchFamily="18" charset="0"/>
                          <a:ea typeface="Cambria" panose="02040503050406030204" pitchFamily="18" charset="0"/>
                        </a:rPr>
                        <a:t>7</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700" i="1" dirty="0">
                          <a:latin typeface="Cambria" panose="02040503050406030204" pitchFamily="18" charset="0"/>
                          <a:ea typeface="Cambria" panose="02040503050406030204" pitchFamily="18" charset="0"/>
                        </a:rPr>
                        <a:t>Extensive Review of Threat Models for </a:t>
                      </a:r>
                      <a:r>
                        <a:rPr lang="en-US" sz="1700" i="1" dirty="0" err="1">
                          <a:latin typeface="Cambria" panose="02040503050406030204" pitchFamily="18" charset="0"/>
                          <a:ea typeface="Cambria" panose="02040503050406030204" pitchFamily="18" charset="0"/>
                        </a:rPr>
                        <a:t>DevSecOps</a:t>
                      </a:r>
                      <a:r>
                        <a:rPr lang="en-US" sz="1700" dirty="0">
                          <a:latin typeface="Cambria" panose="02040503050406030204" pitchFamily="18" charset="0"/>
                          <a:ea typeface="Cambria" panose="02040503050406030204" pitchFamily="18" charset="0"/>
                        </a:rPr>
                        <a:t> (2025)</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700" dirty="0">
                          <a:latin typeface="Cambria" panose="02040503050406030204" pitchFamily="18" charset="0"/>
                          <a:ea typeface="Cambria" panose="02040503050406030204" pitchFamily="18" charset="0"/>
                        </a:rPr>
                        <a:t>Survey study reviewing threat models such as </a:t>
                      </a:r>
                      <a:r>
                        <a:rPr lang="en-US" sz="1700" b="1" dirty="0">
                          <a:latin typeface="Cambria" panose="02040503050406030204" pitchFamily="18" charset="0"/>
                          <a:ea typeface="Cambria" panose="02040503050406030204" pitchFamily="18" charset="0"/>
                        </a:rPr>
                        <a:t>STRIDE, PASTA, OCTAVE, TRIKE, and VAST</a:t>
                      </a:r>
                      <a:r>
                        <a:rPr lang="en-US" sz="1700" dirty="0">
                          <a:latin typeface="Cambria" panose="02040503050406030204" pitchFamily="18" charset="0"/>
                          <a:ea typeface="Cambria" panose="02040503050406030204" pitchFamily="18" charset="0"/>
                        </a:rPr>
                        <a:t> for </a:t>
                      </a:r>
                      <a:r>
                        <a:rPr lang="en-US" sz="1700" dirty="0" err="1">
                          <a:latin typeface="Cambria" panose="02040503050406030204" pitchFamily="18" charset="0"/>
                          <a:ea typeface="Cambria" panose="02040503050406030204" pitchFamily="18" charset="0"/>
                        </a:rPr>
                        <a:t>DevSecOps</a:t>
                      </a:r>
                      <a:r>
                        <a:rPr lang="en-US" sz="1700" dirty="0">
                          <a:latin typeface="Cambria" panose="02040503050406030204" pitchFamily="18" charset="0"/>
                          <a:ea typeface="Cambria" panose="02040503050406030204" pitchFamily="18" charset="0"/>
                        </a:rPr>
                        <a:t> security.</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700" dirty="0">
                          <a:latin typeface="Cambria" panose="02040503050406030204" pitchFamily="18" charset="0"/>
                          <a:ea typeface="Cambria" panose="02040503050406030204" pitchFamily="18" charset="0"/>
                        </a:rPr>
                        <a:t>Literature-based review of threat modeling approaches.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700" dirty="0">
                          <a:solidFill>
                            <a:schemeClr val="tx1"/>
                          </a:solidFill>
                          <a:latin typeface="Cambria" panose="02040503050406030204" pitchFamily="18" charset="0"/>
                          <a:ea typeface="Cambria" panose="02040503050406030204" pitchFamily="18" charset="0"/>
                        </a:rPr>
                        <a:t>Mainly conceptual review with limited experimental validation</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2441998"/>
                  </a:ext>
                </a:extLst>
              </a:tr>
              <a:tr h="1691282">
                <a:tc>
                  <a:txBody>
                    <a:bodyPr/>
                    <a:lstStyle/>
                    <a:p>
                      <a:pPr algn="ctr"/>
                      <a:r>
                        <a:rPr lang="en-US" sz="1700" dirty="0">
                          <a:latin typeface="Cambria" panose="02040503050406030204" pitchFamily="18" charset="0"/>
                          <a:ea typeface="Cambria" panose="02040503050406030204" pitchFamily="18" charset="0"/>
                        </a:rPr>
                        <a:t>8</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i="1" dirty="0">
                          <a:latin typeface="Cambria" panose="02040503050406030204" pitchFamily="18" charset="0"/>
                          <a:ea typeface="Cambria" panose="02040503050406030204" pitchFamily="18" charset="0"/>
                        </a:rPr>
                        <a:t>Empirical Investigation of Key Enablers for Secure DevOps Practices</a:t>
                      </a:r>
                      <a:r>
                        <a:rPr lang="en-US" sz="1700" dirty="0">
                          <a:latin typeface="Cambria" panose="02040503050406030204" pitchFamily="18" charset="0"/>
                          <a:ea typeface="Cambria" panose="02040503050406030204" pitchFamily="18" charset="0"/>
                        </a:rPr>
                        <a:t> (2025)</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Multivocal Literature Review + questionnaire survey analyzed using </a:t>
                      </a:r>
                      <a:r>
                        <a:rPr lang="en-US" sz="1700" b="1" dirty="0">
                          <a:latin typeface="Cambria" panose="02040503050406030204" pitchFamily="18" charset="0"/>
                          <a:ea typeface="Cambria" panose="02040503050406030204" pitchFamily="18" charset="0"/>
                        </a:rPr>
                        <a:t>PLS-SEM</a:t>
                      </a:r>
                      <a:r>
                        <a:rPr lang="en-US" sz="1700" dirty="0">
                          <a:latin typeface="Cambria" panose="02040503050406030204" pitchFamily="18" charset="0"/>
                          <a:ea typeface="Cambria" panose="02040503050406030204" pitchFamily="18" charset="0"/>
                        </a:rPr>
                        <a:t> to evaluate </a:t>
                      </a:r>
                      <a:r>
                        <a:rPr lang="en-US" sz="1700" dirty="0" err="1">
                          <a:latin typeface="Cambria" panose="02040503050406030204" pitchFamily="18" charset="0"/>
                          <a:ea typeface="Cambria" panose="02040503050406030204" pitchFamily="18" charset="0"/>
                        </a:rPr>
                        <a:t>DevSecOps</a:t>
                      </a:r>
                      <a:r>
                        <a:rPr lang="en-US" sz="1700" dirty="0">
                          <a:latin typeface="Cambria" panose="02040503050406030204" pitchFamily="18" charset="0"/>
                          <a:ea typeface="Cambria" panose="02040503050406030204" pitchFamily="18" charset="0"/>
                        </a:rPr>
                        <a:t> enablers.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Identifies </a:t>
                      </a:r>
                      <a:r>
                        <a:rPr lang="en-US" sz="1700" b="1" dirty="0">
                          <a:latin typeface="Cambria" panose="02040503050406030204" pitchFamily="18" charset="0"/>
                          <a:ea typeface="Cambria" panose="02040503050406030204" pitchFamily="18" charset="0"/>
                        </a:rPr>
                        <a:t>35 key enablers</a:t>
                      </a:r>
                      <a:r>
                        <a:rPr lang="en-US" sz="1700" dirty="0">
                          <a:latin typeface="Cambria" panose="02040503050406030204" pitchFamily="18" charset="0"/>
                          <a:ea typeface="Cambria" panose="02040503050406030204" pitchFamily="18" charset="0"/>
                        </a:rPr>
                        <a:t> mapped to CAMS (Culture, Automation, Measurement, Sharing).</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Results depend on survey responses and may vary across organizations.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382206"/>
                  </a:ext>
                </a:extLst>
              </a:tr>
              <a:tr h="1958326">
                <a:tc>
                  <a:txBody>
                    <a:bodyPr/>
                    <a:lstStyle/>
                    <a:p>
                      <a:pPr algn="ctr"/>
                      <a:r>
                        <a:rPr lang="en-US" sz="1700" dirty="0">
                          <a:latin typeface="Cambria" panose="02040503050406030204" pitchFamily="18" charset="0"/>
                          <a:ea typeface="Cambria" panose="02040503050406030204" pitchFamily="18" charset="0"/>
                        </a:rPr>
                        <a:t>9</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i="1" dirty="0">
                          <a:latin typeface="Cambria" panose="02040503050406030204" pitchFamily="18" charset="0"/>
                          <a:ea typeface="Cambria" panose="02040503050406030204" pitchFamily="18" charset="0"/>
                        </a:rPr>
                        <a:t>Building Resilient CI/CD Pipelines: A DevOps Security-First Framework</a:t>
                      </a:r>
                      <a:r>
                        <a:rPr lang="en-US" sz="1700" dirty="0">
                          <a:latin typeface="Cambria" panose="02040503050406030204" pitchFamily="18" charset="0"/>
                          <a:ea typeface="Cambria" panose="02040503050406030204" pitchFamily="18" charset="0"/>
                        </a:rPr>
                        <a:t> (2025)</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Implements a </a:t>
                      </a:r>
                      <a:r>
                        <a:rPr lang="en-US" sz="1700" b="1" dirty="0">
                          <a:latin typeface="Cambria" panose="02040503050406030204" pitchFamily="18" charset="0"/>
                          <a:ea typeface="Cambria" panose="02040503050406030204" pitchFamily="18" charset="0"/>
                        </a:rPr>
                        <a:t>secure CI/CD pipeline using AWS, Terraform, Jenkins, Docker, and </a:t>
                      </a:r>
                      <a:r>
                        <a:rPr lang="en-US" sz="1700" b="1" dirty="0" err="1">
                          <a:latin typeface="Cambria" panose="02040503050406030204" pitchFamily="18" charset="0"/>
                          <a:ea typeface="Cambria" panose="02040503050406030204" pitchFamily="18" charset="0"/>
                        </a:rPr>
                        <a:t>ArgoCD</a:t>
                      </a:r>
                      <a:r>
                        <a:rPr lang="en-US" sz="1700" dirty="0">
                          <a:latin typeface="Cambria" panose="02040503050406030204" pitchFamily="18" charset="0"/>
                          <a:ea typeface="Cambria" panose="02040503050406030204" pitchFamily="18" charset="0"/>
                        </a:rPr>
                        <a:t> with automated security scanning and monitoring.</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Improves deployment speed, security scanning, and system monitoring.</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Implementation focused on a specific cloud setup and tool stack.</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4219671"/>
                  </a:ext>
                </a:extLst>
              </a:tr>
            </a:tbl>
          </a:graphicData>
        </a:graphic>
      </p:graphicFrame>
    </p:spTree>
    <p:extLst>
      <p:ext uri="{BB962C8B-B14F-4D97-AF65-F5344CB8AC3E}">
        <p14:creationId xmlns:p14="http://schemas.microsoft.com/office/powerpoint/2010/main" val="3317049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7</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98445" y="18288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Literature Survey</a:t>
            </a:r>
            <a:endParaRPr lang="en-IN" sz="4000" b="1" dirty="0">
              <a:latin typeface="Cambria" panose="02040503050406030204" pitchFamily="18" charset="0"/>
              <a:ea typeface="Cambria" panose="020405030504060302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671133390"/>
              </p:ext>
            </p:extLst>
          </p:nvPr>
        </p:nvGraphicFramePr>
        <p:xfrm>
          <a:off x="381000" y="1473222"/>
          <a:ext cx="11313160" cy="3327389"/>
        </p:xfrm>
        <a:graphic>
          <a:graphicData uri="http://schemas.openxmlformats.org/drawingml/2006/table">
            <a:tbl>
              <a:tblPr firstRow="1" bandRow="1">
                <a:tableStyleId>{74C1A8A3-306A-4EB7-A6B1-4F7E0EB9C5D6}</a:tableStyleId>
              </a:tblPr>
              <a:tblGrid>
                <a:gridCol w="842911">
                  <a:extLst>
                    <a:ext uri="{9D8B030D-6E8A-4147-A177-3AD203B41FA5}">
                      <a16:colId xmlns:a16="http://schemas.microsoft.com/office/drawing/2014/main" val="1246332516"/>
                    </a:ext>
                  </a:extLst>
                </a:gridCol>
                <a:gridCol w="3682353">
                  <a:extLst>
                    <a:ext uri="{9D8B030D-6E8A-4147-A177-3AD203B41FA5}">
                      <a16:colId xmlns:a16="http://schemas.microsoft.com/office/drawing/2014/main" val="3511594090"/>
                    </a:ext>
                  </a:extLst>
                </a:gridCol>
                <a:gridCol w="2262632">
                  <a:extLst>
                    <a:ext uri="{9D8B030D-6E8A-4147-A177-3AD203B41FA5}">
                      <a16:colId xmlns:a16="http://schemas.microsoft.com/office/drawing/2014/main" val="2075059803"/>
                    </a:ext>
                  </a:extLst>
                </a:gridCol>
                <a:gridCol w="2262632">
                  <a:extLst>
                    <a:ext uri="{9D8B030D-6E8A-4147-A177-3AD203B41FA5}">
                      <a16:colId xmlns:a16="http://schemas.microsoft.com/office/drawing/2014/main" val="469376826"/>
                    </a:ext>
                  </a:extLst>
                </a:gridCol>
                <a:gridCol w="2262632">
                  <a:extLst>
                    <a:ext uri="{9D8B030D-6E8A-4147-A177-3AD203B41FA5}">
                      <a16:colId xmlns:a16="http://schemas.microsoft.com/office/drawing/2014/main" val="4042864848"/>
                    </a:ext>
                  </a:extLst>
                </a:gridCol>
              </a:tblGrid>
              <a:tr h="904229">
                <a:tc>
                  <a:txBody>
                    <a:bodyPr/>
                    <a:lstStyle/>
                    <a:p>
                      <a:pPr algn="ctr"/>
                      <a:r>
                        <a:rPr lang="en-US" sz="2200" dirty="0">
                          <a:solidFill>
                            <a:srgbClr val="002060"/>
                          </a:solidFill>
                          <a:latin typeface="Cambria" panose="02040503050406030204" pitchFamily="18" charset="0"/>
                          <a:ea typeface="Cambria" panose="02040503050406030204" pitchFamily="18" charset="0"/>
                        </a:rPr>
                        <a:t>Sl.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Title</a:t>
                      </a:r>
                      <a:r>
                        <a:rPr lang="en-IN" sz="2200" baseline="0" dirty="0">
                          <a:solidFill>
                            <a:srgbClr val="002060"/>
                          </a:solidFill>
                          <a:latin typeface="Cambria" panose="02040503050406030204" pitchFamily="18" charset="0"/>
                          <a:ea typeface="Cambria" panose="02040503050406030204" pitchFamily="18" charset="0"/>
                        </a:rPr>
                        <a:t> of the paper and year</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Methodology</a:t>
                      </a:r>
                      <a:r>
                        <a:rPr lang="en-IN" sz="2200" baseline="0" dirty="0">
                          <a:solidFill>
                            <a:srgbClr val="002060"/>
                          </a:solidFill>
                          <a:latin typeface="Cambria" panose="02040503050406030204" pitchFamily="18" charset="0"/>
                          <a:ea typeface="Cambria" panose="02040503050406030204" pitchFamily="18"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Merits</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Limitations</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7800540"/>
                  </a:ext>
                </a:extLst>
              </a:tr>
              <a:tr h="904229">
                <a:tc>
                  <a:txBody>
                    <a:bodyPr/>
                    <a:lstStyle/>
                    <a:p>
                      <a:pPr algn="ctr"/>
                      <a:r>
                        <a:rPr lang="en-US" sz="1700" dirty="0">
                          <a:latin typeface="Cambria" panose="02040503050406030204" pitchFamily="18" charset="0"/>
                          <a:ea typeface="Cambria" panose="02040503050406030204" pitchFamily="18" charset="0"/>
                        </a:rPr>
                        <a:t>10</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i="1" dirty="0">
                          <a:latin typeface="Cambria" panose="02040503050406030204" pitchFamily="18" charset="0"/>
                          <a:ea typeface="Cambria" panose="02040503050406030204" pitchFamily="18" charset="0"/>
                        </a:rPr>
                        <a:t>Enhancing DevOps Continuous Monitoring Phase: Hybrid Intrusion Detection and Ensemble Learning System (HIDELS)</a:t>
                      </a:r>
                      <a:r>
                        <a:rPr lang="en-US" sz="1700" dirty="0">
                          <a:latin typeface="Cambria" panose="02040503050406030204" pitchFamily="18" charset="0"/>
                          <a:ea typeface="Cambria" panose="02040503050406030204" pitchFamily="18" charset="0"/>
                        </a:rPr>
                        <a:t> (2026)</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700" dirty="0">
                          <a:latin typeface="Cambria" panose="02040503050406030204" pitchFamily="18" charset="0"/>
                          <a:ea typeface="Cambria" panose="02040503050406030204" pitchFamily="18" charset="0"/>
                        </a:rPr>
                        <a:t>Proposed </a:t>
                      </a:r>
                      <a:r>
                        <a:rPr lang="en-IN" sz="1700" b="1" dirty="0">
                          <a:latin typeface="Cambria" panose="02040503050406030204" pitchFamily="18" charset="0"/>
                          <a:ea typeface="Cambria" panose="02040503050406030204" pitchFamily="18" charset="0"/>
                        </a:rPr>
                        <a:t>HIDELS model</a:t>
                      </a:r>
                      <a:r>
                        <a:rPr lang="en-IN" sz="1700" dirty="0">
                          <a:latin typeface="Cambria" panose="02040503050406030204" pitchFamily="18" charset="0"/>
                          <a:ea typeface="Cambria" panose="02040503050406030204" pitchFamily="18" charset="0"/>
                        </a:rPr>
                        <a:t> integrating DevOps continuous monitoring with </a:t>
                      </a:r>
                      <a:r>
                        <a:rPr lang="en-IN" sz="1700" b="1" dirty="0">
                          <a:latin typeface="Cambria" panose="02040503050406030204" pitchFamily="18" charset="0"/>
                          <a:ea typeface="Cambria" panose="02040503050406030204" pitchFamily="18" charset="0"/>
                        </a:rPr>
                        <a:t>ML algorithms (LR, </a:t>
                      </a:r>
                      <a:r>
                        <a:rPr lang="en-IN" sz="1700" b="1" dirty="0" err="1">
                          <a:latin typeface="Cambria" panose="02040503050406030204" pitchFamily="18" charset="0"/>
                          <a:ea typeface="Cambria" panose="02040503050406030204" pitchFamily="18" charset="0"/>
                        </a:rPr>
                        <a:t>kNN</a:t>
                      </a:r>
                      <a:r>
                        <a:rPr lang="en-IN" sz="1700" b="1" dirty="0">
                          <a:latin typeface="Cambria" panose="02040503050406030204" pitchFamily="18" charset="0"/>
                          <a:ea typeface="Cambria" panose="02040503050406030204" pitchFamily="18" charset="0"/>
                        </a:rPr>
                        <a:t>, DT, NB, SVM) and ensemble learning</a:t>
                      </a:r>
                      <a:r>
                        <a:rPr lang="en-IN" sz="1700" dirty="0">
                          <a:latin typeface="Cambria" panose="02040503050406030204" pitchFamily="18" charset="0"/>
                          <a:ea typeface="Cambria" panose="02040503050406030204" pitchFamily="18" charset="0"/>
                        </a:rPr>
                        <a:t> for intrusion detection.</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Achieves </a:t>
                      </a:r>
                      <a:r>
                        <a:rPr lang="en-US" sz="1700" b="1" dirty="0">
                          <a:latin typeface="Cambria" panose="02040503050406030204" pitchFamily="18" charset="0"/>
                          <a:ea typeface="Cambria" panose="02040503050406030204" pitchFamily="18" charset="0"/>
                        </a:rPr>
                        <a:t>high detection accuracy (~99%)</a:t>
                      </a:r>
                      <a:r>
                        <a:rPr lang="en-US" sz="1700" dirty="0">
                          <a:latin typeface="Cambria" panose="02040503050406030204" pitchFamily="18" charset="0"/>
                          <a:ea typeface="Cambria" panose="02040503050406030204" pitchFamily="18" charset="0"/>
                        </a:rPr>
                        <a:t> and improves security monitoring in DevOps pipelines.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700" dirty="0">
                          <a:latin typeface="Cambria" panose="02040503050406030204" pitchFamily="18" charset="0"/>
                          <a:ea typeface="Cambria" panose="02040503050406030204" pitchFamily="18" charset="0"/>
                        </a:rPr>
                        <a:t>Requires high computational resources and complex model training for ensemble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2441998"/>
                  </a:ext>
                </a:extLst>
              </a:tr>
            </a:tbl>
          </a:graphicData>
        </a:graphic>
      </p:graphicFrame>
    </p:spTree>
    <p:extLst>
      <p:ext uri="{BB962C8B-B14F-4D97-AF65-F5344CB8AC3E}">
        <p14:creationId xmlns:p14="http://schemas.microsoft.com/office/powerpoint/2010/main" val="3550469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8</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98445" y="18288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Objectives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55BEC630-6F30-942B-AE77-8AB365B0B80F}"/>
              </a:ext>
            </a:extLst>
          </p:cNvPr>
          <p:cNvSpPr txBox="1"/>
          <p:nvPr/>
        </p:nvSpPr>
        <p:spPr>
          <a:xfrm>
            <a:off x="580072" y="1332845"/>
            <a:ext cx="10769917" cy="256871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To design and implement a secure CI/CD pipeline </a:t>
            </a:r>
          </a:p>
          <a:p>
            <a:pPr marL="342900" indent="-342900">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To integrate security testing tools into DevOps workflows </a:t>
            </a:r>
          </a:p>
          <a:p>
            <a:pPr marL="342900" indent="-342900">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To identify and mitigate vulnerabilities at early stages of development </a:t>
            </a:r>
          </a:p>
          <a:p>
            <a:pPr marL="342900" indent="-342900">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To reduce security risks and remediation costs </a:t>
            </a:r>
          </a:p>
          <a:p>
            <a:pPr marL="342900" indent="-342900">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To ensure faster and secure software delivery </a:t>
            </a:r>
            <a:endParaRPr lang="en-IN"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79392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9</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98445" y="18288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Proposed System</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55BEC630-6F30-942B-AE77-8AB365B0B80F}"/>
              </a:ext>
            </a:extLst>
          </p:cNvPr>
          <p:cNvSpPr txBox="1"/>
          <p:nvPr/>
        </p:nvSpPr>
        <p:spPr>
          <a:xfrm>
            <a:off x="821334" y="1313645"/>
            <a:ext cx="10769917" cy="3584379"/>
          </a:xfrm>
          <a:prstGeom prst="rect">
            <a:avLst/>
          </a:prstGeom>
          <a:noFill/>
        </p:spPr>
        <p:txBody>
          <a:bodyPr wrap="square">
            <a:spAutoFit/>
          </a:bodyPr>
          <a:lstStyle/>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200" dirty="0">
                <a:latin typeface="Cambria" panose="02040503050406030204" pitchFamily="18" charset="0"/>
                <a:ea typeface="Cambria" panose="02040503050406030204" pitchFamily="18" charset="0"/>
              </a:rPr>
              <a:t>Overview of the new solution :</a:t>
            </a:r>
          </a:p>
          <a:p>
            <a:pPr lvl="0" algn="just" eaLnBrk="0" fontAlgn="base" hangingPunct="0">
              <a:lnSpc>
                <a:spcPct val="150000"/>
              </a:lnSpc>
              <a:spcBef>
                <a:spcPct val="0"/>
              </a:spcBef>
              <a:spcAft>
                <a:spcPct val="0"/>
              </a:spcAft>
            </a:pPr>
            <a:r>
              <a:rPr lang="en-US" sz="24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A </a:t>
            </a:r>
            <a:r>
              <a:rPr lang="en-US" sz="2000" b="1" dirty="0">
                <a:latin typeface="Cambria" panose="02040503050406030204" pitchFamily="18" charset="0"/>
                <a:ea typeface="Cambria" panose="02040503050406030204" pitchFamily="18" charset="0"/>
              </a:rPr>
              <a:t>Secure </a:t>
            </a:r>
            <a:r>
              <a:rPr lang="en-US" sz="2000" b="1" dirty="0" err="1">
                <a:latin typeface="Cambria" panose="02040503050406030204" pitchFamily="18" charset="0"/>
                <a:ea typeface="Cambria" panose="02040503050406030204" pitchFamily="18" charset="0"/>
              </a:rPr>
              <a:t>DevSecOps</a:t>
            </a:r>
            <a:r>
              <a:rPr lang="en-US" sz="2000" b="1" dirty="0">
                <a:latin typeface="Cambria" panose="02040503050406030204" pitchFamily="18" charset="0"/>
                <a:ea typeface="Cambria" panose="02040503050406030204" pitchFamily="18" charset="0"/>
              </a:rPr>
              <a:t> CI/CD pipeline</a:t>
            </a:r>
            <a:r>
              <a:rPr lang="en-US" sz="2000" dirty="0">
                <a:latin typeface="Cambria" panose="02040503050406030204" pitchFamily="18" charset="0"/>
                <a:ea typeface="Cambria" panose="02040503050406030204" pitchFamily="18" charset="0"/>
              </a:rPr>
              <a:t> that automates code build, security scanning, deployment, and monitoring using tools like Jenkins, Docker, Kubernetes, and cloud platforms. </a:t>
            </a:r>
            <a:endParaRPr lang="en-US" altLang="en-US" sz="2000" dirty="0">
              <a:latin typeface="Cambria" panose="02040503050406030204" pitchFamily="18" charset="0"/>
              <a:ea typeface="Cambria" panose="02040503050406030204" pitchFamily="18" charset="0"/>
            </a:endParaRP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200" dirty="0">
                <a:latin typeface="Cambria" panose="02040503050406030204" pitchFamily="18" charset="0"/>
                <a:ea typeface="Cambria" panose="02040503050406030204" pitchFamily="18" charset="0"/>
              </a:rPr>
              <a:t>Advantages over existing systems :</a:t>
            </a:r>
          </a:p>
          <a:p>
            <a:pPr marL="1257300" lvl="2" indent="-342900" eaLnBrk="0" fontAlgn="base" hangingPunct="0">
              <a:lnSpc>
                <a:spcPct val="150000"/>
              </a:lnSpc>
              <a:spcBef>
                <a:spcPct val="0"/>
              </a:spcBef>
              <a:spcAft>
                <a:spcPct val="0"/>
              </a:spcAft>
              <a:buFont typeface="Arial" panose="020B0604020202020204" pitchFamily="34" charset="0"/>
              <a:buChar char="•"/>
            </a:pPr>
            <a:r>
              <a:rPr lang="en-US" altLang="en-US" sz="2000" dirty="0">
                <a:latin typeface="Cambria" panose="02040503050406030204" pitchFamily="18" charset="0"/>
                <a:ea typeface="Cambria" panose="02040503050406030204" pitchFamily="18" charset="0"/>
              </a:rPr>
              <a:t>    Early vulnerability detection through integrated security scanning.</a:t>
            </a:r>
          </a:p>
          <a:p>
            <a:pPr marL="1257300" lvl="2" indent="-342900" eaLnBrk="0" fontAlgn="base" hangingPunct="0">
              <a:lnSpc>
                <a:spcPct val="150000"/>
              </a:lnSpc>
              <a:spcBef>
                <a:spcPct val="0"/>
              </a:spcBef>
              <a:spcAft>
                <a:spcPct val="0"/>
              </a:spcAft>
              <a:buFont typeface="Arial" panose="020B0604020202020204" pitchFamily="34" charset="0"/>
              <a:buChar char="•"/>
            </a:pPr>
            <a:r>
              <a:rPr lang="en-US" altLang="en-US" sz="2000" dirty="0">
                <a:latin typeface="Cambria" panose="02040503050406030204" pitchFamily="18" charset="0"/>
                <a:ea typeface="Cambria" panose="02040503050406030204" pitchFamily="18" charset="0"/>
              </a:rPr>
              <a:t>    Automated build and deployment using CI/CD tools.</a:t>
            </a:r>
          </a:p>
          <a:p>
            <a:pPr marL="1257300" lvl="2" indent="-342900" eaLnBrk="0" fontAlgn="base" hangingPunct="0">
              <a:lnSpc>
                <a:spcPct val="150000"/>
              </a:lnSpc>
              <a:spcBef>
                <a:spcPct val="0"/>
              </a:spcBef>
              <a:spcAft>
                <a:spcPct val="0"/>
              </a:spcAft>
              <a:buFont typeface="Arial" panose="020B0604020202020204" pitchFamily="34" charset="0"/>
              <a:buChar char="•"/>
            </a:pPr>
            <a:r>
              <a:rPr lang="en-US" altLang="en-US" sz="2000" dirty="0">
                <a:latin typeface="Cambria" panose="02040503050406030204" pitchFamily="18" charset="0"/>
                <a:ea typeface="Cambria" panose="02040503050406030204" pitchFamily="18" charset="0"/>
              </a:rPr>
              <a:t>    Continuous monitoring using Prometheus and Grafana.</a:t>
            </a:r>
          </a:p>
        </p:txBody>
      </p:sp>
    </p:spTree>
    <p:extLst>
      <p:ext uri="{BB962C8B-B14F-4D97-AF65-F5344CB8AC3E}">
        <p14:creationId xmlns:p14="http://schemas.microsoft.com/office/powerpoint/2010/main" val="459360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10</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98445" y="18288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Methodology</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55BEC630-6F30-942B-AE77-8AB365B0B80F}"/>
              </a:ext>
            </a:extLst>
          </p:cNvPr>
          <p:cNvSpPr txBox="1"/>
          <p:nvPr/>
        </p:nvSpPr>
        <p:spPr>
          <a:xfrm>
            <a:off x="556914" y="1036320"/>
            <a:ext cx="11078171" cy="3728585"/>
          </a:xfrm>
          <a:prstGeom prst="rect">
            <a:avLst/>
          </a:prstGeom>
          <a:noFill/>
        </p:spPr>
        <p:txBody>
          <a:bodyPr wrap="square">
            <a:spAutoFit/>
          </a:bodyPr>
          <a:lstStyle/>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000" b="1" dirty="0">
                <a:latin typeface="Cambria" panose="02040503050406030204" pitchFamily="18" charset="0"/>
                <a:ea typeface="Cambria" panose="02040503050406030204" pitchFamily="18" charset="0"/>
              </a:rPr>
              <a:t>Version Control: </a:t>
            </a:r>
            <a:r>
              <a:rPr lang="en-US" altLang="en-US" sz="2000" dirty="0">
                <a:latin typeface="Cambria" panose="02040503050406030204" pitchFamily="18" charset="0"/>
                <a:ea typeface="Cambria" panose="02040503050406030204" pitchFamily="18" charset="0"/>
              </a:rPr>
              <a:t>Source code is managed and stored using Git and GitHub.</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000" b="1" dirty="0">
                <a:latin typeface="Cambria" panose="02040503050406030204" pitchFamily="18" charset="0"/>
                <a:ea typeface="Cambria" panose="02040503050406030204" pitchFamily="18" charset="0"/>
              </a:rPr>
              <a:t>Continuous Integration: </a:t>
            </a:r>
            <a:r>
              <a:rPr lang="en-US" altLang="en-US" sz="2000" dirty="0">
                <a:latin typeface="Cambria" panose="02040503050406030204" pitchFamily="18" charset="0"/>
                <a:ea typeface="Cambria" panose="02040503050406030204" pitchFamily="18" charset="0"/>
              </a:rPr>
              <a:t>Jenkins automates the build and testing process.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000" b="1" dirty="0">
                <a:latin typeface="Cambria" panose="02040503050406030204" pitchFamily="18" charset="0"/>
                <a:ea typeface="Cambria" panose="02040503050406030204" pitchFamily="18" charset="0"/>
              </a:rPr>
              <a:t>Security Testing: </a:t>
            </a:r>
            <a:r>
              <a:rPr lang="en-US" altLang="en-US" sz="2000" dirty="0">
                <a:latin typeface="Cambria" panose="02040503050406030204" pitchFamily="18" charset="0"/>
                <a:ea typeface="Cambria" panose="02040503050406030204" pitchFamily="18" charset="0"/>
              </a:rPr>
              <a:t>SonarQube (SAST), OWASP ZAP (DAST), and </a:t>
            </a:r>
            <a:r>
              <a:rPr lang="en-US" altLang="en-US" sz="2000" dirty="0" err="1">
                <a:latin typeface="Cambria" panose="02040503050406030204" pitchFamily="18" charset="0"/>
                <a:ea typeface="Cambria" panose="02040503050406030204" pitchFamily="18" charset="0"/>
              </a:rPr>
              <a:t>Trivy</a:t>
            </a:r>
            <a:r>
              <a:rPr lang="en-US" altLang="en-US" sz="2000" dirty="0">
                <a:latin typeface="Cambria" panose="02040503050406030204" pitchFamily="18" charset="0"/>
                <a:ea typeface="Cambria" panose="02040503050406030204" pitchFamily="18" charset="0"/>
              </a:rPr>
              <a:t> detect vulnerabilities in code and containers.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000" b="1" dirty="0">
                <a:latin typeface="Cambria" panose="02040503050406030204" pitchFamily="18" charset="0"/>
                <a:ea typeface="Cambria" panose="02040503050406030204" pitchFamily="18" charset="0"/>
              </a:rPr>
              <a:t>Containerization &amp; Deployment: </a:t>
            </a:r>
            <a:r>
              <a:rPr lang="en-US" altLang="en-US" sz="2000" dirty="0">
                <a:latin typeface="Cambria" panose="02040503050406030204" pitchFamily="18" charset="0"/>
                <a:ea typeface="Cambria" panose="02040503050406030204" pitchFamily="18" charset="0"/>
              </a:rPr>
              <a:t>Applications are packaged with Docker and deployed using Kubernetes on cloud platforms.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000" b="1" dirty="0">
                <a:latin typeface="Cambria" panose="02040503050406030204" pitchFamily="18" charset="0"/>
                <a:ea typeface="Cambria" panose="02040503050406030204" pitchFamily="18" charset="0"/>
              </a:rPr>
              <a:t>Monitoring:</a:t>
            </a:r>
            <a:r>
              <a:rPr lang="en-US" altLang="en-US" sz="2000" dirty="0">
                <a:latin typeface="Cambria" panose="02040503050406030204" pitchFamily="18" charset="0"/>
                <a:ea typeface="Cambria" panose="02040503050406030204" pitchFamily="18" charset="0"/>
              </a:rPr>
              <a:t> Prometheus and Grafana are used for continuous monitoring and logging of system performance.</a:t>
            </a:r>
          </a:p>
        </p:txBody>
      </p:sp>
    </p:spTree>
    <p:extLst>
      <p:ext uri="{BB962C8B-B14F-4D97-AF65-F5344CB8AC3E}">
        <p14:creationId xmlns:p14="http://schemas.microsoft.com/office/powerpoint/2010/main" val="4248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11</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470246" y="182880"/>
            <a:ext cx="749262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System Architecture</a:t>
            </a:r>
            <a:endParaRPr lang="en-IN" sz="4000" b="1" dirty="0">
              <a:latin typeface="Cambria" panose="02040503050406030204" pitchFamily="18" charset="0"/>
              <a:ea typeface="Cambria" panose="02040503050406030204" pitchFamily="18" charset="0"/>
            </a:endParaRPr>
          </a:p>
        </p:txBody>
      </p:sp>
      <p:sp>
        <p:nvSpPr>
          <p:cNvPr id="6" name="Rectangle 5"/>
          <p:cNvSpPr/>
          <p:nvPr/>
        </p:nvSpPr>
        <p:spPr>
          <a:xfrm>
            <a:off x="464479" y="1353788"/>
            <a:ext cx="5418161" cy="4190250"/>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The </a:t>
            </a:r>
            <a:r>
              <a:rPr lang="en-US" sz="2000" dirty="0" err="1">
                <a:latin typeface="Cambria" panose="02040503050406030204" pitchFamily="18" charset="0"/>
                <a:ea typeface="Cambria" panose="02040503050406030204" pitchFamily="18" charset="0"/>
              </a:rPr>
              <a:t>DevSecOps</a:t>
            </a:r>
            <a:r>
              <a:rPr lang="en-US" sz="2000" dirty="0">
                <a:latin typeface="Cambria" panose="02040503050406030204" pitchFamily="18" charset="0"/>
                <a:ea typeface="Cambria" panose="02040503050406030204" pitchFamily="18" charset="0"/>
              </a:rPr>
              <a:t> CI/CD architecture automates the software lifecycle where code pushed to GitHub triggers Jenkins for build, testing, and security scanning using SonarQube and OWASP ZAP/</a:t>
            </a:r>
            <a:r>
              <a:rPr lang="en-US" sz="2000" dirty="0" err="1">
                <a:latin typeface="Cambria" panose="02040503050406030204" pitchFamily="18" charset="0"/>
                <a:ea typeface="Cambria" panose="02040503050406030204" pitchFamily="18" charset="0"/>
              </a:rPr>
              <a:t>Trivy</a:t>
            </a:r>
            <a:r>
              <a:rPr lang="en-US" sz="2000" dirty="0">
                <a:latin typeface="Cambria" panose="02040503050406030204" pitchFamily="18" charset="0"/>
                <a:ea typeface="Cambria" panose="02040503050406030204" pitchFamily="18" charset="0"/>
              </a:rPr>
              <a:t>.</a:t>
            </a:r>
          </a:p>
          <a:p>
            <a:pPr marL="342900" indent="-34290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The application is then containerized with Docker, deployed using Kubernetes on cloud platforms (AWS/Azure), and continuously monitored using Prometheus and Grafana.</a:t>
            </a:r>
            <a:endParaRPr lang="en-IN" sz="2000" dirty="0">
              <a:latin typeface="Cambria" panose="02040503050406030204" pitchFamily="18" charset="0"/>
              <a:ea typeface="Cambria" panose="02040503050406030204" pitchFamily="18" charset="0"/>
            </a:endParaRPr>
          </a:p>
        </p:txBody>
      </p:sp>
      <p:sp>
        <p:nvSpPr>
          <p:cNvPr id="11" name="TextBox 10"/>
          <p:cNvSpPr txBox="1"/>
          <p:nvPr/>
        </p:nvSpPr>
        <p:spPr>
          <a:xfrm>
            <a:off x="7696200" y="4857540"/>
            <a:ext cx="3343404" cy="380682"/>
          </a:xfrm>
          <a:prstGeom prst="rect">
            <a:avLst/>
          </a:prstGeom>
          <a:noFill/>
        </p:spPr>
        <p:txBody>
          <a:bodyPr wrap="square" rtlCol="0">
            <a:spAutoFit/>
          </a:bodyPr>
          <a:lstStyle/>
          <a:p>
            <a:pPr>
              <a:lnSpc>
                <a:spcPct val="150000"/>
              </a:lnSpc>
            </a:pPr>
            <a:r>
              <a:rPr lang="en-US" sz="1400" b="1" dirty="0"/>
              <a:t>Fig.1 : </a:t>
            </a:r>
            <a:r>
              <a:rPr lang="en-US" sz="1400" b="1" dirty="0" err="1"/>
              <a:t>DevSecOps</a:t>
            </a:r>
            <a:r>
              <a:rPr lang="en-US" sz="1400" b="1" dirty="0"/>
              <a:t> CI/CD architecture</a:t>
            </a:r>
            <a:endParaRPr lang="en-IN" sz="1400" b="1"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819157BB-4224-AE02-A6FA-B80065D732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6000" y="1982175"/>
            <a:ext cx="5996908" cy="2654311"/>
          </a:xfrm>
          <a:prstGeom prst="rect">
            <a:avLst/>
          </a:prstGeom>
          <a:ln>
            <a:solidFill>
              <a:schemeClr val="tx1"/>
            </a:solidFill>
          </a:ln>
        </p:spPr>
      </p:pic>
    </p:spTree>
    <p:extLst>
      <p:ext uri="{BB962C8B-B14F-4D97-AF65-F5344CB8AC3E}">
        <p14:creationId xmlns:p14="http://schemas.microsoft.com/office/powerpoint/2010/main" val="4245285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12</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470246" y="182880"/>
            <a:ext cx="749262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Data Flow Diagram</a:t>
            </a:r>
            <a:endParaRPr lang="en-IN" sz="4000" b="1" dirty="0">
              <a:latin typeface="Cambria" panose="02040503050406030204" pitchFamily="18" charset="0"/>
              <a:ea typeface="Cambria" panose="02040503050406030204" pitchFamily="18" charset="0"/>
            </a:endParaRPr>
          </a:p>
        </p:txBody>
      </p:sp>
      <p:sp>
        <p:nvSpPr>
          <p:cNvPr id="7" name="TextBox 6"/>
          <p:cNvSpPr txBox="1"/>
          <p:nvPr/>
        </p:nvSpPr>
        <p:spPr>
          <a:xfrm>
            <a:off x="586853" y="1337480"/>
            <a:ext cx="10563368" cy="1938992"/>
          </a:xfrm>
          <a:prstGeom prst="rect">
            <a:avLst/>
          </a:prstGeom>
          <a:noFill/>
        </p:spPr>
        <p:txBody>
          <a:bodyPr wrap="square" rtlCol="0">
            <a:spAutoFit/>
          </a:bodyPr>
          <a:lstStyle/>
          <a:p>
            <a:pPr algn="just">
              <a:lnSpc>
                <a:spcPct val="150000"/>
              </a:lnSpc>
            </a:pPr>
            <a:r>
              <a:rPr lang="en-US" sz="2000" b="1" dirty="0">
                <a:latin typeface="Cambria" panose="02040503050406030204" pitchFamily="18" charset="0"/>
                <a:ea typeface="Cambria" panose="02040503050406030204" pitchFamily="18" charset="0"/>
              </a:rPr>
              <a:t>Definition:</a:t>
            </a:r>
          </a:p>
          <a:p>
            <a:pPr algn="just">
              <a:lnSpc>
                <a:spcPct val="150000"/>
              </a:lnSpc>
            </a:pPr>
            <a:r>
              <a:rPr lang="en-US" sz="2000" dirty="0">
                <a:latin typeface="Cambria" panose="02040503050406030204" pitchFamily="18" charset="0"/>
                <a:ea typeface="Cambria" panose="02040503050406030204" pitchFamily="18" charset="0"/>
              </a:rPr>
              <a:t>A Data Flow Diagram is a graphical representation that shows how data moves through a system. It illustrates the inputs, outputs, processes, and data stores within a system without showing control flow or timing.</a:t>
            </a:r>
          </a:p>
        </p:txBody>
      </p:sp>
    </p:spTree>
    <p:extLst>
      <p:ext uri="{BB962C8B-B14F-4D97-AF65-F5344CB8AC3E}">
        <p14:creationId xmlns:p14="http://schemas.microsoft.com/office/powerpoint/2010/main" val="1527851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13</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470246" y="182880"/>
            <a:ext cx="749262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Data Flow Diagram</a:t>
            </a:r>
            <a:endParaRPr lang="en-IN" sz="4000" b="1" dirty="0">
              <a:latin typeface="Cambria" panose="02040503050406030204" pitchFamily="18" charset="0"/>
              <a:ea typeface="Cambria" panose="02040503050406030204" pitchFamily="18" charset="0"/>
            </a:endParaRPr>
          </a:p>
        </p:txBody>
      </p:sp>
      <p:sp>
        <p:nvSpPr>
          <p:cNvPr id="7" name="TextBox 6"/>
          <p:cNvSpPr txBox="1"/>
          <p:nvPr/>
        </p:nvSpPr>
        <p:spPr>
          <a:xfrm>
            <a:off x="380999" y="1064525"/>
            <a:ext cx="11096767" cy="5170646"/>
          </a:xfrm>
          <a:prstGeom prst="rect">
            <a:avLst/>
          </a:prstGeom>
          <a:noFill/>
        </p:spPr>
        <p:txBody>
          <a:bodyPr wrap="square" rtlCol="0">
            <a:spAutoFit/>
          </a:bodyPr>
          <a:lstStyle/>
          <a:p>
            <a:pPr algn="just">
              <a:lnSpc>
                <a:spcPct val="150000"/>
              </a:lnSpc>
            </a:pPr>
            <a:r>
              <a:rPr lang="en-US" sz="2000" b="1" dirty="0">
                <a:latin typeface="Cambria" panose="02040503050406030204" pitchFamily="18" charset="0"/>
                <a:ea typeface="Cambria" panose="02040503050406030204" pitchFamily="18" charset="0"/>
              </a:rPr>
              <a:t>DFD Level 0 — Context Diagram</a:t>
            </a:r>
          </a:p>
          <a:p>
            <a:pPr algn="just">
              <a:lnSpc>
                <a:spcPct val="150000"/>
              </a:lnSpc>
            </a:pPr>
            <a:r>
              <a:rPr lang="en-US" sz="2000" dirty="0">
                <a:latin typeface="Cambria" panose="02040503050406030204" pitchFamily="18" charset="0"/>
                <a:ea typeface="Cambria" panose="02040503050406030204" pitchFamily="18" charset="0"/>
              </a:rPr>
              <a:t>The topmost level of DFD that represents the entire system as a single process. It shows how the system interacts with the outside world.</a:t>
            </a:r>
          </a:p>
          <a:p>
            <a:pPr algn="just">
              <a:lnSpc>
                <a:spcPct val="150000"/>
              </a:lnSpc>
            </a:pPr>
            <a:endParaRPr lang="en-US" sz="2000" dirty="0">
              <a:latin typeface="Cambria" panose="02040503050406030204" pitchFamily="18" charset="0"/>
              <a:ea typeface="Cambria" panose="02040503050406030204" pitchFamily="18" charset="0"/>
            </a:endParaRPr>
          </a:p>
          <a:p>
            <a:pPr algn="just">
              <a:lnSpc>
                <a:spcPct val="150000"/>
              </a:lnSpc>
            </a:pPr>
            <a:r>
              <a:rPr lang="en-US" sz="2000" b="1" dirty="0">
                <a:latin typeface="Cambria" panose="02040503050406030204" pitchFamily="18" charset="0"/>
                <a:ea typeface="Cambria" panose="02040503050406030204" pitchFamily="18" charset="0"/>
              </a:rPr>
              <a:t>DFD Level 1</a:t>
            </a:r>
          </a:p>
          <a:p>
            <a:pPr algn="just">
              <a:lnSpc>
                <a:spcPct val="150000"/>
              </a:lnSpc>
            </a:pPr>
            <a:r>
              <a:rPr lang="en-US" sz="2000" dirty="0">
                <a:latin typeface="Cambria" panose="02040503050406030204" pitchFamily="18" charset="0"/>
                <a:ea typeface="Cambria" panose="02040503050406030204" pitchFamily="18" charset="0"/>
              </a:rPr>
              <a:t>Level 1 breaks the single process of Level 0 into major sub-processes (main functions of the system). Data stores are introduced at this level.</a:t>
            </a:r>
          </a:p>
          <a:p>
            <a:pPr algn="just">
              <a:lnSpc>
                <a:spcPct val="150000"/>
              </a:lnSpc>
            </a:pPr>
            <a:endParaRPr lang="en-US" sz="2000" dirty="0">
              <a:latin typeface="Cambria" panose="02040503050406030204" pitchFamily="18" charset="0"/>
              <a:ea typeface="Cambria" panose="02040503050406030204" pitchFamily="18" charset="0"/>
            </a:endParaRPr>
          </a:p>
          <a:p>
            <a:pPr algn="just">
              <a:lnSpc>
                <a:spcPct val="150000"/>
              </a:lnSpc>
            </a:pPr>
            <a:r>
              <a:rPr lang="en-US" sz="2000" b="1" dirty="0">
                <a:latin typeface="Cambria" panose="02040503050406030204" pitchFamily="18" charset="0"/>
                <a:ea typeface="Cambria" panose="02040503050406030204" pitchFamily="18" charset="0"/>
              </a:rPr>
              <a:t>DFD Level 2</a:t>
            </a:r>
          </a:p>
          <a:p>
            <a:pPr algn="just">
              <a:lnSpc>
                <a:spcPct val="150000"/>
              </a:lnSpc>
            </a:pPr>
            <a:r>
              <a:rPr lang="en-US" sz="2000" dirty="0">
                <a:latin typeface="Cambria" panose="02040503050406030204" pitchFamily="18" charset="0"/>
                <a:ea typeface="Cambria" panose="02040503050406030204" pitchFamily="18" charset="0"/>
              </a:rPr>
              <a:t>Level 2 further decomposes each Level 1 process into detailed sub-processes. Each major process from Level 1 gets its own Level 2 DFD.</a:t>
            </a:r>
          </a:p>
        </p:txBody>
      </p:sp>
    </p:spTree>
    <p:extLst>
      <p:ext uri="{BB962C8B-B14F-4D97-AF65-F5344CB8AC3E}">
        <p14:creationId xmlns:p14="http://schemas.microsoft.com/office/powerpoint/2010/main" val="3624662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14</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470246" y="182880"/>
            <a:ext cx="7492620" cy="1200329"/>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Data Flow Diagram</a:t>
            </a:r>
          </a:p>
          <a:p>
            <a:pPr algn="ctr"/>
            <a:r>
              <a:rPr lang="en-US" sz="3200" b="1" dirty="0">
                <a:latin typeface="Cambria" panose="02040503050406030204" pitchFamily="18" charset="0"/>
                <a:ea typeface="Cambria" panose="02040503050406030204" pitchFamily="18" charset="0"/>
              </a:rPr>
              <a:t>Level 0 DFD</a:t>
            </a:r>
            <a:endParaRPr lang="en-IN" sz="3200" b="1" dirty="0">
              <a:latin typeface="Cambria" panose="02040503050406030204" pitchFamily="18" charset="0"/>
              <a:ea typeface="Cambria" panose="02040503050406030204" pitchFamily="18" charset="0"/>
            </a:endParaRPr>
          </a:p>
        </p:txBody>
      </p:sp>
      <p:pic>
        <p:nvPicPr>
          <p:cNvPr id="6" name="Picture 5">
            <a:extLst>
              <a:ext uri="{FF2B5EF4-FFF2-40B4-BE49-F238E27FC236}">
                <a16:creationId xmlns:a16="http://schemas.microsoft.com/office/drawing/2014/main" id="{0795D795-0615-9072-CD49-A5B5D2EB28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57854" y="1916927"/>
            <a:ext cx="5760720" cy="3840480"/>
          </a:xfrm>
          <a:prstGeom prst="rect">
            <a:avLst/>
          </a:prstGeom>
        </p:spPr>
      </p:pic>
      <p:sp>
        <p:nvSpPr>
          <p:cNvPr id="8" name="TextBox 7">
            <a:extLst>
              <a:ext uri="{FF2B5EF4-FFF2-40B4-BE49-F238E27FC236}">
                <a16:creationId xmlns:a16="http://schemas.microsoft.com/office/drawing/2014/main" id="{BD0AF618-5D44-414C-C3F6-6AA7D072D11F}"/>
              </a:ext>
            </a:extLst>
          </p:cNvPr>
          <p:cNvSpPr txBox="1"/>
          <p:nvPr/>
        </p:nvSpPr>
        <p:spPr>
          <a:xfrm>
            <a:off x="7752080" y="5886708"/>
            <a:ext cx="3128386" cy="380682"/>
          </a:xfrm>
          <a:prstGeom prst="rect">
            <a:avLst/>
          </a:prstGeom>
          <a:noFill/>
        </p:spPr>
        <p:txBody>
          <a:bodyPr wrap="square">
            <a:spAutoFit/>
          </a:bodyPr>
          <a:lstStyle/>
          <a:p>
            <a:pPr>
              <a:lnSpc>
                <a:spcPct val="150000"/>
              </a:lnSpc>
            </a:pPr>
            <a:r>
              <a:rPr lang="en-US" sz="1400" b="1" dirty="0"/>
              <a:t>Fig. 2.1 : DFD Level 0 </a:t>
            </a:r>
            <a:r>
              <a:rPr lang="en-US" sz="1400" b="1" dirty="0" err="1"/>
              <a:t>DevSecOps</a:t>
            </a:r>
            <a:r>
              <a:rPr lang="en-US" sz="1400" b="1" dirty="0"/>
              <a:t> CI/CD</a:t>
            </a:r>
            <a:endParaRPr lang="en-IN" sz="1400" b="1" dirty="0">
              <a:latin typeface="Cambria" panose="02040503050406030204" pitchFamily="18" charset="0"/>
              <a:ea typeface="Cambria" panose="02040503050406030204" pitchFamily="18" charset="0"/>
            </a:endParaRPr>
          </a:p>
        </p:txBody>
      </p:sp>
      <p:sp>
        <p:nvSpPr>
          <p:cNvPr id="9" name="TextBox 8">
            <a:extLst>
              <a:ext uri="{FF2B5EF4-FFF2-40B4-BE49-F238E27FC236}">
                <a16:creationId xmlns:a16="http://schemas.microsoft.com/office/drawing/2014/main" id="{41054D0D-9DF9-7888-522B-B8E5844FFB3D}"/>
              </a:ext>
            </a:extLst>
          </p:cNvPr>
          <p:cNvSpPr txBox="1"/>
          <p:nvPr/>
        </p:nvSpPr>
        <p:spPr>
          <a:xfrm>
            <a:off x="121920" y="2348464"/>
            <a:ext cx="6268720" cy="3266920"/>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The Level 0 DFD shows how the developer commits source code to the Secure DevOps CI/CD system, which processes it through code repository, security scanning, and deployment environment.</a:t>
            </a:r>
          </a:p>
          <a:p>
            <a:pPr marL="285750" indent="-28575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The system then performs security analysis and deployment while continuously monitoring logs and performance using Prometheus and Grafana.</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20958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15</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470246" y="182880"/>
            <a:ext cx="7492620" cy="1200329"/>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Data Flow Diagram</a:t>
            </a:r>
          </a:p>
          <a:p>
            <a:pPr algn="ctr"/>
            <a:r>
              <a:rPr lang="en-US" sz="3200" b="1" dirty="0">
                <a:latin typeface="Cambria" panose="02040503050406030204" pitchFamily="18" charset="0"/>
                <a:ea typeface="Cambria" panose="02040503050406030204" pitchFamily="18" charset="0"/>
              </a:rPr>
              <a:t>Level 1 DFD</a:t>
            </a:r>
            <a:endParaRPr lang="en-IN" sz="3200" b="1"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F00A0292-82DC-F607-3BB6-CEA231BEEB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28080" y="1757680"/>
            <a:ext cx="5402580" cy="3601720"/>
          </a:xfrm>
          <a:prstGeom prst="rect">
            <a:avLst/>
          </a:prstGeom>
        </p:spPr>
      </p:pic>
      <p:sp>
        <p:nvSpPr>
          <p:cNvPr id="9" name="TextBox 8">
            <a:extLst>
              <a:ext uri="{FF2B5EF4-FFF2-40B4-BE49-F238E27FC236}">
                <a16:creationId xmlns:a16="http://schemas.microsoft.com/office/drawing/2014/main" id="{1FAFC699-4E89-D47A-7B87-7B58480B8F4E}"/>
              </a:ext>
            </a:extLst>
          </p:cNvPr>
          <p:cNvSpPr txBox="1"/>
          <p:nvPr/>
        </p:nvSpPr>
        <p:spPr>
          <a:xfrm>
            <a:off x="111761" y="1757680"/>
            <a:ext cx="5984239" cy="372858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The Level 1 DFD breaks the Secure DevOps pipeline into four processes: Source Code Management, Build &amp; Test Automation, Security Scanning, and </a:t>
            </a:r>
            <a:r>
              <a:rPr lang="en-US" sz="2000" dirty="0" err="1">
                <a:latin typeface="Cambria" panose="02040503050406030204" pitchFamily="18" charset="0"/>
                <a:ea typeface="Cambria" panose="02040503050406030204" pitchFamily="18" charset="0"/>
              </a:rPr>
              <a:t>Dockerization</a:t>
            </a:r>
            <a:r>
              <a:rPr lang="en-US" sz="2000" dirty="0">
                <a:latin typeface="Cambria" panose="02040503050406030204" pitchFamily="18" charset="0"/>
                <a:ea typeface="Cambria" panose="02040503050406030204" pitchFamily="18" charset="0"/>
              </a:rPr>
              <a:t> &amp; Deployment.</a:t>
            </a:r>
          </a:p>
          <a:p>
            <a:pPr marL="285750" indent="-28575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Code from the developer is stored in the repository, tested and scanned for vulnerabilities, deployed as containers, and monitored using Prometheus and Grafana for logs and metrics.</a:t>
            </a:r>
            <a:endParaRPr lang="en-IN" sz="2000" dirty="0">
              <a:latin typeface="Cambria" panose="02040503050406030204" pitchFamily="18" charset="0"/>
              <a:ea typeface="Cambria" panose="02040503050406030204" pitchFamily="18" charset="0"/>
            </a:endParaRPr>
          </a:p>
        </p:txBody>
      </p:sp>
      <p:sp>
        <p:nvSpPr>
          <p:cNvPr id="12" name="TextBox 11">
            <a:extLst>
              <a:ext uri="{FF2B5EF4-FFF2-40B4-BE49-F238E27FC236}">
                <a16:creationId xmlns:a16="http://schemas.microsoft.com/office/drawing/2014/main" id="{A64CE9AB-19AA-1F7D-7472-800B167E775F}"/>
              </a:ext>
            </a:extLst>
          </p:cNvPr>
          <p:cNvSpPr txBox="1"/>
          <p:nvPr/>
        </p:nvSpPr>
        <p:spPr>
          <a:xfrm>
            <a:off x="7498974" y="5502333"/>
            <a:ext cx="4131686" cy="380682"/>
          </a:xfrm>
          <a:prstGeom prst="rect">
            <a:avLst/>
          </a:prstGeom>
          <a:noFill/>
        </p:spPr>
        <p:txBody>
          <a:bodyPr wrap="square">
            <a:spAutoFit/>
          </a:bodyPr>
          <a:lstStyle/>
          <a:p>
            <a:pPr>
              <a:lnSpc>
                <a:spcPct val="150000"/>
              </a:lnSpc>
            </a:pPr>
            <a:r>
              <a:rPr lang="en-US" sz="1400" b="1" dirty="0"/>
              <a:t>Fig. 2.2 : DFD Level 0 </a:t>
            </a:r>
            <a:r>
              <a:rPr lang="en-US" sz="1400" b="1" dirty="0" err="1"/>
              <a:t>DevSecOps</a:t>
            </a:r>
            <a:r>
              <a:rPr lang="en-US" sz="1400" b="1" dirty="0"/>
              <a:t> CI/CD</a:t>
            </a:r>
            <a:endParaRPr lang="en-IN" sz="14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33714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16</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470246" y="182880"/>
            <a:ext cx="7492620" cy="1200329"/>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Data Flow Diagram</a:t>
            </a:r>
          </a:p>
          <a:p>
            <a:pPr algn="ctr"/>
            <a:r>
              <a:rPr lang="en-US" sz="3200" b="1" dirty="0">
                <a:latin typeface="Cambria" panose="02040503050406030204" pitchFamily="18" charset="0"/>
                <a:ea typeface="Cambria" panose="02040503050406030204" pitchFamily="18" charset="0"/>
              </a:rPr>
              <a:t>Level 2 DFD</a:t>
            </a:r>
            <a:endParaRPr lang="en-IN" sz="3200" b="1"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7E48F0CE-B60A-6272-D2CD-F578473C3D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16556" y="1679335"/>
            <a:ext cx="5554980" cy="3703320"/>
          </a:xfrm>
          <a:prstGeom prst="rect">
            <a:avLst/>
          </a:prstGeom>
        </p:spPr>
      </p:pic>
      <p:sp>
        <p:nvSpPr>
          <p:cNvPr id="9" name="TextBox 8">
            <a:extLst>
              <a:ext uri="{FF2B5EF4-FFF2-40B4-BE49-F238E27FC236}">
                <a16:creationId xmlns:a16="http://schemas.microsoft.com/office/drawing/2014/main" id="{CAA9E747-7367-CDBC-68E3-1E4856DCEB2F}"/>
              </a:ext>
            </a:extLst>
          </p:cNvPr>
          <p:cNvSpPr txBox="1"/>
          <p:nvPr/>
        </p:nvSpPr>
        <p:spPr>
          <a:xfrm>
            <a:off x="260445" y="1865188"/>
            <a:ext cx="5715000" cy="3266920"/>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The Level 2 DFD details the Source Code Management process, where developers update the repository, manage versions, create pull requests, and review code changes.</a:t>
            </a:r>
          </a:p>
          <a:p>
            <a:pPr marL="285750" indent="-285750" algn="just">
              <a:lnSpc>
                <a:spcPct val="15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After review and approval, the code is merged and stored in the source code repository, making it ready for the CI/CD pipeline.</a:t>
            </a:r>
            <a:endParaRPr lang="en-IN" sz="2000" dirty="0">
              <a:latin typeface="Cambria" panose="02040503050406030204" pitchFamily="18" charset="0"/>
              <a:ea typeface="Cambria" panose="02040503050406030204" pitchFamily="18" charset="0"/>
            </a:endParaRPr>
          </a:p>
        </p:txBody>
      </p:sp>
      <p:sp>
        <p:nvSpPr>
          <p:cNvPr id="12" name="TextBox 11">
            <a:extLst>
              <a:ext uri="{FF2B5EF4-FFF2-40B4-BE49-F238E27FC236}">
                <a16:creationId xmlns:a16="http://schemas.microsoft.com/office/drawing/2014/main" id="{C75264F3-F62B-1711-9CB7-5E1DD59F5F6E}"/>
              </a:ext>
            </a:extLst>
          </p:cNvPr>
          <p:cNvSpPr txBox="1"/>
          <p:nvPr/>
        </p:nvSpPr>
        <p:spPr>
          <a:xfrm>
            <a:off x="7498974" y="5593773"/>
            <a:ext cx="3991986" cy="380682"/>
          </a:xfrm>
          <a:prstGeom prst="rect">
            <a:avLst/>
          </a:prstGeom>
          <a:noFill/>
        </p:spPr>
        <p:txBody>
          <a:bodyPr wrap="square">
            <a:spAutoFit/>
          </a:bodyPr>
          <a:lstStyle/>
          <a:p>
            <a:pPr>
              <a:lnSpc>
                <a:spcPct val="150000"/>
              </a:lnSpc>
            </a:pPr>
            <a:r>
              <a:rPr lang="en-US" sz="1400" b="1" dirty="0"/>
              <a:t>Fig. 2.3 : DFD Level 0 </a:t>
            </a:r>
            <a:r>
              <a:rPr lang="en-US" sz="1400" b="1" dirty="0" err="1"/>
              <a:t>DevSecOps</a:t>
            </a:r>
            <a:r>
              <a:rPr lang="en-US" sz="1400" b="1" dirty="0"/>
              <a:t> CI/CD</a:t>
            </a:r>
            <a:endParaRPr lang="en-IN" sz="14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56836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17</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470246" y="182880"/>
            <a:ext cx="749262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Requirements Specification</a:t>
            </a:r>
            <a:endParaRPr lang="en-IN" sz="4000" b="1" dirty="0">
              <a:latin typeface="Cambria" panose="02040503050406030204" pitchFamily="18" charset="0"/>
              <a:ea typeface="Cambria" panose="02040503050406030204" pitchFamily="18" charset="0"/>
            </a:endParaRPr>
          </a:p>
        </p:txBody>
      </p:sp>
      <p:sp>
        <p:nvSpPr>
          <p:cNvPr id="5" name="Rectangle 4"/>
          <p:cNvSpPr/>
          <p:nvPr/>
        </p:nvSpPr>
        <p:spPr>
          <a:xfrm>
            <a:off x="678195" y="1227061"/>
            <a:ext cx="10676741" cy="4339650"/>
          </a:xfrm>
          <a:prstGeom prst="rect">
            <a:avLst/>
          </a:prstGeom>
        </p:spPr>
        <p:txBody>
          <a:bodyPr wrap="square">
            <a:spAutoFit/>
          </a:bodyPr>
          <a:lstStyle/>
          <a:p>
            <a:pPr>
              <a:lnSpc>
                <a:spcPct val="150000"/>
              </a:lnSpc>
              <a:spcBef>
                <a:spcPts val="0"/>
              </a:spcBef>
            </a:pPr>
            <a:r>
              <a:rPr lang="en-US" sz="2400" b="1" dirty="0">
                <a:latin typeface="Cambria" panose="02040503050406030204" pitchFamily="18" charset="0"/>
                <a:ea typeface="Cambria" panose="02040503050406030204" pitchFamily="18" charset="0"/>
              </a:rPr>
              <a:t>Hardware Requirements</a:t>
            </a:r>
          </a:p>
          <a:p>
            <a:pPr>
              <a:lnSpc>
                <a:spcPct val="150000"/>
              </a:lnSpc>
            </a:pPr>
            <a:r>
              <a:rPr lang="en-IN" sz="2000" b="1" dirty="0">
                <a:latin typeface="Cambria" panose="02040503050406030204" pitchFamily="18" charset="0"/>
                <a:ea typeface="Cambria" panose="02040503050406030204" pitchFamily="18" charset="0"/>
              </a:rPr>
              <a:t>Minimum Hardware</a:t>
            </a:r>
          </a:p>
          <a:p>
            <a:pPr marL="285750" indent="-285750">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Processor: Intel i5 / AMD </a:t>
            </a:r>
            <a:r>
              <a:rPr lang="en-IN" dirty="0" err="1">
                <a:latin typeface="Cambria" panose="02040503050406030204" pitchFamily="18" charset="0"/>
                <a:ea typeface="Cambria" panose="02040503050406030204" pitchFamily="18" charset="0"/>
              </a:rPr>
              <a:t>Ryzen</a:t>
            </a:r>
            <a:r>
              <a:rPr lang="en-IN" dirty="0">
                <a:latin typeface="Cambria" panose="02040503050406030204" pitchFamily="18" charset="0"/>
                <a:ea typeface="Cambria" panose="02040503050406030204" pitchFamily="18" charset="0"/>
              </a:rPr>
              <a:t> 5</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RAM: 8 GB</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Storage: 256 GB SSD</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Internet connection (for GitHub, updates, plugins)</a:t>
            </a:r>
          </a:p>
          <a:p>
            <a:endParaRPr lang="en-IN" dirty="0">
              <a:latin typeface="Cambria" panose="02040503050406030204" pitchFamily="18" charset="0"/>
              <a:ea typeface="Cambria" panose="02040503050406030204" pitchFamily="18" charset="0"/>
            </a:endParaRPr>
          </a:p>
          <a:p>
            <a:pPr>
              <a:lnSpc>
                <a:spcPct val="150000"/>
              </a:lnSpc>
            </a:pPr>
            <a:r>
              <a:rPr lang="en-IN" sz="2000" b="1" dirty="0">
                <a:latin typeface="Cambria" panose="02040503050406030204" pitchFamily="18" charset="0"/>
                <a:ea typeface="Cambria" panose="02040503050406030204" pitchFamily="18" charset="0"/>
              </a:rPr>
              <a:t>Recommended Hardware</a:t>
            </a:r>
          </a:p>
          <a:p>
            <a:pPr marL="285750" indent="-285750">
              <a:lnSpc>
                <a:spcPct val="150000"/>
              </a:lnSpc>
              <a:buFont typeface="Arial" panose="020B0604020202020204" pitchFamily="34" charset="0"/>
              <a:buChar char="•"/>
            </a:pPr>
            <a:r>
              <a:rPr lang="en-IN" dirty="0">
                <a:latin typeface="Cambria" panose="02040503050406030204" pitchFamily="18" charset="0"/>
                <a:ea typeface="Cambria" panose="02040503050406030204" pitchFamily="18" charset="0"/>
              </a:rPr>
              <a:t>Processor: Intel i7 / AMD </a:t>
            </a:r>
            <a:r>
              <a:rPr lang="en-IN" dirty="0" err="1">
                <a:latin typeface="Cambria" panose="02040503050406030204" pitchFamily="18" charset="0"/>
                <a:ea typeface="Cambria" panose="02040503050406030204" pitchFamily="18" charset="0"/>
              </a:rPr>
              <a:t>Ryzen</a:t>
            </a:r>
            <a:r>
              <a:rPr lang="en-IN" dirty="0">
                <a:latin typeface="Cambria" panose="02040503050406030204" pitchFamily="18" charset="0"/>
                <a:ea typeface="Cambria" panose="02040503050406030204" pitchFamily="18" charset="0"/>
              </a:rPr>
              <a:t> 7</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RAM: 16 GB</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Storage: 512 GB SSD</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Virtualization support enabled (for Docker &amp; Jenkins)</a:t>
            </a: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84435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DC075-8C9D-5E78-3474-26E54DC56D3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71FF1A2-3D36-3212-6161-A8C1B0664349}"/>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0E6CBFBB-6DA9-0C2F-9972-578C6FBF86D8}"/>
              </a:ext>
            </a:extLst>
          </p:cNvPr>
          <p:cNvSpPr>
            <a:spLocks noGrp="1"/>
          </p:cNvSpPr>
          <p:nvPr>
            <p:ph type="sldNum" sz="quarter" idx="4"/>
          </p:nvPr>
        </p:nvSpPr>
        <p:spPr/>
        <p:txBody>
          <a:bodyPr/>
          <a:lstStyle/>
          <a:p>
            <a:fld id="{FFAE6D68-FB99-4243-9CC1-93FAA8C005BC}" type="slidenum">
              <a:rPr lang="en-IN" smtClean="0"/>
              <a:pPr/>
              <a:t>18</a:t>
            </a:fld>
            <a:endParaRPr lang="en-IN"/>
          </a:p>
        </p:txBody>
      </p:sp>
      <p:sp>
        <p:nvSpPr>
          <p:cNvPr id="4" name="TextBox 3">
            <a:extLst>
              <a:ext uri="{FF2B5EF4-FFF2-40B4-BE49-F238E27FC236}">
                <a16:creationId xmlns:a16="http://schemas.microsoft.com/office/drawing/2014/main" id="{F98C609B-A2E3-241F-436E-96331840B2A1}"/>
              </a:ext>
            </a:extLst>
          </p:cNvPr>
          <p:cNvSpPr txBox="1"/>
          <p:nvPr/>
        </p:nvSpPr>
        <p:spPr>
          <a:xfrm>
            <a:off x="2470246" y="182880"/>
            <a:ext cx="749262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Requirements Specification</a:t>
            </a:r>
            <a:endParaRPr lang="en-IN" sz="4000" b="1" dirty="0">
              <a:latin typeface="Cambria" panose="02040503050406030204" pitchFamily="18" charset="0"/>
              <a:ea typeface="Cambria" panose="02040503050406030204" pitchFamily="18" charset="0"/>
            </a:endParaRPr>
          </a:p>
        </p:txBody>
      </p:sp>
      <p:sp>
        <p:nvSpPr>
          <p:cNvPr id="5" name="Rectangle 4">
            <a:extLst>
              <a:ext uri="{FF2B5EF4-FFF2-40B4-BE49-F238E27FC236}">
                <a16:creationId xmlns:a16="http://schemas.microsoft.com/office/drawing/2014/main" id="{9D1B8E76-DB02-C536-ADB4-2070C0F35FCB}"/>
              </a:ext>
            </a:extLst>
          </p:cNvPr>
          <p:cNvSpPr/>
          <p:nvPr/>
        </p:nvSpPr>
        <p:spPr>
          <a:xfrm>
            <a:off x="586591" y="1226046"/>
            <a:ext cx="11219329" cy="4836580"/>
          </a:xfrm>
          <a:prstGeom prst="rect">
            <a:avLst/>
          </a:prstGeom>
        </p:spPr>
        <p:txBody>
          <a:bodyPr wrap="square">
            <a:spAutoFit/>
          </a:bodyPr>
          <a:lstStyle/>
          <a:p>
            <a:pPr>
              <a:lnSpc>
                <a:spcPct val="150000"/>
              </a:lnSpc>
            </a:pPr>
            <a:r>
              <a:rPr lang="en-US" sz="2800" b="1" dirty="0">
                <a:latin typeface="Cambria" panose="02040503050406030204" pitchFamily="18" charset="0"/>
                <a:ea typeface="Cambria" panose="02040503050406030204" pitchFamily="18" charset="0"/>
              </a:rPr>
              <a:t>Software Requirements</a:t>
            </a:r>
          </a:p>
          <a:p>
            <a:pPr marL="285750" indent="-285750">
              <a:lnSpc>
                <a:spcPct val="150000"/>
              </a:lnSpc>
              <a:buFont typeface="Arial" panose="020B0604020202020204" pitchFamily="34" charset="0"/>
              <a:buChar char="•"/>
            </a:pPr>
            <a:r>
              <a:rPr lang="en-IN" sz="2000" b="1" dirty="0">
                <a:latin typeface="Cambria" panose="02040503050406030204" pitchFamily="18" charset="0"/>
                <a:ea typeface="Cambria" panose="02040503050406030204" pitchFamily="18" charset="0"/>
              </a:rPr>
              <a:t>Operating System  :  Windows 11 </a:t>
            </a:r>
            <a:r>
              <a:rPr lang="en-IN" sz="2000" dirty="0">
                <a:latin typeface="Cambria" panose="02040503050406030204" pitchFamily="18" charset="0"/>
                <a:ea typeface="Cambria" panose="02040503050406030204" pitchFamily="18" charset="0"/>
              </a:rPr>
              <a:t>(64-bit)</a:t>
            </a:r>
          </a:p>
          <a:p>
            <a:pPr marL="285750" indent="-285750">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Git / GitHub</a:t>
            </a:r>
            <a:r>
              <a:rPr lang="en-US" sz="2000" dirty="0">
                <a:latin typeface="Cambria" panose="02040503050406030204" pitchFamily="18" charset="0"/>
                <a:ea typeface="Cambria" panose="02040503050406030204" pitchFamily="18" charset="0"/>
              </a:rPr>
              <a:t> – Version control and source code repository</a:t>
            </a:r>
          </a:p>
          <a:p>
            <a:pPr marL="285750" indent="-285750">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Jenkins</a:t>
            </a:r>
            <a:r>
              <a:rPr lang="en-US" sz="2000" dirty="0">
                <a:latin typeface="Cambria" panose="02040503050406030204" pitchFamily="18" charset="0"/>
                <a:ea typeface="Cambria" panose="02040503050406030204" pitchFamily="18" charset="0"/>
              </a:rPr>
              <a:t> – CI/CD automation tool for build and testing</a:t>
            </a:r>
          </a:p>
          <a:p>
            <a:pPr marL="285750" indent="-285750">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SonarQube – </a:t>
            </a:r>
            <a:r>
              <a:rPr lang="en-US" sz="2000" dirty="0">
                <a:latin typeface="Cambria" panose="02040503050406030204" pitchFamily="18" charset="0"/>
                <a:ea typeface="Cambria" panose="02040503050406030204" pitchFamily="18" charset="0"/>
              </a:rPr>
              <a:t>Static code analysis for vulnerability detection</a:t>
            </a:r>
          </a:p>
          <a:p>
            <a:pPr marL="285750" indent="-285750">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OWASP ZAP / </a:t>
            </a:r>
            <a:r>
              <a:rPr lang="en-US" sz="2000" b="1" dirty="0" err="1">
                <a:latin typeface="Cambria" panose="02040503050406030204" pitchFamily="18" charset="0"/>
                <a:ea typeface="Cambria" panose="02040503050406030204" pitchFamily="18" charset="0"/>
              </a:rPr>
              <a:t>Trivy</a:t>
            </a:r>
            <a:r>
              <a:rPr lang="en-US" sz="2000" b="1" dirty="0">
                <a:latin typeface="Cambria" panose="02040503050406030204" pitchFamily="18" charset="0"/>
                <a:ea typeface="Cambria" panose="02040503050406030204" pitchFamily="18" charset="0"/>
              </a:rPr>
              <a:t> – </a:t>
            </a:r>
            <a:r>
              <a:rPr lang="en-US" sz="2000" dirty="0">
                <a:latin typeface="Cambria" panose="02040503050406030204" pitchFamily="18" charset="0"/>
                <a:ea typeface="Cambria" panose="02040503050406030204" pitchFamily="18" charset="0"/>
              </a:rPr>
              <a:t>Security scanning tools</a:t>
            </a:r>
          </a:p>
          <a:p>
            <a:pPr marL="285750" indent="-285750">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Docker – </a:t>
            </a:r>
            <a:r>
              <a:rPr lang="en-US" sz="2000" dirty="0">
                <a:latin typeface="Cambria" panose="02040503050406030204" pitchFamily="18" charset="0"/>
                <a:ea typeface="Cambria" panose="02040503050406030204" pitchFamily="18" charset="0"/>
              </a:rPr>
              <a:t>Containerization platform for applications</a:t>
            </a:r>
          </a:p>
          <a:p>
            <a:pPr marL="285750" indent="-285750">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Kubernetes – </a:t>
            </a:r>
            <a:r>
              <a:rPr lang="en-US" sz="2000" dirty="0">
                <a:latin typeface="Cambria" panose="02040503050406030204" pitchFamily="18" charset="0"/>
                <a:ea typeface="Cambria" panose="02040503050406030204" pitchFamily="18" charset="0"/>
              </a:rPr>
              <a:t>Container orchestration for deployment</a:t>
            </a:r>
          </a:p>
          <a:p>
            <a:pPr marL="285750" indent="-285750">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Prometheus &amp; Grafana – </a:t>
            </a:r>
            <a:r>
              <a:rPr lang="en-US" sz="2000" dirty="0">
                <a:latin typeface="Cambria" panose="02040503050406030204" pitchFamily="18" charset="0"/>
                <a:ea typeface="Cambria" panose="02040503050406030204" pitchFamily="18" charset="0"/>
              </a:rPr>
              <a:t>Monitoring and logging tools</a:t>
            </a:r>
          </a:p>
          <a:p>
            <a:pPr marL="285750" indent="-285750">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AWS / Azure Cloud – </a:t>
            </a:r>
            <a:r>
              <a:rPr lang="en-US" sz="2000" dirty="0">
                <a:latin typeface="Cambria" panose="02040503050406030204" pitchFamily="18" charset="0"/>
                <a:ea typeface="Cambria" panose="02040503050406030204" pitchFamily="18" charset="0"/>
              </a:rPr>
              <a:t>Cloud platform for hosting and deployment</a:t>
            </a:r>
            <a:endParaRPr lang="en-US"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16997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7D9AB48-3ABE-BD51-A97E-C9AEC34C1251}"/>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FCA36763-3B51-4EE5-65AD-368929F546E5}"/>
              </a:ext>
            </a:extLst>
          </p:cNvPr>
          <p:cNvSpPr>
            <a:spLocks noGrp="1"/>
          </p:cNvSpPr>
          <p:nvPr>
            <p:ph type="sldNum" sz="quarter" idx="4"/>
          </p:nvPr>
        </p:nvSpPr>
        <p:spPr/>
        <p:txBody>
          <a:bodyPr/>
          <a:lstStyle/>
          <a:p>
            <a:fld id="{FFAE6D68-FB99-4243-9CC1-93FAA8C005BC}" type="slidenum">
              <a:rPr lang="en-IN" smtClean="0"/>
              <a:pPr/>
              <a:t>19</a:t>
            </a:fld>
            <a:endParaRPr lang="en-IN"/>
          </a:p>
        </p:txBody>
      </p:sp>
      <p:pic>
        <p:nvPicPr>
          <p:cNvPr id="5" name="Picture 4">
            <a:extLst>
              <a:ext uri="{FF2B5EF4-FFF2-40B4-BE49-F238E27FC236}">
                <a16:creationId xmlns:a16="http://schemas.microsoft.com/office/drawing/2014/main" id="{AEA48795-EFED-06EB-2F4A-4CDFA03655E6}"/>
              </a:ext>
            </a:extLst>
          </p:cNvPr>
          <p:cNvPicPr>
            <a:picLocks noChangeAspect="1"/>
          </p:cNvPicPr>
          <p:nvPr/>
        </p:nvPicPr>
        <p:blipFill>
          <a:blip r:embed="rId2"/>
          <a:stretch>
            <a:fillRect/>
          </a:stretch>
        </p:blipFill>
        <p:spPr>
          <a:xfrm>
            <a:off x="2635534" y="1280694"/>
            <a:ext cx="7241696" cy="4688922"/>
          </a:xfrm>
          <a:prstGeom prst="rect">
            <a:avLst/>
          </a:prstGeom>
        </p:spPr>
      </p:pic>
      <p:sp>
        <p:nvSpPr>
          <p:cNvPr id="6" name="TextBox 5">
            <a:extLst>
              <a:ext uri="{FF2B5EF4-FFF2-40B4-BE49-F238E27FC236}">
                <a16:creationId xmlns:a16="http://schemas.microsoft.com/office/drawing/2014/main" id="{BAF9A8C0-47AC-8EB6-02CD-612ABF55FB5A}"/>
              </a:ext>
            </a:extLst>
          </p:cNvPr>
          <p:cNvSpPr txBox="1"/>
          <p:nvPr/>
        </p:nvSpPr>
        <p:spPr>
          <a:xfrm>
            <a:off x="1992726" y="352547"/>
            <a:ext cx="7492620" cy="707886"/>
          </a:xfrm>
          <a:prstGeom prst="rect">
            <a:avLst/>
          </a:prstGeom>
          <a:noFill/>
        </p:spPr>
        <p:txBody>
          <a:bodyPr wrap="square" rtlCol="0">
            <a:spAutoFit/>
          </a:bodyPr>
          <a:lstStyle/>
          <a:p>
            <a:pPr algn="ctr">
              <a:lnSpc>
                <a:spcPct val="100000"/>
              </a:lnSpc>
              <a:spcBef>
                <a:spcPts val="0"/>
              </a:spcBef>
            </a:pPr>
            <a:r>
              <a:rPr lang="en-US" sz="4000" b="1" dirty="0">
                <a:latin typeface="Cambria" panose="02040503050406030204" pitchFamily="18" charset="0"/>
                <a:ea typeface="Cambria" panose="02040503050406030204" pitchFamily="18" charset="0"/>
              </a:rPr>
              <a:t>Implementation</a:t>
            </a:r>
          </a:p>
        </p:txBody>
      </p:sp>
    </p:spTree>
    <p:extLst>
      <p:ext uri="{BB962C8B-B14F-4D97-AF65-F5344CB8AC3E}">
        <p14:creationId xmlns:p14="http://schemas.microsoft.com/office/powerpoint/2010/main" val="3956735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AFF1052-556E-DFC2-865D-0A99286941C2}"/>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03059B43-775E-AD30-E3F6-3FD7F00FEE16}"/>
              </a:ext>
            </a:extLst>
          </p:cNvPr>
          <p:cNvSpPr>
            <a:spLocks noGrp="1"/>
          </p:cNvSpPr>
          <p:nvPr>
            <p:ph type="sldNum" sz="quarter" idx="4"/>
          </p:nvPr>
        </p:nvSpPr>
        <p:spPr/>
        <p:txBody>
          <a:bodyPr/>
          <a:lstStyle/>
          <a:p>
            <a:fld id="{FFAE6D68-FB99-4243-9CC1-93FAA8C005BC}" type="slidenum">
              <a:rPr lang="en-IN" smtClean="0"/>
              <a:pPr/>
              <a:t>20</a:t>
            </a:fld>
            <a:endParaRPr lang="en-IN"/>
          </a:p>
        </p:txBody>
      </p:sp>
      <p:sp>
        <p:nvSpPr>
          <p:cNvPr id="4" name="TextBox 3">
            <a:extLst>
              <a:ext uri="{FF2B5EF4-FFF2-40B4-BE49-F238E27FC236}">
                <a16:creationId xmlns:a16="http://schemas.microsoft.com/office/drawing/2014/main" id="{5F0CBEFB-A337-8B5D-223D-0B706777DD33}"/>
              </a:ext>
            </a:extLst>
          </p:cNvPr>
          <p:cNvSpPr txBox="1"/>
          <p:nvPr/>
        </p:nvSpPr>
        <p:spPr>
          <a:xfrm>
            <a:off x="2060814" y="272956"/>
            <a:ext cx="7492620" cy="707886"/>
          </a:xfrm>
          <a:prstGeom prst="rect">
            <a:avLst/>
          </a:prstGeom>
          <a:noFill/>
        </p:spPr>
        <p:txBody>
          <a:bodyPr wrap="square" rtlCol="0">
            <a:spAutoFit/>
          </a:bodyPr>
          <a:lstStyle/>
          <a:p>
            <a:pPr algn="ctr">
              <a:lnSpc>
                <a:spcPct val="100000"/>
              </a:lnSpc>
              <a:spcBef>
                <a:spcPts val="0"/>
              </a:spcBef>
            </a:pPr>
            <a:r>
              <a:rPr lang="en-US" sz="4000" b="1" dirty="0">
                <a:latin typeface="Cambria" panose="02040503050406030204" pitchFamily="18" charset="0"/>
                <a:ea typeface="Cambria" panose="02040503050406030204" pitchFamily="18" charset="0"/>
              </a:rPr>
              <a:t>Results and Discussion</a:t>
            </a:r>
          </a:p>
        </p:txBody>
      </p:sp>
      <p:pic>
        <p:nvPicPr>
          <p:cNvPr id="5" name="Picture 4">
            <a:extLst>
              <a:ext uri="{FF2B5EF4-FFF2-40B4-BE49-F238E27FC236}">
                <a16:creationId xmlns:a16="http://schemas.microsoft.com/office/drawing/2014/main" id="{76420684-C746-9461-B909-CF9E138BBF47}"/>
              </a:ext>
            </a:extLst>
          </p:cNvPr>
          <p:cNvPicPr>
            <a:picLocks noChangeAspect="1"/>
          </p:cNvPicPr>
          <p:nvPr/>
        </p:nvPicPr>
        <p:blipFill>
          <a:blip r:embed="rId2"/>
          <a:stretch>
            <a:fillRect/>
          </a:stretch>
        </p:blipFill>
        <p:spPr>
          <a:xfrm>
            <a:off x="1252853" y="1328621"/>
            <a:ext cx="8926611" cy="4200758"/>
          </a:xfrm>
          <a:prstGeom prst="rect">
            <a:avLst/>
          </a:prstGeom>
        </p:spPr>
      </p:pic>
      <p:pic>
        <p:nvPicPr>
          <p:cNvPr id="8" name="Picture 7">
            <a:extLst>
              <a:ext uri="{FF2B5EF4-FFF2-40B4-BE49-F238E27FC236}">
                <a16:creationId xmlns:a16="http://schemas.microsoft.com/office/drawing/2014/main" id="{299C24CE-80D5-EB4F-C91C-AC4F6D0FA6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2852" y="1328621"/>
            <a:ext cx="8926611" cy="4200758"/>
          </a:xfrm>
          <a:prstGeom prst="rect">
            <a:avLst/>
          </a:prstGeom>
        </p:spPr>
      </p:pic>
      <p:pic>
        <p:nvPicPr>
          <p:cNvPr id="10" name="Picture 9">
            <a:extLst>
              <a:ext uri="{FF2B5EF4-FFF2-40B4-BE49-F238E27FC236}">
                <a16:creationId xmlns:a16="http://schemas.microsoft.com/office/drawing/2014/main" id="{50E4DFEC-43D2-A13D-8367-2479D1D522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2852" y="1410013"/>
            <a:ext cx="8926611" cy="4119366"/>
          </a:xfrm>
          <a:prstGeom prst="rect">
            <a:avLst/>
          </a:prstGeom>
        </p:spPr>
      </p:pic>
      <p:pic>
        <p:nvPicPr>
          <p:cNvPr id="12" name="Picture 11">
            <a:extLst>
              <a:ext uri="{FF2B5EF4-FFF2-40B4-BE49-F238E27FC236}">
                <a16:creationId xmlns:a16="http://schemas.microsoft.com/office/drawing/2014/main" id="{0C550EFF-93B6-05D3-4E73-459CD74872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52851" y="1369317"/>
            <a:ext cx="8848517" cy="4200758"/>
          </a:xfrm>
          <a:prstGeom prst="rect">
            <a:avLst/>
          </a:prstGeom>
        </p:spPr>
      </p:pic>
    </p:spTree>
    <p:extLst>
      <p:ext uri="{BB962C8B-B14F-4D97-AF65-F5344CB8AC3E}">
        <p14:creationId xmlns:p14="http://schemas.microsoft.com/office/powerpoint/2010/main" val="3655083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4CC05-D997-7B93-3618-4ED1E9C337C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9E427FB-7A6E-4698-35A3-7C6AD79A8380}"/>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53286DC9-2551-F166-6EFB-AE16BFA6AD47}"/>
              </a:ext>
            </a:extLst>
          </p:cNvPr>
          <p:cNvSpPr>
            <a:spLocks noGrp="1"/>
          </p:cNvSpPr>
          <p:nvPr>
            <p:ph type="sldNum" sz="quarter" idx="4"/>
          </p:nvPr>
        </p:nvSpPr>
        <p:spPr/>
        <p:txBody>
          <a:bodyPr/>
          <a:lstStyle/>
          <a:p>
            <a:fld id="{FFAE6D68-FB99-4243-9CC1-93FAA8C005BC}" type="slidenum">
              <a:rPr lang="en-IN" smtClean="0"/>
              <a:pPr/>
              <a:t>21</a:t>
            </a:fld>
            <a:endParaRPr lang="en-IN"/>
          </a:p>
        </p:txBody>
      </p:sp>
      <p:sp>
        <p:nvSpPr>
          <p:cNvPr id="4" name="TextBox 3">
            <a:extLst>
              <a:ext uri="{FF2B5EF4-FFF2-40B4-BE49-F238E27FC236}">
                <a16:creationId xmlns:a16="http://schemas.microsoft.com/office/drawing/2014/main" id="{9EA53157-1BD4-4A11-F7F4-9297149E9CD0}"/>
              </a:ext>
            </a:extLst>
          </p:cNvPr>
          <p:cNvSpPr txBox="1"/>
          <p:nvPr/>
        </p:nvSpPr>
        <p:spPr>
          <a:xfrm>
            <a:off x="2798445" y="182880"/>
            <a:ext cx="6595110" cy="707886"/>
          </a:xfrm>
          <a:prstGeom prst="rect">
            <a:avLst/>
          </a:prstGeom>
          <a:noFill/>
        </p:spPr>
        <p:txBody>
          <a:bodyPr wrap="square" rtlCol="0">
            <a:spAutoFit/>
          </a:bodyPr>
          <a:lstStyle/>
          <a:p>
            <a:pPr>
              <a:lnSpc>
                <a:spcPct val="100000"/>
              </a:lnSpc>
              <a:spcBef>
                <a:spcPts val="0"/>
              </a:spcBef>
            </a:pPr>
            <a:r>
              <a:rPr lang="en-US" sz="4000" b="1" dirty="0">
                <a:latin typeface="Cambria" panose="02040503050406030204" pitchFamily="18" charset="0"/>
                <a:ea typeface="Cambria" panose="02040503050406030204" pitchFamily="18" charset="0"/>
              </a:rPr>
              <a:t>Plan of Action for Phase – II</a:t>
            </a:r>
          </a:p>
        </p:txBody>
      </p:sp>
      <p:sp>
        <p:nvSpPr>
          <p:cNvPr id="7" name="Rectangle 6">
            <a:extLst>
              <a:ext uri="{FF2B5EF4-FFF2-40B4-BE49-F238E27FC236}">
                <a16:creationId xmlns:a16="http://schemas.microsoft.com/office/drawing/2014/main" id="{5C6CA400-083E-3DB3-6090-7AE97C4C526E}"/>
              </a:ext>
            </a:extLst>
          </p:cNvPr>
          <p:cNvSpPr/>
          <p:nvPr/>
        </p:nvSpPr>
        <p:spPr>
          <a:xfrm>
            <a:off x="563880" y="982176"/>
            <a:ext cx="11430000" cy="3785652"/>
          </a:xfrm>
          <a:prstGeom prst="rect">
            <a:avLst/>
          </a:prstGeom>
        </p:spPr>
        <p:txBody>
          <a:bodyPr wrap="square">
            <a:spAutoFit/>
          </a:bodyPr>
          <a:lstStyle/>
          <a:p>
            <a:endParaRPr lang="en-US" sz="2000" b="1"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Integrate advanced </a:t>
            </a:r>
            <a:r>
              <a:rPr lang="en-US" sz="2000" dirty="0" err="1">
                <a:latin typeface="Cambria" panose="02040503050406030204" pitchFamily="18" charset="0"/>
                <a:ea typeface="Cambria" panose="02040503050406030204" pitchFamily="18" charset="0"/>
              </a:rPr>
              <a:t>DevSecOps</a:t>
            </a:r>
            <a:r>
              <a:rPr lang="en-US" sz="2000" dirty="0">
                <a:latin typeface="Cambria" panose="02040503050406030204" pitchFamily="18" charset="0"/>
                <a:ea typeface="Cambria" panose="02040503050406030204" pitchFamily="18" charset="0"/>
              </a:rPr>
              <a:t> tools such as Jenkins, SonarQube, OWASP ZAP, Prometheus, and Grafana.</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Automate CI/CD pipeline processes including build, testing, and deployment.</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Implement Static Application Security Testing (SAST) and Dynamic Application Security Testing (DAST).</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Add real-time monitoring, alert management, and performance analysis features.</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Deploy the application on cloud platforms like AWS or Azure for better scalability.</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Use Docker and Kubernetes for containerization and orchestration.</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Enhance the system with AI-based threat detection and automated vulnerability analysis.</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Improve overall automation, security, scalability, reliability, and continuous monitoring of the Secure DevOps pipeline.</a:t>
            </a:r>
          </a:p>
        </p:txBody>
      </p:sp>
    </p:spTree>
    <p:extLst>
      <p:ext uri="{BB962C8B-B14F-4D97-AF65-F5344CB8AC3E}">
        <p14:creationId xmlns:p14="http://schemas.microsoft.com/office/powerpoint/2010/main" val="2568296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21454-74CD-6DDD-C73C-122031D86EF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991078E-677E-04D3-34B0-6574706FB8BE}"/>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108BAB30-520D-0139-6B54-0C505C6FA432}"/>
              </a:ext>
            </a:extLst>
          </p:cNvPr>
          <p:cNvSpPr>
            <a:spLocks noGrp="1"/>
          </p:cNvSpPr>
          <p:nvPr>
            <p:ph type="sldNum" sz="quarter" idx="4"/>
          </p:nvPr>
        </p:nvSpPr>
        <p:spPr/>
        <p:txBody>
          <a:bodyPr/>
          <a:lstStyle/>
          <a:p>
            <a:fld id="{FFAE6D68-FB99-4243-9CC1-93FAA8C005BC}" type="slidenum">
              <a:rPr lang="en-IN" smtClean="0"/>
              <a:pPr/>
              <a:t>22</a:t>
            </a:fld>
            <a:endParaRPr lang="en-IN"/>
          </a:p>
        </p:txBody>
      </p:sp>
      <p:sp>
        <p:nvSpPr>
          <p:cNvPr id="5" name="TextBox 4">
            <a:extLst>
              <a:ext uri="{FF2B5EF4-FFF2-40B4-BE49-F238E27FC236}">
                <a16:creationId xmlns:a16="http://schemas.microsoft.com/office/drawing/2014/main" id="{83DC8A33-41CC-E66D-5806-A8B2007E6872}"/>
              </a:ext>
            </a:extLst>
          </p:cNvPr>
          <p:cNvSpPr txBox="1"/>
          <p:nvPr/>
        </p:nvSpPr>
        <p:spPr>
          <a:xfrm>
            <a:off x="2798445" y="182880"/>
            <a:ext cx="6595110" cy="707886"/>
          </a:xfrm>
          <a:prstGeom prst="rect">
            <a:avLst/>
          </a:prstGeom>
          <a:noFill/>
        </p:spPr>
        <p:txBody>
          <a:bodyPr wrap="square" rtlCol="0">
            <a:spAutoFit/>
          </a:bodyPr>
          <a:lstStyle/>
          <a:p>
            <a:pPr algn="ctr">
              <a:lnSpc>
                <a:spcPct val="100000"/>
              </a:lnSpc>
              <a:spcBef>
                <a:spcPts val="0"/>
              </a:spcBef>
            </a:pPr>
            <a:r>
              <a:rPr lang="en-US" sz="4000" b="1" dirty="0">
                <a:latin typeface="Cambria" panose="02040503050406030204" pitchFamily="18" charset="0"/>
                <a:ea typeface="Cambria" panose="02040503050406030204" pitchFamily="18" charset="0"/>
              </a:rPr>
              <a:t>Time Line for Phase - II</a:t>
            </a:r>
          </a:p>
        </p:txBody>
      </p:sp>
      <p:graphicFrame>
        <p:nvGraphicFramePr>
          <p:cNvPr id="8" name="Table 7">
            <a:extLst>
              <a:ext uri="{FF2B5EF4-FFF2-40B4-BE49-F238E27FC236}">
                <a16:creationId xmlns:a16="http://schemas.microsoft.com/office/drawing/2014/main" id="{0DDB0201-E0AA-F42D-3BD7-E1AC97E9E9AB}"/>
              </a:ext>
            </a:extLst>
          </p:cNvPr>
          <p:cNvGraphicFramePr>
            <a:graphicFrameLocks noGrp="1"/>
          </p:cNvGraphicFramePr>
          <p:nvPr>
            <p:extLst>
              <p:ext uri="{D42A27DB-BD31-4B8C-83A1-F6EECF244321}">
                <p14:modId xmlns:p14="http://schemas.microsoft.com/office/powerpoint/2010/main" val="2113649325"/>
              </p:ext>
            </p:extLst>
          </p:nvPr>
        </p:nvGraphicFramePr>
        <p:xfrm>
          <a:off x="106680" y="856972"/>
          <a:ext cx="11978640" cy="5476192"/>
        </p:xfrm>
        <a:graphic>
          <a:graphicData uri="http://schemas.openxmlformats.org/drawingml/2006/table">
            <a:tbl>
              <a:tblPr firstRow="1" bandRow="1">
                <a:tableStyleId>{6E25E649-3F16-4E02-A733-19D2CDBF48F0}</a:tableStyleId>
              </a:tblPr>
              <a:tblGrid>
                <a:gridCol w="3796206">
                  <a:extLst>
                    <a:ext uri="{9D8B030D-6E8A-4147-A177-3AD203B41FA5}">
                      <a16:colId xmlns:a16="http://schemas.microsoft.com/office/drawing/2014/main" val="295784956"/>
                    </a:ext>
                  </a:extLst>
                </a:gridCol>
                <a:gridCol w="8182434">
                  <a:extLst>
                    <a:ext uri="{9D8B030D-6E8A-4147-A177-3AD203B41FA5}">
                      <a16:colId xmlns:a16="http://schemas.microsoft.com/office/drawing/2014/main" val="1905354346"/>
                    </a:ext>
                  </a:extLst>
                </a:gridCol>
              </a:tblGrid>
              <a:tr h="513672">
                <a:tc>
                  <a:txBody>
                    <a:bodyPr/>
                    <a:lstStyle/>
                    <a:p>
                      <a:r>
                        <a:rPr lang="en-US" sz="2200" dirty="0">
                          <a:latin typeface="Cambria" panose="02040503050406030204" pitchFamily="18" charset="0"/>
                          <a:ea typeface="Cambria" panose="02040503050406030204" pitchFamily="18" charset="0"/>
                        </a:rPr>
                        <a:t>Week</a:t>
                      </a:r>
                      <a:endParaRPr lang="en-IN" sz="2200" dirty="0">
                        <a:latin typeface="Cambria" panose="02040503050406030204" pitchFamily="18" charset="0"/>
                        <a:ea typeface="Cambria" panose="02040503050406030204" pitchFamily="18" charset="0"/>
                      </a:endParaRPr>
                    </a:p>
                  </a:txBody>
                  <a:tcPr anchor="ctr"/>
                </a:tc>
                <a:tc>
                  <a:txBody>
                    <a:bodyPr/>
                    <a:lstStyle/>
                    <a:p>
                      <a:r>
                        <a:rPr lang="en-US" sz="2200" dirty="0">
                          <a:latin typeface="Cambria" panose="02040503050406030204" pitchFamily="18" charset="0"/>
                          <a:ea typeface="Cambria" panose="02040503050406030204" pitchFamily="18" charset="0"/>
                        </a:rPr>
                        <a:t>Description</a:t>
                      </a:r>
                      <a:endParaRPr lang="en-IN" sz="22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3666978112"/>
                  </a:ext>
                </a:extLst>
              </a:tr>
              <a:tr h="513672">
                <a:tc>
                  <a:txBody>
                    <a:bodyPr/>
                    <a:lstStyle/>
                    <a:p>
                      <a:r>
                        <a:rPr lang="en-US" sz="2200" dirty="0">
                          <a:latin typeface="Cambria" panose="02040503050406030204" pitchFamily="18" charset="0"/>
                          <a:ea typeface="Cambria" panose="02040503050406030204" pitchFamily="18" charset="0"/>
                        </a:rPr>
                        <a:t>July 2026:           Week 1</a:t>
                      </a:r>
                      <a:endParaRPr lang="en-IN" sz="2200" dirty="0">
                        <a:latin typeface="Cambria" panose="02040503050406030204" pitchFamily="18" charset="0"/>
                        <a:ea typeface="Cambria" panose="02040503050406030204" pitchFamily="18" charset="0"/>
                      </a:endParaRPr>
                    </a:p>
                  </a:txBody>
                  <a:tcPr anchor="ctr"/>
                </a:tc>
                <a:tc>
                  <a:txBody>
                    <a:bodyPr/>
                    <a:lstStyle/>
                    <a:p>
                      <a:r>
                        <a:rPr lang="en-IN" sz="2400" dirty="0"/>
                        <a:t>Secure DevOps setup and CI/CD configuration</a:t>
                      </a:r>
                      <a:endParaRPr lang="en-IN" sz="22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2183120440"/>
                  </a:ext>
                </a:extLst>
              </a:tr>
              <a:tr h="51367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Cambria" panose="02040503050406030204" pitchFamily="18" charset="0"/>
                          <a:ea typeface="Cambria" panose="02040503050406030204" pitchFamily="18" charset="0"/>
                        </a:rPr>
                        <a:t>July 2026:           Week 2</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Integration of </a:t>
                      </a:r>
                      <a:r>
                        <a:rPr lang="en-US" sz="2400" dirty="0" err="1"/>
                        <a:t>DevSecOps</a:t>
                      </a:r>
                      <a:r>
                        <a:rPr lang="en-US" sz="2400" dirty="0"/>
                        <a:t> tools such as Jenkins, SonarQube, and OWASP ZAP</a:t>
                      </a:r>
                      <a:endParaRPr lang="en-IN" sz="22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3536965470"/>
                  </a:ext>
                </a:extLst>
              </a:tr>
              <a:tr h="5438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Cambria" panose="02040503050406030204" pitchFamily="18" charset="0"/>
                          <a:ea typeface="Cambria" panose="02040503050406030204" pitchFamily="18" charset="0"/>
                        </a:rPr>
                        <a:t>July 2026:           Week 3</a:t>
                      </a:r>
                      <a:endParaRPr lang="en-IN" sz="2200" dirty="0">
                        <a:latin typeface="Cambria" panose="02040503050406030204" pitchFamily="18" charset="0"/>
                        <a:ea typeface="Cambria" panose="02040503050406030204" pitchFamily="18" charset="0"/>
                      </a:endParaRPr>
                    </a:p>
                  </a:txBody>
                  <a:tcPr anchor="ctr"/>
                </a:tc>
                <a:tc>
                  <a:txBody>
                    <a:bodyPr/>
                    <a:lstStyle/>
                    <a:p>
                      <a:r>
                        <a:rPr lang="en-US" sz="2400" dirty="0"/>
                        <a:t>Automated security scanning and vulnerability testing</a:t>
                      </a:r>
                    </a:p>
                  </a:txBody>
                  <a:tcPr anchor="ctr"/>
                </a:tc>
                <a:extLst>
                  <a:ext uri="{0D108BD9-81ED-4DB2-BD59-A6C34878D82A}">
                    <a16:rowId xmlns:a16="http://schemas.microsoft.com/office/drawing/2014/main" val="2693487948"/>
                  </a:ext>
                </a:extLst>
              </a:tr>
              <a:tr h="51367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Cambria" panose="02040503050406030204" pitchFamily="18" charset="0"/>
                          <a:ea typeface="Cambria" panose="02040503050406030204" pitchFamily="18" charset="0"/>
                        </a:rPr>
                        <a:t>July 2026:           Week 4</a:t>
                      </a:r>
                      <a:endParaRPr lang="en-IN" sz="2200" dirty="0">
                        <a:latin typeface="Cambria" panose="02040503050406030204" pitchFamily="18" charset="0"/>
                        <a:ea typeface="Cambria" panose="02040503050406030204" pitchFamily="18" charset="0"/>
                      </a:endParaRPr>
                    </a:p>
                  </a:txBody>
                  <a:tcPr anchor="ctr"/>
                </a:tc>
                <a:tc>
                  <a:txBody>
                    <a:bodyPr/>
                    <a:lstStyle/>
                    <a:p>
                      <a:r>
                        <a:rPr lang="en-US" sz="2400" dirty="0"/>
                        <a:t>Pipeline integration testing and validation</a:t>
                      </a:r>
                    </a:p>
                  </a:txBody>
                  <a:tcPr anchor="ctr"/>
                </a:tc>
                <a:extLst>
                  <a:ext uri="{0D108BD9-81ED-4DB2-BD59-A6C34878D82A}">
                    <a16:rowId xmlns:a16="http://schemas.microsoft.com/office/drawing/2014/main" val="278900492"/>
                  </a:ext>
                </a:extLst>
              </a:tr>
              <a:tr h="51367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Cambria" panose="02040503050406030204" pitchFamily="18" charset="0"/>
                          <a:ea typeface="Cambria" panose="02040503050406030204" pitchFamily="18" charset="0"/>
                        </a:rPr>
                        <a:t>August 2026:     Week</a:t>
                      </a:r>
                      <a:r>
                        <a:rPr lang="en-US" sz="2200" baseline="0" dirty="0">
                          <a:latin typeface="Cambria" panose="02040503050406030204" pitchFamily="18" charset="0"/>
                          <a:ea typeface="Cambria" panose="02040503050406030204" pitchFamily="18" charset="0"/>
                        </a:rPr>
                        <a:t> </a:t>
                      </a:r>
                      <a:r>
                        <a:rPr lang="en-IN" sz="2200" baseline="0" dirty="0">
                          <a:latin typeface="Cambria" panose="02040503050406030204" pitchFamily="18" charset="0"/>
                          <a:ea typeface="Cambria" panose="02040503050406030204" pitchFamily="18" charset="0"/>
                        </a:rPr>
                        <a:t>5</a:t>
                      </a:r>
                      <a:endParaRPr lang="en-IN" sz="2200" dirty="0">
                        <a:latin typeface="Cambria" panose="02040503050406030204" pitchFamily="18" charset="0"/>
                        <a:ea typeface="Cambria" panose="02040503050406030204" pitchFamily="18" charset="0"/>
                      </a:endParaRPr>
                    </a:p>
                  </a:txBody>
                  <a:tcPr anchor="ctr"/>
                </a:tc>
                <a:tc>
                  <a:txBody>
                    <a:bodyPr/>
                    <a:lstStyle/>
                    <a:p>
                      <a:r>
                        <a:rPr lang="en-US" sz="2400" dirty="0"/>
                        <a:t>Performance monitoring setup using Prometheus and Grafana</a:t>
                      </a:r>
                      <a:endParaRPr lang="en-IN" sz="22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29769606"/>
                  </a:ext>
                </a:extLst>
              </a:tr>
              <a:tr h="51367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Cambria" panose="02040503050406030204" pitchFamily="18" charset="0"/>
                          <a:ea typeface="Cambria" panose="02040503050406030204" pitchFamily="18" charset="0"/>
                        </a:rPr>
                        <a:t>August 2026:     Week</a:t>
                      </a:r>
                      <a:r>
                        <a:rPr lang="en-US" sz="2200" baseline="0" dirty="0">
                          <a:latin typeface="Cambria" panose="02040503050406030204" pitchFamily="18" charset="0"/>
                          <a:ea typeface="Cambria" panose="02040503050406030204" pitchFamily="18" charset="0"/>
                        </a:rPr>
                        <a:t> </a:t>
                      </a:r>
                      <a:r>
                        <a:rPr lang="en-IN" sz="2200" baseline="0" dirty="0">
                          <a:latin typeface="Cambria" panose="02040503050406030204" pitchFamily="18" charset="0"/>
                          <a:ea typeface="Cambria" panose="02040503050406030204" pitchFamily="18" charset="0"/>
                        </a:rPr>
                        <a:t>6</a:t>
                      </a:r>
                      <a:endParaRPr lang="en-IN" sz="2200" dirty="0">
                        <a:latin typeface="Cambria" panose="02040503050406030204" pitchFamily="18" charset="0"/>
                        <a:ea typeface="Cambria" panose="02040503050406030204" pitchFamily="18" charset="0"/>
                      </a:endParaRPr>
                    </a:p>
                  </a:txBody>
                  <a:tcPr anchor="ctr"/>
                </a:tc>
                <a:tc>
                  <a:txBody>
                    <a:bodyPr/>
                    <a:lstStyle/>
                    <a:p>
                      <a:r>
                        <a:rPr lang="en-US" sz="2200" dirty="0">
                          <a:latin typeface="Cambria" panose="02040503050406030204" pitchFamily="18" charset="0"/>
                          <a:ea typeface="Cambria" panose="02040503050406030204" pitchFamily="18" charset="0"/>
                        </a:rPr>
                        <a:t>Final documentation and report preparation</a:t>
                      </a:r>
                      <a:endParaRPr lang="en-IN" sz="22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2341452696"/>
                  </a:ext>
                </a:extLst>
              </a:tr>
              <a:tr h="513672">
                <a:tc>
                  <a:txBody>
                    <a:bodyPr/>
                    <a:lstStyle/>
                    <a:p>
                      <a:r>
                        <a:rPr lang="en-US" sz="2200" dirty="0">
                          <a:latin typeface="Cambria" panose="02040503050406030204" pitchFamily="18" charset="0"/>
                          <a:ea typeface="Cambria" panose="02040503050406030204" pitchFamily="18" charset="0"/>
                        </a:rPr>
                        <a:t>August 2026           …….</a:t>
                      </a:r>
                      <a:endParaRPr lang="en-IN" sz="2200" dirty="0">
                        <a:latin typeface="Cambria" panose="02040503050406030204" pitchFamily="18" charset="0"/>
                        <a:ea typeface="Cambria" panose="02040503050406030204" pitchFamily="18" charset="0"/>
                      </a:endParaRPr>
                    </a:p>
                  </a:txBody>
                  <a:tcPr anchor="ctr"/>
                </a:tc>
                <a:tc>
                  <a:txBody>
                    <a:bodyPr/>
                    <a:lstStyle/>
                    <a:p>
                      <a:r>
                        <a:rPr lang="en-US" sz="2200" dirty="0">
                          <a:latin typeface="Cambria" panose="02040503050406030204" pitchFamily="18" charset="0"/>
                          <a:ea typeface="Cambria" panose="02040503050406030204" pitchFamily="18" charset="0"/>
                        </a:rPr>
                        <a:t>Submission of manuscript to an Indexed Journal</a:t>
                      </a:r>
                      <a:endParaRPr lang="en-IN" sz="22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1658074521"/>
                  </a:ext>
                </a:extLst>
              </a:tr>
              <a:tr h="513672">
                <a:tc>
                  <a:txBody>
                    <a:bodyPr/>
                    <a:lstStyle/>
                    <a:p>
                      <a:r>
                        <a:rPr lang="en-US" sz="2200" dirty="0">
                          <a:latin typeface="Cambria" panose="02040503050406030204" pitchFamily="18" charset="0"/>
                          <a:ea typeface="Cambria" panose="02040503050406030204" pitchFamily="18" charset="0"/>
                        </a:rPr>
                        <a:t>September 2026    …….</a:t>
                      </a:r>
                      <a:endParaRPr lang="en-IN" sz="2200" dirty="0">
                        <a:latin typeface="Cambria" panose="02040503050406030204" pitchFamily="18" charset="0"/>
                        <a:ea typeface="Cambria" panose="02040503050406030204" pitchFamily="18" charset="0"/>
                      </a:endParaRPr>
                    </a:p>
                  </a:txBody>
                  <a:tcPr anchor="ctr"/>
                </a:tc>
                <a:tc>
                  <a:txBody>
                    <a:bodyPr/>
                    <a:lstStyle/>
                    <a:p>
                      <a:r>
                        <a:rPr lang="en-IN" sz="2200" kern="1200" dirty="0">
                          <a:solidFill>
                            <a:schemeClr val="dk1"/>
                          </a:solidFill>
                          <a:latin typeface="Cambria" panose="02040503050406030204" pitchFamily="18" charset="0"/>
                          <a:ea typeface="Cambria" panose="02040503050406030204" pitchFamily="18" charset="0"/>
                          <a:cs typeface="+mn-cs"/>
                        </a:rPr>
                        <a:t>Processing of submitted manuscript</a:t>
                      </a:r>
                    </a:p>
                  </a:txBody>
                  <a:tcPr anchor="ctr"/>
                </a:tc>
                <a:extLst>
                  <a:ext uri="{0D108BD9-81ED-4DB2-BD59-A6C34878D82A}">
                    <a16:rowId xmlns:a16="http://schemas.microsoft.com/office/drawing/2014/main" val="297968034"/>
                  </a:ext>
                </a:extLst>
              </a:tr>
              <a:tr h="513672">
                <a:tc>
                  <a:txBody>
                    <a:bodyPr/>
                    <a:lstStyle/>
                    <a:p>
                      <a:r>
                        <a:rPr lang="en-US" sz="2200" dirty="0">
                          <a:latin typeface="Cambria" panose="02040503050406030204" pitchFamily="18" charset="0"/>
                          <a:ea typeface="Cambria" panose="02040503050406030204" pitchFamily="18" charset="0"/>
                        </a:rPr>
                        <a:t>October 2026          …….</a:t>
                      </a:r>
                      <a:endParaRPr lang="en-IN" sz="2200" dirty="0">
                        <a:latin typeface="Cambria" panose="02040503050406030204" pitchFamily="18" charset="0"/>
                        <a:ea typeface="Cambria" panose="02040503050406030204" pitchFamily="18" charset="0"/>
                      </a:endParaRPr>
                    </a:p>
                  </a:txBody>
                  <a:tcPr anchor="ctr"/>
                </a:tc>
                <a:tc>
                  <a:txBody>
                    <a:bodyPr/>
                    <a:lstStyle/>
                    <a:p>
                      <a:r>
                        <a:rPr lang="en-US" sz="2200" kern="1200" dirty="0">
                          <a:solidFill>
                            <a:schemeClr val="dk1"/>
                          </a:solidFill>
                          <a:latin typeface="Cambria" panose="02040503050406030204" pitchFamily="18" charset="0"/>
                          <a:ea typeface="Cambria" panose="02040503050406030204" pitchFamily="18" charset="0"/>
                          <a:cs typeface="+mn-cs"/>
                        </a:rPr>
                        <a:t>Journal review outcome and publication process completion</a:t>
                      </a:r>
                      <a:endParaRPr lang="en-IN" sz="2200" kern="1200" dirty="0">
                        <a:solidFill>
                          <a:schemeClr val="dk1"/>
                        </a:solidFill>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2824582192"/>
                  </a:ext>
                </a:extLst>
              </a:tr>
            </a:tbl>
          </a:graphicData>
        </a:graphic>
      </p:graphicFrame>
    </p:spTree>
    <p:extLst>
      <p:ext uri="{BB962C8B-B14F-4D97-AF65-F5344CB8AC3E}">
        <p14:creationId xmlns:p14="http://schemas.microsoft.com/office/powerpoint/2010/main" val="2376091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D4790-BCAA-3FB1-BAC4-4F4A81A55A6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0C8552B-7890-2055-BF4B-9B38E154BE44}"/>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041839BF-FAD9-8298-F9A7-D3F21351F985}"/>
              </a:ext>
            </a:extLst>
          </p:cNvPr>
          <p:cNvSpPr>
            <a:spLocks noGrp="1"/>
          </p:cNvSpPr>
          <p:nvPr>
            <p:ph type="sldNum" sz="quarter" idx="4"/>
          </p:nvPr>
        </p:nvSpPr>
        <p:spPr/>
        <p:txBody>
          <a:bodyPr/>
          <a:lstStyle/>
          <a:p>
            <a:fld id="{FFAE6D68-FB99-4243-9CC1-93FAA8C005BC}" type="slidenum">
              <a:rPr lang="en-IN" smtClean="0"/>
              <a:pPr/>
              <a:t>23</a:t>
            </a:fld>
            <a:endParaRPr lang="en-IN"/>
          </a:p>
        </p:txBody>
      </p:sp>
      <p:pic>
        <p:nvPicPr>
          <p:cNvPr id="6" name="Picture 5">
            <a:extLst>
              <a:ext uri="{FF2B5EF4-FFF2-40B4-BE49-F238E27FC236}">
                <a16:creationId xmlns:a16="http://schemas.microsoft.com/office/drawing/2014/main" id="{55CF9B43-4F46-76BF-04AA-21F4A182D000}"/>
              </a:ext>
            </a:extLst>
          </p:cNvPr>
          <p:cNvPicPr>
            <a:picLocks noChangeAspect="1"/>
          </p:cNvPicPr>
          <p:nvPr/>
        </p:nvPicPr>
        <p:blipFill>
          <a:blip r:embed="rId2"/>
          <a:stretch>
            <a:fillRect/>
          </a:stretch>
        </p:blipFill>
        <p:spPr>
          <a:xfrm>
            <a:off x="630556" y="792480"/>
            <a:ext cx="10641555" cy="4480655"/>
          </a:xfrm>
          <a:prstGeom prst="rect">
            <a:avLst/>
          </a:prstGeom>
        </p:spPr>
      </p:pic>
    </p:spTree>
    <p:extLst>
      <p:ext uri="{BB962C8B-B14F-4D97-AF65-F5344CB8AC3E}">
        <p14:creationId xmlns:p14="http://schemas.microsoft.com/office/powerpoint/2010/main" val="3699362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24</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98445" y="18288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Conclusion</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A71D121C-764E-8C3D-FB14-0491DCF40374}"/>
              </a:ext>
            </a:extLst>
          </p:cNvPr>
          <p:cNvSpPr txBox="1"/>
          <p:nvPr/>
        </p:nvSpPr>
        <p:spPr>
          <a:xfrm>
            <a:off x="619760" y="1270000"/>
            <a:ext cx="10088880" cy="317009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2000" dirty="0">
                <a:latin typeface="Cambria" panose="02040503050406030204" pitchFamily="18" charset="0"/>
                <a:ea typeface="Cambria" panose="02040503050406030204" pitchFamily="18" charset="0"/>
              </a:rPr>
              <a:t>The proposed </a:t>
            </a:r>
            <a:r>
              <a:rPr lang="en-IN" sz="2000" b="1" dirty="0">
                <a:latin typeface="Cambria" panose="02040503050406030204" pitchFamily="18" charset="0"/>
                <a:ea typeface="Cambria" panose="02040503050406030204" pitchFamily="18" charset="0"/>
              </a:rPr>
              <a:t>Secure </a:t>
            </a:r>
            <a:r>
              <a:rPr lang="en-IN" sz="2000" b="1" dirty="0" err="1">
                <a:latin typeface="Cambria" panose="02040503050406030204" pitchFamily="18" charset="0"/>
                <a:ea typeface="Cambria" panose="02040503050406030204" pitchFamily="18" charset="0"/>
              </a:rPr>
              <a:t>DevSecOps</a:t>
            </a:r>
            <a:r>
              <a:rPr lang="en-IN" sz="2000" b="1" dirty="0">
                <a:latin typeface="Cambria" panose="02040503050406030204" pitchFamily="18" charset="0"/>
                <a:ea typeface="Cambria" panose="02040503050406030204" pitchFamily="18" charset="0"/>
              </a:rPr>
              <a:t> CI/CD pipeline</a:t>
            </a:r>
            <a:r>
              <a:rPr lang="en-IN" sz="2000" dirty="0">
                <a:latin typeface="Cambria" panose="02040503050406030204" pitchFamily="18" charset="0"/>
                <a:ea typeface="Cambria" panose="02040503050406030204" pitchFamily="18" charset="0"/>
              </a:rPr>
              <a:t> integrates development, security testing, automated deployment, and monitoring into a single workflow.</a:t>
            </a:r>
          </a:p>
          <a:p>
            <a:pPr marL="285750" indent="-285750">
              <a:lnSpc>
                <a:spcPct val="150000"/>
              </a:lnSpc>
              <a:buFont typeface="Arial" panose="020B0604020202020204" pitchFamily="34" charset="0"/>
              <a:buChar char="•"/>
            </a:pPr>
            <a:r>
              <a:rPr lang="en-IN" sz="2000" dirty="0">
                <a:latin typeface="Cambria" panose="02040503050406030204" pitchFamily="18" charset="0"/>
                <a:ea typeface="Cambria" panose="02040503050406030204" pitchFamily="18" charset="0"/>
              </a:rPr>
              <a:t>By using tools like </a:t>
            </a:r>
            <a:r>
              <a:rPr lang="en-IN" sz="2000" b="1" dirty="0">
                <a:latin typeface="Cambria" panose="02040503050406030204" pitchFamily="18" charset="0"/>
                <a:ea typeface="Cambria" panose="02040503050406030204" pitchFamily="18" charset="0"/>
              </a:rPr>
              <a:t>Jenkins, SonarQube, OWASP ZAP, Docker, and Kubernetes</a:t>
            </a:r>
            <a:r>
              <a:rPr lang="en-IN" sz="2000" dirty="0">
                <a:latin typeface="Cambria" panose="02040503050406030204" pitchFamily="18" charset="0"/>
                <a:ea typeface="Cambria" panose="02040503050406030204" pitchFamily="18" charset="0"/>
              </a:rPr>
              <a:t>, the system improves software security, deployment speed, and reliability.</a:t>
            </a:r>
          </a:p>
          <a:p>
            <a:pPr marL="285750" indent="-285750">
              <a:lnSpc>
                <a:spcPct val="150000"/>
              </a:lnSpc>
              <a:buFont typeface="Arial" panose="020B0604020202020204" pitchFamily="34" charset="0"/>
              <a:buChar char="•"/>
            </a:pPr>
            <a:r>
              <a:rPr lang="en-IN" sz="2000" dirty="0">
                <a:latin typeface="Cambria" panose="02040503050406030204" pitchFamily="18" charset="0"/>
                <a:ea typeface="Cambria" panose="02040503050406030204" pitchFamily="18" charset="0"/>
              </a:rPr>
              <a:t>Continuous monitoring with </a:t>
            </a:r>
            <a:r>
              <a:rPr lang="en-IN" sz="2000" b="1" dirty="0">
                <a:latin typeface="Cambria" panose="02040503050406030204" pitchFamily="18" charset="0"/>
                <a:ea typeface="Cambria" panose="02040503050406030204" pitchFamily="18" charset="0"/>
              </a:rPr>
              <a:t>Prometheus and Grafana</a:t>
            </a:r>
            <a:r>
              <a:rPr lang="en-IN" sz="2000" dirty="0">
                <a:latin typeface="Cambria" panose="02040503050406030204" pitchFamily="18" charset="0"/>
                <a:ea typeface="Cambria" panose="02040503050406030204" pitchFamily="18" charset="0"/>
              </a:rPr>
              <a:t> ensures better performance, quick issue detection, and secure application delivery.</a:t>
            </a:r>
          </a:p>
          <a:p>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12003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25</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98445" y="207637"/>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References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55BEC630-6F30-942B-AE77-8AB365B0B80F}"/>
              </a:ext>
            </a:extLst>
          </p:cNvPr>
          <p:cNvSpPr txBox="1"/>
          <p:nvPr/>
        </p:nvSpPr>
        <p:spPr>
          <a:xfrm>
            <a:off x="0" y="915523"/>
            <a:ext cx="12029440" cy="5026954"/>
          </a:xfrm>
          <a:prstGeom prst="rect">
            <a:avLst/>
          </a:prstGeom>
          <a:noFill/>
        </p:spPr>
        <p:txBody>
          <a:bodyPr wrap="square">
            <a:spAutoFit/>
          </a:bodyPr>
          <a:lstStyle/>
          <a:p>
            <a:pPr algn="just">
              <a:lnSpc>
                <a:spcPct val="150000"/>
              </a:lnSpc>
            </a:pPr>
            <a:r>
              <a:rPr lang="en-IN" b="1" dirty="0">
                <a:latin typeface="Cambria" panose="02040503050406030204" pitchFamily="18" charset="0"/>
                <a:ea typeface="Cambria" panose="02040503050406030204" pitchFamily="18" charset="0"/>
              </a:rPr>
              <a:t>[1] </a:t>
            </a:r>
            <a:r>
              <a:rPr lang="en-IN" dirty="0">
                <a:latin typeface="Cambria" panose="02040503050406030204" pitchFamily="18" charset="0"/>
                <a:ea typeface="Cambria" panose="02040503050406030204" pitchFamily="18" charset="0"/>
              </a:rPr>
              <a:t>Mohammad A. </a:t>
            </a:r>
            <a:r>
              <a:rPr lang="en-IN" dirty="0" err="1">
                <a:latin typeface="Cambria" panose="02040503050406030204" pitchFamily="18" charset="0"/>
                <a:ea typeface="Cambria" panose="02040503050406030204" pitchFamily="18" charset="0"/>
              </a:rPr>
              <a:t>Aljohani</a:t>
            </a:r>
            <a:r>
              <a:rPr lang="en-IN" dirty="0">
                <a:latin typeface="Cambria" panose="02040503050406030204" pitchFamily="18" charset="0"/>
                <a:ea typeface="Cambria" panose="02040503050406030204" pitchFamily="18" charset="0"/>
              </a:rPr>
              <a:t>, Sultan S. Alqahtani, </a:t>
            </a:r>
            <a:r>
              <a:rPr lang="en-IN" i="1" dirty="0">
                <a:latin typeface="Cambria" panose="02040503050406030204" pitchFamily="18" charset="0"/>
                <a:ea typeface="Cambria" panose="02040503050406030204" pitchFamily="18" charset="0"/>
              </a:rPr>
              <a:t>A Unified Framework for Automating Software Security Analysis in </a:t>
            </a:r>
            <a:r>
              <a:rPr lang="en-IN" i="1" dirty="0" err="1">
                <a:latin typeface="Cambria" panose="02040503050406030204" pitchFamily="18" charset="0"/>
                <a:ea typeface="Cambria" panose="02040503050406030204" pitchFamily="18" charset="0"/>
              </a:rPr>
              <a:t>DevSecOps</a:t>
            </a:r>
            <a:r>
              <a:rPr lang="en-IN" dirty="0">
                <a:latin typeface="Cambria" panose="02040503050406030204" pitchFamily="18" charset="0"/>
                <a:ea typeface="Cambria" panose="02040503050406030204" pitchFamily="18" charset="0"/>
              </a:rPr>
              <a:t>, 2023 International Conference on Smart Computing and Application (ICSCA 2023), DOI: 10.1109/ICSCA57840.2023.10087568, ISBN: 979-8-3503-4705-0, 2023.</a:t>
            </a:r>
          </a:p>
          <a:p>
            <a:pPr algn="just">
              <a:lnSpc>
                <a:spcPct val="150000"/>
              </a:lnSpc>
            </a:pPr>
            <a:r>
              <a:rPr lang="en-IN" b="1" dirty="0">
                <a:latin typeface="Cambria" panose="02040503050406030204" pitchFamily="18" charset="0"/>
                <a:ea typeface="Cambria" panose="02040503050406030204" pitchFamily="18" charset="0"/>
              </a:rPr>
              <a:t>[2]</a:t>
            </a:r>
            <a:r>
              <a:rPr lang="en-IN" dirty="0">
                <a:latin typeface="Cambria" panose="02040503050406030204" pitchFamily="18" charset="0"/>
                <a:ea typeface="Cambria" panose="02040503050406030204" pitchFamily="18" charset="0"/>
              </a:rPr>
              <a:t>  Lyuben Asenov Nikolov, Adelina </a:t>
            </a:r>
            <a:r>
              <a:rPr lang="en-IN" dirty="0" err="1">
                <a:latin typeface="Cambria" panose="02040503050406030204" pitchFamily="18" charset="0"/>
                <a:ea typeface="Cambria" panose="02040503050406030204" pitchFamily="18" charset="0"/>
              </a:rPr>
              <a:t>Plamenova</a:t>
            </a:r>
            <a:r>
              <a:rPr lang="en-IN" dirty="0">
                <a:latin typeface="Cambria" panose="02040503050406030204" pitchFamily="18" charset="0"/>
                <a:ea typeface="Cambria" panose="02040503050406030204" pitchFamily="18" charset="0"/>
              </a:rPr>
              <a:t> </a:t>
            </a:r>
            <a:r>
              <a:rPr lang="en-IN" dirty="0" err="1">
                <a:latin typeface="Cambria" panose="02040503050406030204" pitchFamily="18" charset="0"/>
                <a:ea typeface="Cambria" panose="02040503050406030204" pitchFamily="18" charset="0"/>
              </a:rPr>
              <a:t>Aleksieva</a:t>
            </a:r>
            <a:r>
              <a:rPr lang="en-IN" dirty="0">
                <a:latin typeface="Cambria" panose="02040503050406030204" pitchFamily="18" charset="0"/>
                <a:ea typeface="Cambria" panose="02040503050406030204" pitchFamily="18" charset="0"/>
              </a:rPr>
              <a:t>-Petrova, </a:t>
            </a:r>
            <a:r>
              <a:rPr lang="en-IN" i="1" dirty="0">
                <a:latin typeface="Cambria" panose="02040503050406030204" pitchFamily="18" charset="0"/>
                <a:ea typeface="Cambria" panose="02040503050406030204" pitchFamily="18" charset="0"/>
              </a:rPr>
              <a:t>Action Research on the </a:t>
            </a:r>
            <a:r>
              <a:rPr lang="en-IN" i="1" dirty="0" err="1">
                <a:latin typeface="Cambria" panose="02040503050406030204" pitchFamily="18" charset="0"/>
                <a:ea typeface="Cambria" panose="02040503050406030204" pitchFamily="18" charset="0"/>
              </a:rPr>
              <a:t>DevSecOps</a:t>
            </a:r>
            <a:r>
              <a:rPr lang="en-IN" i="1" dirty="0">
                <a:latin typeface="Cambria" panose="02040503050406030204" pitchFamily="18" charset="0"/>
                <a:ea typeface="Cambria" panose="02040503050406030204" pitchFamily="18" charset="0"/>
              </a:rPr>
              <a:t> Pipeline</a:t>
            </a:r>
            <a:r>
              <a:rPr lang="en-IN" dirty="0">
                <a:latin typeface="Cambria" panose="02040503050406030204" pitchFamily="18" charset="0"/>
                <a:ea typeface="Cambria" panose="02040503050406030204" pitchFamily="18" charset="0"/>
              </a:rPr>
              <a:t>, 2023 International Scientific Conference on Computer Science (COMSCI 2023), DOI: 10.1109/COMSCI59259.2023.10315920, ISBN: 979-8-3503-2525-6, 2023.</a:t>
            </a:r>
          </a:p>
          <a:p>
            <a:pPr algn="just">
              <a:lnSpc>
                <a:spcPct val="150000"/>
              </a:lnSpc>
            </a:pPr>
            <a:r>
              <a:rPr lang="en-IN" b="1" dirty="0">
                <a:latin typeface="Cambria" panose="02040503050406030204" pitchFamily="18" charset="0"/>
                <a:ea typeface="Cambria" panose="02040503050406030204" pitchFamily="18" charset="0"/>
              </a:rPr>
              <a:t>[3]</a:t>
            </a:r>
            <a:r>
              <a:rPr lang="en-IN" dirty="0">
                <a:latin typeface="Cambria" panose="02040503050406030204" pitchFamily="18" charset="0"/>
                <a:ea typeface="Cambria" panose="02040503050406030204" pitchFamily="18" charset="0"/>
              </a:rPr>
              <a:t>  Manohar Marandi, A. Bertia, </a:t>
            </a:r>
            <a:r>
              <a:rPr lang="en-IN" dirty="0" err="1">
                <a:latin typeface="Cambria" panose="02040503050406030204" pitchFamily="18" charset="0"/>
                <a:ea typeface="Cambria" panose="02040503050406030204" pitchFamily="18" charset="0"/>
              </a:rPr>
              <a:t>Salaja</a:t>
            </a:r>
            <a:r>
              <a:rPr lang="en-IN" dirty="0">
                <a:latin typeface="Cambria" panose="02040503050406030204" pitchFamily="18" charset="0"/>
                <a:ea typeface="Cambria" panose="02040503050406030204" pitchFamily="18" charset="0"/>
              </a:rPr>
              <a:t> Silas, </a:t>
            </a:r>
            <a:r>
              <a:rPr lang="en-IN" i="1" dirty="0">
                <a:latin typeface="Cambria" panose="02040503050406030204" pitchFamily="18" charset="0"/>
                <a:ea typeface="Cambria" panose="02040503050406030204" pitchFamily="18" charset="0"/>
              </a:rPr>
              <a:t>Implementing and Automating Security Scanning to a </a:t>
            </a:r>
            <a:r>
              <a:rPr lang="en-IN" i="1" dirty="0" err="1">
                <a:latin typeface="Cambria" panose="02040503050406030204" pitchFamily="18" charset="0"/>
                <a:ea typeface="Cambria" panose="02040503050406030204" pitchFamily="18" charset="0"/>
              </a:rPr>
              <a:t>DevSecOps</a:t>
            </a:r>
            <a:r>
              <a:rPr lang="en-IN" i="1" dirty="0">
                <a:latin typeface="Cambria" panose="02040503050406030204" pitchFamily="18" charset="0"/>
                <a:ea typeface="Cambria" panose="02040503050406030204" pitchFamily="18" charset="0"/>
              </a:rPr>
              <a:t> CI/CD Pipeline</a:t>
            </a:r>
            <a:r>
              <a:rPr lang="en-IN" dirty="0">
                <a:latin typeface="Cambria" panose="02040503050406030204" pitchFamily="18" charset="0"/>
                <a:ea typeface="Cambria" panose="02040503050406030204" pitchFamily="18" charset="0"/>
              </a:rPr>
              <a:t>, 2023 World Conference on Communication &amp; Computing (WCONF 2023), Raipur, India, DOI: 10.1109/WCONF58270.2023.10235015, ISBN: 979-8-3503-1120-4, July 2023. </a:t>
            </a:r>
          </a:p>
          <a:p>
            <a:pPr algn="just">
              <a:lnSpc>
                <a:spcPct val="150000"/>
              </a:lnSpc>
            </a:pPr>
            <a:r>
              <a:rPr lang="en-IN" b="1" dirty="0">
                <a:latin typeface="Cambria" panose="02040503050406030204" pitchFamily="18" charset="0"/>
                <a:ea typeface="Cambria" panose="02040503050406030204" pitchFamily="18" charset="0"/>
              </a:rPr>
              <a:t>[4]</a:t>
            </a:r>
            <a:r>
              <a:rPr lang="en-IN" dirty="0">
                <a:latin typeface="Cambria" panose="02040503050406030204" pitchFamily="18" charset="0"/>
                <a:ea typeface="Cambria" panose="02040503050406030204" pitchFamily="18" charset="0"/>
              </a:rPr>
              <a:t> Nalini M. K., Mahalakshmi B. S., </a:t>
            </a:r>
            <a:r>
              <a:rPr lang="en-IN" dirty="0" err="1">
                <a:latin typeface="Cambria" panose="02040503050406030204" pitchFamily="18" charset="0"/>
                <a:ea typeface="Cambria" panose="02040503050406030204" pitchFamily="18" charset="0"/>
              </a:rPr>
              <a:t>Nevya</a:t>
            </a:r>
            <a:r>
              <a:rPr lang="en-IN" dirty="0">
                <a:latin typeface="Cambria" panose="02040503050406030204" pitchFamily="18" charset="0"/>
                <a:ea typeface="Cambria" panose="02040503050406030204" pitchFamily="18" charset="0"/>
              </a:rPr>
              <a:t> Khandelwal, Nandan Pai, Sharan L., </a:t>
            </a:r>
            <a:r>
              <a:rPr lang="en-IN" i="1" dirty="0">
                <a:latin typeface="Cambria" panose="02040503050406030204" pitchFamily="18" charset="0"/>
                <a:ea typeface="Cambria" panose="02040503050406030204" pitchFamily="18" charset="0"/>
              </a:rPr>
              <a:t>CI/CD Pipeline with Vulnerability Mitigation</a:t>
            </a:r>
            <a:r>
              <a:rPr lang="en-IN" dirty="0">
                <a:latin typeface="Cambria" panose="02040503050406030204" pitchFamily="18" charset="0"/>
                <a:ea typeface="Cambria" panose="02040503050406030204" pitchFamily="18" charset="0"/>
              </a:rPr>
              <a:t>, 2023 International Conference on Recent Advances in Science and Engineering Technology (ICRASET 2023), DOI: 10.1109/ICRASET59632.2023.10419921, ISBN: 979-8-3503-0692-7, 2023.</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77572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17C19-72BC-C65D-4DE5-CDC404FCE16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F1989D5-040C-48FF-3583-A035723D05DA}"/>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9C7C27A8-04EB-FC69-3366-E2553ABD677B}"/>
              </a:ext>
            </a:extLst>
          </p:cNvPr>
          <p:cNvSpPr>
            <a:spLocks noGrp="1"/>
          </p:cNvSpPr>
          <p:nvPr>
            <p:ph type="sldNum" sz="quarter" idx="4"/>
          </p:nvPr>
        </p:nvSpPr>
        <p:spPr/>
        <p:txBody>
          <a:bodyPr/>
          <a:lstStyle/>
          <a:p>
            <a:fld id="{FFAE6D68-FB99-4243-9CC1-93FAA8C005BC}" type="slidenum">
              <a:rPr lang="en-IN" smtClean="0"/>
              <a:pPr/>
              <a:t>26</a:t>
            </a:fld>
            <a:endParaRPr lang="en-IN"/>
          </a:p>
        </p:txBody>
      </p:sp>
      <p:sp>
        <p:nvSpPr>
          <p:cNvPr id="4" name="TextBox 3">
            <a:extLst>
              <a:ext uri="{FF2B5EF4-FFF2-40B4-BE49-F238E27FC236}">
                <a16:creationId xmlns:a16="http://schemas.microsoft.com/office/drawing/2014/main" id="{3566918C-DFE7-E4B3-10EA-7B81A123BEDF}"/>
              </a:ext>
            </a:extLst>
          </p:cNvPr>
          <p:cNvSpPr txBox="1"/>
          <p:nvPr/>
        </p:nvSpPr>
        <p:spPr>
          <a:xfrm>
            <a:off x="2580264" y="300881"/>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References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77FC6673-52C9-6728-7FF9-80114038DB00}"/>
              </a:ext>
            </a:extLst>
          </p:cNvPr>
          <p:cNvSpPr txBox="1"/>
          <p:nvPr/>
        </p:nvSpPr>
        <p:spPr>
          <a:xfrm>
            <a:off x="81280" y="1008979"/>
            <a:ext cx="12029440" cy="5033557"/>
          </a:xfrm>
          <a:prstGeom prst="rect">
            <a:avLst/>
          </a:prstGeom>
          <a:noFill/>
        </p:spPr>
        <p:txBody>
          <a:bodyPr wrap="square">
            <a:spAutoFit/>
          </a:bodyPr>
          <a:lstStyle/>
          <a:p>
            <a:pPr algn="just">
              <a:lnSpc>
                <a:spcPct val="150000"/>
              </a:lnSpc>
            </a:pPr>
            <a:r>
              <a:rPr lang="en-IN" b="1" dirty="0">
                <a:latin typeface="Cambria" panose="02040503050406030204" pitchFamily="18" charset="0"/>
                <a:ea typeface="Cambria" panose="02040503050406030204" pitchFamily="18" charset="0"/>
              </a:rPr>
              <a:t>[5]</a:t>
            </a:r>
            <a:r>
              <a:rPr lang="en-IN" dirty="0">
                <a:latin typeface="Cambria" panose="02040503050406030204" pitchFamily="18" charset="0"/>
                <a:ea typeface="Cambria" panose="02040503050406030204" pitchFamily="18" charset="0"/>
              </a:rPr>
              <a:t> Markus </a:t>
            </a:r>
            <a:r>
              <a:rPr lang="en-IN" dirty="0" err="1">
                <a:latin typeface="Cambria" panose="02040503050406030204" pitchFamily="18" charset="0"/>
                <a:ea typeface="Cambria" panose="02040503050406030204" pitchFamily="18" charset="0"/>
              </a:rPr>
              <a:t>Voggenreiter</a:t>
            </a:r>
            <a:r>
              <a:rPr lang="en-IN" dirty="0">
                <a:latin typeface="Cambria" panose="02040503050406030204" pitchFamily="18" charset="0"/>
                <a:ea typeface="Cambria" panose="02040503050406030204" pitchFamily="18" charset="0"/>
              </a:rPr>
              <a:t>, Florian </a:t>
            </a:r>
            <a:r>
              <a:rPr lang="en-IN" dirty="0" err="1">
                <a:latin typeface="Cambria" panose="02040503050406030204" pitchFamily="18" charset="0"/>
                <a:ea typeface="Cambria" panose="02040503050406030204" pitchFamily="18" charset="0"/>
              </a:rPr>
              <a:t>Angermeir</a:t>
            </a:r>
            <a:r>
              <a:rPr lang="en-IN" dirty="0">
                <a:latin typeface="Cambria" panose="02040503050406030204" pitchFamily="18" charset="0"/>
                <a:ea typeface="Cambria" panose="02040503050406030204" pitchFamily="18" charset="0"/>
              </a:rPr>
              <a:t>, Fabiola </a:t>
            </a:r>
            <a:r>
              <a:rPr lang="en-IN" dirty="0" err="1">
                <a:latin typeface="Cambria" panose="02040503050406030204" pitchFamily="18" charset="0"/>
                <a:ea typeface="Cambria" panose="02040503050406030204" pitchFamily="18" charset="0"/>
              </a:rPr>
              <a:t>Moyón</a:t>
            </a:r>
            <a:r>
              <a:rPr lang="en-IN" dirty="0">
                <a:latin typeface="Cambria" panose="02040503050406030204" pitchFamily="18" charset="0"/>
                <a:ea typeface="Cambria" panose="02040503050406030204" pitchFamily="18" charset="0"/>
              </a:rPr>
              <a:t>, Ulrich </a:t>
            </a:r>
            <a:r>
              <a:rPr lang="en-IN" dirty="0" err="1">
                <a:latin typeface="Cambria" panose="02040503050406030204" pitchFamily="18" charset="0"/>
                <a:ea typeface="Cambria" panose="02040503050406030204" pitchFamily="18" charset="0"/>
              </a:rPr>
              <a:t>Schöpp</a:t>
            </a:r>
            <a:r>
              <a:rPr lang="en-IN" dirty="0">
                <a:latin typeface="Cambria" panose="02040503050406030204" pitchFamily="18" charset="0"/>
                <a:ea typeface="Cambria" panose="02040503050406030204" pitchFamily="18" charset="0"/>
              </a:rPr>
              <a:t>, Pierre </a:t>
            </a:r>
            <a:r>
              <a:rPr lang="en-IN" dirty="0" err="1">
                <a:latin typeface="Cambria" panose="02040503050406030204" pitchFamily="18" charset="0"/>
                <a:ea typeface="Cambria" panose="02040503050406030204" pitchFamily="18" charset="0"/>
              </a:rPr>
              <a:t>Bonvin</a:t>
            </a:r>
            <a:r>
              <a:rPr lang="en-IN" dirty="0">
                <a:latin typeface="Cambria" panose="02040503050406030204" pitchFamily="18" charset="0"/>
                <a:ea typeface="Cambria" panose="02040503050406030204" pitchFamily="18" charset="0"/>
              </a:rPr>
              <a:t>, </a:t>
            </a:r>
            <a:r>
              <a:rPr lang="en-IN" i="1" dirty="0">
                <a:latin typeface="Cambria" panose="02040503050406030204" pitchFamily="18" charset="0"/>
                <a:ea typeface="Cambria" panose="02040503050406030204" pitchFamily="18" charset="0"/>
              </a:rPr>
              <a:t>Automated Security Findings Management: A Case Study in Industrial DevOps</a:t>
            </a:r>
            <a:r>
              <a:rPr lang="en-IN" dirty="0">
                <a:latin typeface="Cambria" panose="02040503050406030204" pitchFamily="18" charset="0"/>
                <a:ea typeface="Cambria" panose="02040503050406030204" pitchFamily="18" charset="0"/>
              </a:rPr>
              <a:t>, 46th International Conference on Software Engineering: Software Engineering in Practice (ICSE-SEIP 2024), DOI: 10.1145/3639477.3639744, ISBN: 979-8-4007-0501-4, April 2024.</a:t>
            </a:r>
          </a:p>
          <a:p>
            <a:pPr algn="just">
              <a:lnSpc>
                <a:spcPct val="150000"/>
              </a:lnSpc>
            </a:pPr>
            <a:r>
              <a:rPr lang="en-IN" b="1" dirty="0">
                <a:latin typeface="Cambria" panose="02040503050406030204" pitchFamily="18" charset="0"/>
                <a:ea typeface="Cambria" panose="02040503050406030204" pitchFamily="18" charset="0"/>
              </a:rPr>
              <a:t>[6]</a:t>
            </a:r>
            <a:r>
              <a:rPr lang="en-IN" dirty="0">
                <a:latin typeface="Cambria" panose="02040503050406030204" pitchFamily="18" charset="0"/>
                <a:ea typeface="Cambria" panose="02040503050406030204" pitchFamily="18" charset="0"/>
              </a:rPr>
              <a:t> Akalanka </a:t>
            </a:r>
            <a:r>
              <a:rPr lang="en-IN" dirty="0" err="1">
                <a:latin typeface="Cambria" panose="02040503050406030204" pitchFamily="18" charset="0"/>
                <a:ea typeface="Cambria" panose="02040503050406030204" pitchFamily="18" charset="0"/>
              </a:rPr>
              <a:t>Nayanajith</a:t>
            </a:r>
            <a:r>
              <a:rPr lang="en-IN" dirty="0">
                <a:latin typeface="Cambria" panose="02040503050406030204" pitchFamily="18" charset="0"/>
                <a:ea typeface="Cambria" panose="02040503050406030204" pitchFamily="18" charset="0"/>
              </a:rPr>
              <a:t>, Ruwan Wickramarachchi, </a:t>
            </a:r>
            <a:r>
              <a:rPr lang="en-IN" i="1" dirty="0">
                <a:latin typeface="Cambria" panose="02040503050406030204" pitchFamily="18" charset="0"/>
                <a:ea typeface="Cambria" panose="02040503050406030204" pitchFamily="18" charset="0"/>
              </a:rPr>
              <a:t>Challenges Affecting the Successful Adoption of DevOps Practices: A Systematic Literature Review</a:t>
            </a:r>
            <a:r>
              <a:rPr lang="en-IN" dirty="0">
                <a:latin typeface="Cambria" panose="02040503050406030204" pitchFamily="18" charset="0"/>
                <a:ea typeface="Cambria" panose="02040503050406030204" pitchFamily="18" charset="0"/>
              </a:rPr>
              <a:t>, 4th International Conference on Advanced Research in Computing (ICARC 2024), DOI: 10.1109/ICARC61713.2024.10499735, ISBN: 979-8-3503-8486-4, 2024.</a:t>
            </a:r>
          </a:p>
          <a:p>
            <a:pPr algn="just">
              <a:lnSpc>
                <a:spcPct val="150000"/>
              </a:lnSpc>
            </a:pPr>
            <a:r>
              <a:rPr lang="en-IN" b="1" dirty="0">
                <a:latin typeface="Cambria" panose="02040503050406030204" pitchFamily="18" charset="0"/>
                <a:ea typeface="Cambria" panose="02040503050406030204" pitchFamily="18" charset="0"/>
              </a:rPr>
              <a:t>[7]</a:t>
            </a:r>
            <a:r>
              <a:rPr lang="en-IN" dirty="0">
                <a:latin typeface="Cambria" panose="02040503050406030204" pitchFamily="18" charset="0"/>
                <a:ea typeface="Cambria" panose="02040503050406030204" pitchFamily="18" charset="0"/>
              </a:rPr>
              <a:t> Samridhi Jain, Puneet Kumar, </a:t>
            </a:r>
            <a:r>
              <a:rPr lang="en-IN" i="1" dirty="0">
                <a:latin typeface="Cambria" panose="02040503050406030204" pitchFamily="18" charset="0"/>
                <a:ea typeface="Cambria" panose="02040503050406030204" pitchFamily="18" charset="0"/>
              </a:rPr>
              <a:t>DevOps Practices into Machine Learning</a:t>
            </a:r>
            <a:r>
              <a:rPr lang="en-IN" dirty="0">
                <a:latin typeface="Cambria" panose="02040503050406030204" pitchFamily="18" charset="0"/>
                <a:ea typeface="Cambria" panose="02040503050406030204" pitchFamily="18" charset="0"/>
              </a:rPr>
              <a:t>, 2024 IEEE International Conference on Intelligent Systems, Smart and Green Technologies (ICISSGT 2024), DOI: 10.1109/ICISSGT58904.2024.00029, ISBN: 979-8-3503-0432-9, 2024.</a:t>
            </a:r>
          </a:p>
          <a:p>
            <a:pPr algn="just">
              <a:lnSpc>
                <a:spcPct val="150000"/>
              </a:lnSpc>
            </a:pPr>
            <a:r>
              <a:rPr lang="en-IN" b="1" dirty="0">
                <a:latin typeface="Cambria" panose="02040503050406030204" pitchFamily="18" charset="0"/>
                <a:ea typeface="Cambria" panose="02040503050406030204" pitchFamily="18" charset="0"/>
              </a:rPr>
              <a:t>[8]</a:t>
            </a:r>
            <a:r>
              <a:rPr lang="en-IN" dirty="0">
                <a:latin typeface="Cambria" panose="02040503050406030204" pitchFamily="18" charset="0"/>
                <a:ea typeface="Cambria" panose="02040503050406030204" pitchFamily="18" charset="0"/>
              </a:rPr>
              <a:t> Semi Yulianto, Gerard Nathaniel </a:t>
            </a:r>
            <a:r>
              <a:rPr lang="en-IN" dirty="0" err="1">
                <a:latin typeface="Cambria" panose="02040503050406030204" pitchFamily="18" charset="0"/>
                <a:ea typeface="Cambria" panose="02040503050406030204" pitchFamily="18" charset="0"/>
              </a:rPr>
              <a:t>Cac</a:t>
            </a:r>
            <a:r>
              <a:rPr lang="en-IN" dirty="0">
                <a:latin typeface="Cambria" panose="02040503050406030204" pitchFamily="18" charset="0"/>
                <a:ea typeface="Cambria" panose="02040503050406030204" pitchFamily="18" charset="0"/>
              </a:rPr>
              <a:t> Ngo, </a:t>
            </a:r>
            <a:r>
              <a:rPr lang="en-IN" i="1" dirty="0">
                <a:latin typeface="Cambria" panose="02040503050406030204" pitchFamily="18" charset="0"/>
                <a:ea typeface="Cambria" panose="02040503050406030204" pitchFamily="18" charset="0"/>
              </a:rPr>
              <a:t>Enhancing </a:t>
            </a:r>
            <a:r>
              <a:rPr lang="en-IN" i="1" dirty="0" err="1">
                <a:latin typeface="Cambria" panose="02040503050406030204" pitchFamily="18" charset="0"/>
                <a:ea typeface="Cambria" panose="02040503050406030204" pitchFamily="18" charset="0"/>
              </a:rPr>
              <a:t>DevSecOps</a:t>
            </a:r>
            <a:r>
              <a:rPr lang="en-IN" i="1" dirty="0">
                <a:latin typeface="Cambria" panose="02040503050406030204" pitchFamily="18" charset="0"/>
                <a:ea typeface="Cambria" panose="02040503050406030204" pitchFamily="18" charset="0"/>
              </a:rPr>
              <a:t> Pipelines with AI-Driven Threat Detection and Response</a:t>
            </a:r>
            <a:r>
              <a:rPr lang="en-IN" dirty="0">
                <a:latin typeface="Cambria" panose="02040503050406030204" pitchFamily="18" charset="0"/>
                <a:ea typeface="Cambria" panose="02040503050406030204" pitchFamily="18" charset="0"/>
              </a:rPr>
              <a:t>, 2024 International Conference on ICT for Smart Society (ICISS 2024), DOI: 10.1109/ICISS62896.2024.10751269, ISBN: 979-8-3503-8965-4, 2024. </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194179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2E31D-6A68-EC41-3769-3FA475E7357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5F5CE51-A00A-EB78-BB3D-E8C3F156EB3B}"/>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2E51823F-7493-E248-900D-96BCEEA7069C}"/>
              </a:ext>
            </a:extLst>
          </p:cNvPr>
          <p:cNvSpPr>
            <a:spLocks noGrp="1"/>
          </p:cNvSpPr>
          <p:nvPr>
            <p:ph type="sldNum" sz="quarter" idx="4"/>
          </p:nvPr>
        </p:nvSpPr>
        <p:spPr/>
        <p:txBody>
          <a:bodyPr/>
          <a:lstStyle/>
          <a:p>
            <a:fld id="{FFAE6D68-FB99-4243-9CC1-93FAA8C005BC}" type="slidenum">
              <a:rPr lang="en-IN" smtClean="0"/>
              <a:pPr/>
              <a:t>27</a:t>
            </a:fld>
            <a:endParaRPr lang="en-IN"/>
          </a:p>
        </p:txBody>
      </p:sp>
      <p:sp>
        <p:nvSpPr>
          <p:cNvPr id="4" name="TextBox 3">
            <a:extLst>
              <a:ext uri="{FF2B5EF4-FFF2-40B4-BE49-F238E27FC236}">
                <a16:creationId xmlns:a16="http://schemas.microsoft.com/office/drawing/2014/main" id="{28722679-9A7D-692A-02FF-A960B30F2E29}"/>
              </a:ext>
            </a:extLst>
          </p:cNvPr>
          <p:cNvSpPr txBox="1"/>
          <p:nvPr/>
        </p:nvSpPr>
        <p:spPr>
          <a:xfrm>
            <a:off x="2798445" y="207637"/>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References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251B1A3A-D9E3-8CB3-E3A3-08D526BC564A}"/>
              </a:ext>
            </a:extLst>
          </p:cNvPr>
          <p:cNvSpPr txBox="1"/>
          <p:nvPr/>
        </p:nvSpPr>
        <p:spPr>
          <a:xfrm>
            <a:off x="81280" y="915523"/>
            <a:ext cx="12029440" cy="5026954"/>
          </a:xfrm>
          <a:prstGeom prst="rect">
            <a:avLst/>
          </a:prstGeom>
          <a:noFill/>
        </p:spPr>
        <p:txBody>
          <a:bodyPr wrap="square">
            <a:spAutoFit/>
          </a:bodyPr>
          <a:lstStyle/>
          <a:p>
            <a:pPr algn="just">
              <a:lnSpc>
                <a:spcPct val="150000"/>
              </a:lnSpc>
            </a:pPr>
            <a:r>
              <a:rPr lang="en-IN" b="1" dirty="0">
                <a:latin typeface="Cambria" panose="02040503050406030204" pitchFamily="18" charset="0"/>
                <a:ea typeface="Cambria" panose="02040503050406030204" pitchFamily="18" charset="0"/>
              </a:rPr>
              <a:t>[9]</a:t>
            </a:r>
            <a:r>
              <a:rPr lang="en-IN" dirty="0">
                <a:latin typeface="Cambria" panose="02040503050406030204" pitchFamily="18" charset="0"/>
                <a:ea typeface="Cambria" panose="02040503050406030204" pitchFamily="18" charset="0"/>
              </a:rPr>
              <a:t> Fabiola </a:t>
            </a:r>
            <a:r>
              <a:rPr lang="en-IN" dirty="0" err="1">
                <a:latin typeface="Cambria" panose="02040503050406030204" pitchFamily="18" charset="0"/>
                <a:ea typeface="Cambria" panose="02040503050406030204" pitchFamily="18" charset="0"/>
              </a:rPr>
              <a:t>Moyón</a:t>
            </a:r>
            <a:r>
              <a:rPr lang="en-IN" dirty="0">
                <a:latin typeface="Cambria" panose="02040503050406030204" pitchFamily="18" charset="0"/>
                <a:ea typeface="Cambria" panose="02040503050406030204" pitchFamily="18" charset="0"/>
              </a:rPr>
              <a:t>, Florian </a:t>
            </a:r>
            <a:r>
              <a:rPr lang="en-IN" dirty="0" err="1">
                <a:latin typeface="Cambria" panose="02040503050406030204" pitchFamily="18" charset="0"/>
                <a:ea typeface="Cambria" panose="02040503050406030204" pitchFamily="18" charset="0"/>
              </a:rPr>
              <a:t>Angermeir</a:t>
            </a:r>
            <a:r>
              <a:rPr lang="en-IN" dirty="0">
                <a:latin typeface="Cambria" panose="02040503050406030204" pitchFamily="18" charset="0"/>
                <a:ea typeface="Cambria" panose="02040503050406030204" pitchFamily="18" charset="0"/>
              </a:rPr>
              <a:t>, Daniel Mendez, </a:t>
            </a:r>
            <a:r>
              <a:rPr lang="en-IN" i="1" dirty="0">
                <a:latin typeface="Cambria" panose="02040503050406030204" pitchFamily="18" charset="0"/>
                <a:ea typeface="Cambria" panose="02040503050406030204" pitchFamily="18" charset="0"/>
              </a:rPr>
              <a:t>Industrial Challenges in Secure Continuous Development</a:t>
            </a:r>
            <a:r>
              <a:rPr lang="en-IN" dirty="0">
                <a:latin typeface="Cambria" panose="02040503050406030204" pitchFamily="18" charset="0"/>
                <a:ea typeface="Cambria" panose="02040503050406030204" pitchFamily="18" charset="0"/>
              </a:rPr>
              <a:t>, 46th International Conference on Software Engineering: Software Engineering in Practice (ICSE-SEIP 2024), Lisbon, Portugal, April 2024, DOI: 10.1145/3639477.3639736, ISBN: 979-8-4007-0501-4. </a:t>
            </a:r>
          </a:p>
          <a:p>
            <a:pPr algn="just">
              <a:lnSpc>
                <a:spcPct val="150000"/>
              </a:lnSpc>
            </a:pPr>
            <a:r>
              <a:rPr lang="en-IN" b="1" dirty="0">
                <a:latin typeface="Cambria" panose="02040503050406030204" pitchFamily="18" charset="0"/>
                <a:ea typeface="Cambria" panose="02040503050406030204" pitchFamily="18" charset="0"/>
              </a:rPr>
              <a:t>[10]</a:t>
            </a:r>
            <a:r>
              <a:rPr lang="en-IN" dirty="0">
                <a:latin typeface="Cambria" panose="02040503050406030204" pitchFamily="18" charset="0"/>
                <a:ea typeface="Cambria" panose="02040503050406030204" pitchFamily="18" charset="0"/>
              </a:rPr>
              <a:t> Muhammad Zohaib, Ahmed </a:t>
            </a:r>
            <a:r>
              <a:rPr lang="en-IN" dirty="0" err="1">
                <a:latin typeface="Cambria" panose="02040503050406030204" pitchFamily="18" charset="0"/>
                <a:ea typeface="Cambria" panose="02040503050406030204" pitchFamily="18" charset="0"/>
              </a:rPr>
              <a:t>Alsanad</a:t>
            </a:r>
            <a:r>
              <a:rPr lang="en-IN" dirty="0">
                <a:latin typeface="Cambria" panose="02040503050406030204" pitchFamily="18" charset="0"/>
                <a:ea typeface="Cambria" panose="02040503050406030204" pitchFamily="18" charset="0"/>
              </a:rPr>
              <a:t>, Areej Abdullah </a:t>
            </a:r>
            <a:r>
              <a:rPr lang="en-IN" dirty="0" err="1">
                <a:latin typeface="Cambria" panose="02040503050406030204" pitchFamily="18" charset="0"/>
                <a:ea typeface="Cambria" panose="02040503050406030204" pitchFamily="18" charset="0"/>
              </a:rPr>
              <a:t>Alhogail</a:t>
            </a:r>
            <a:r>
              <a:rPr lang="en-IN" dirty="0">
                <a:latin typeface="Cambria" panose="02040503050406030204" pitchFamily="18" charset="0"/>
                <a:ea typeface="Cambria" panose="02040503050406030204" pitchFamily="18" charset="0"/>
              </a:rPr>
              <a:t>, </a:t>
            </a:r>
            <a:r>
              <a:rPr lang="en-IN" i="1" dirty="0">
                <a:latin typeface="Cambria" panose="02040503050406030204" pitchFamily="18" charset="0"/>
                <a:ea typeface="Cambria" panose="02040503050406030204" pitchFamily="18" charset="0"/>
              </a:rPr>
              <a:t>Prioritizing DevOps Implementation Guidelines for Sustainable Software Projects</a:t>
            </a:r>
            <a:r>
              <a:rPr lang="en-IN" dirty="0">
                <a:latin typeface="Cambria" panose="02040503050406030204" pitchFamily="18" charset="0"/>
                <a:ea typeface="Cambria" panose="02040503050406030204" pitchFamily="18" charset="0"/>
              </a:rPr>
              <a:t>, IEEE Access, vol. 12, pp. 71109–71130, 2024, DOI: 10.1109/ACCESS.2024.3402832.</a:t>
            </a:r>
          </a:p>
          <a:p>
            <a:pPr algn="just">
              <a:lnSpc>
                <a:spcPct val="150000"/>
              </a:lnSpc>
            </a:pPr>
            <a:r>
              <a:rPr lang="en-IN" b="1" dirty="0">
                <a:latin typeface="Cambria" panose="02040503050406030204" pitchFamily="18" charset="0"/>
                <a:ea typeface="Cambria" panose="02040503050406030204" pitchFamily="18" charset="0"/>
              </a:rPr>
              <a:t>[11] Nghia Dinh, Vinh Truong Hoang, Bay Nguyen Van, Thien Ho Huong, Ha Duong </a:t>
            </a:r>
            <a:r>
              <a:rPr lang="en-IN" b="1" dirty="0" err="1">
                <a:latin typeface="Cambria" panose="02040503050406030204" pitchFamily="18" charset="0"/>
                <a:ea typeface="Cambria" panose="02040503050406030204" pitchFamily="18" charset="0"/>
              </a:rPr>
              <a:t>Thi</a:t>
            </a:r>
            <a:r>
              <a:rPr lang="en-IN" b="1" dirty="0">
                <a:latin typeface="Cambria" panose="02040503050406030204" pitchFamily="18" charset="0"/>
                <a:ea typeface="Cambria" panose="02040503050406030204" pitchFamily="18" charset="0"/>
              </a:rPr>
              <a:t> Hong, Hau Nguyen Trung, Kiet Tran Trung, </a:t>
            </a:r>
            <a:r>
              <a:rPr lang="en-IN" b="1" i="1" dirty="0">
                <a:latin typeface="Cambria" panose="02040503050406030204" pitchFamily="18" charset="0"/>
                <a:ea typeface="Cambria" panose="02040503050406030204" pitchFamily="18" charset="0"/>
              </a:rPr>
              <a:t>Enhancing Smart Contract Security Through </a:t>
            </a:r>
            <a:r>
              <a:rPr lang="en-IN" b="1" i="1" dirty="0" err="1">
                <a:latin typeface="Cambria" panose="02040503050406030204" pitchFamily="18" charset="0"/>
                <a:ea typeface="Cambria" panose="02040503050406030204" pitchFamily="18" charset="0"/>
              </a:rPr>
              <a:t>DevSecOps</a:t>
            </a:r>
            <a:r>
              <a:rPr lang="en-IN" b="1" i="1" dirty="0">
                <a:latin typeface="Cambria" panose="02040503050406030204" pitchFamily="18" charset="0"/>
                <a:ea typeface="Cambria" panose="02040503050406030204" pitchFamily="18" charset="0"/>
              </a:rPr>
              <a:t>: An Adaptive Approach for Vulnerability Detection</a:t>
            </a:r>
            <a:r>
              <a:rPr lang="en-IN" b="1" dirty="0">
                <a:latin typeface="Cambria" panose="02040503050406030204" pitchFamily="18" charset="0"/>
                <a:ea typeface="Cambria" panose="02040503050406030204" pitchFamily="18" charset="0"/>
              </a:rPr>
              <a:t>, IEEE Access, vol. 13, pp. 159454–159520, 2025, DOI: 10.1109/ACCESS.2025.3606572. </a:t>
            </a:r>
          </a:p>
          <a:p>
            <a:pPr algn="just">
              <a:lnSpc>
                <a:spcPct val="150000"/>
              </a:lnSpc>
            </a:pPr>
            <a:r>
              <a:rPr lang="en-IN" b="1" dirty="0">
                <a:latin typeface="Cambria" panose="02040503050406030204" pitchFamily="18" charset="0"/>
                <a:ea typeface="Cambria" panose="02040503050406030204" pitchFamily="18" charset="0"/>
              </a:rPr>
              <a:t>[12]</a:t>
            </a:r>
            <a:r>
              <a:rPr lang="en-IN" dirty="0">
                <a:latin typeface="Cambria" panose="02040503050406030204" pitchFamily="18" charset="0"/>
                <a:ea typeface="Cambria" panose="02040503050406030204" pitchFamily="18" charset="0"/>
              </a:rPr>
              <a:t> Rashmi </a:t>
            </a:r>
            <a:r>
              <a:rPr lang="en-IN" dirty="0" err="1">
                <a:latin typeface="Cambria" panose="02040503050406030204" pitchFamily="18" charset="0"/>
                <a:ea typeface="Cambria" panose="02040503050406030204" pitchFamily="18" charset="0"/>
              </a:rPr>
              <a:t>Ashtagi</a:t>
            </a:r>
            <a:r>
              <a:rPr lang="en-IN" dirty="0">
                <a:latin typeface="Cambria" panose="02040503050406030204" pitchFamily="18" charset="0"/>
                <a:ea typeface="Cambria" panose="02040503050406030204" pitchFamily="18" charset="0"/>
              </a:rPr>
              <a:t>, Yash Bhalerao, Chirag Belani, Prasanna Bhalerao, Atharva </a:t>
            </a:r>
            <a:r>
              <a:rPr lang="en-IN" dirty="0" err="1">
                <a:latin typeface="Cambria" panose="02040503050406030204" pitchFamily="18" charset="0"/>
                <a:ea typeface="Cambria" panose="02040503050406030204" pitchFamily="18" charset="0"/>
              </a:rPr>
              <a:t>Chawle</a:t>
            </a:r>
            <a:r>
              <a:rPr lang="en-IN" dirty="0">
                <a:latin typeface="Cambria" panose="02040503050406030204" pitchFamily="18" charset="0"/>
                <a:ea typeface="Cambria" panose="02040503050406030204" pitchFamily="18" charset="0"/>
              </a:rPr>
              <a:t>, </a:t>
            </a:r>
            <a:r>
              <a:rPr lang="en-IN" i="1" dirty="0">
                <a:latin typeface="Cambria" panose="02040503050406030204" pitchFamily="18" charset="0"/>
                <a:ea typeface="Cambria" panose="02040503050406030204" pitchFamily="18" charset="0"/>
              </a:rPr>
              <a:t>Building Resilient CICD Pipelines: A DevOps Security-First Framework</a:t>
            </a:r>
            <a:r>
              <a:rPr lang="en-IN" dirty="0">
                <a:latin typeface="Cambria" panose="02040503050406030204" pitchFamily="18" charset="0"/>
                <a:ea typeface="Cambria" panose="02040503050406030204" pitchFamily="18" charset="0"/>
              </a:rPr>
              <a:t>, 2025 International Conference on Computational, Communication and Information Technology (ICCCIT 2025), DOI: 10.1109/ICCCIT62592.2025.10927871, ISBN: 979-8-3315-1296-5, 2025.</a:t>
            </a:r>
            <a:endParaRPr lang="en-IN" b="1" dirty="0">
              <a:latin typeface="Cambria" panose="02040503050406030204" pitchFamily="18" charset="0"/>
              <a:ea typeface="Cambria" panose="02040503050406030204" pitchFamily="18" charset="0"/>
            </a:endParaRPr>
          </a:p>
          <a:p>
            <a:pPr algn="just">
              <a:lnSpc>
                <a:spcPct val="150000"/>
              </a:lnSpc>
            </a:pP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468225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8420F-0B4F-1C06-D058-3DC1FD60C62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E607595-07EB-C05E-75FC-789F522BB295}"/>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775D3CA2-6FB1-A895-A041-3C080DBF2814}"/>
              </a:ext>
            </a:extLst>
          </p:cNvPr>
          <p:cNvSpPr>
            <a:spLocks noGrp="1"/>
          </p:cNvSpPr>
          <p:nvPr>
            <p:ph type="sldNum" sz="quarter" idx="4"/>
          </p:nvPr>
        </p:nvSpPr>
        <p:spPr/>
        <p:txBody>
          <a:bodyPr/>
          <a:lstStyle/>
          <a:p>
            <a:fld id="{FFAE6D68-FB99-4243-9CC1-93FAA8C005BC}" type="slidenum">
              <a:rPr lang="en-IN" smtClean="0"/>
              <a:pPr/>
              <a:t>28</a:t>
            </a:fld>
            <a:endParaRPr lang="en-IN"/>
          </a:p>
        </p:txBody>
      </p:sp>
      <p:sp>
        <p:nvSpPr>
          <p:cNvPr id="4" name="TextBox 3">
            <a:extLst>
              <a:ext uri="{FF2B5EF4-FFF2-40B4-BE49-F238E27FC236}">
                <a16:creationId xmlns:a16="http://schemas.microsoft.com/office/drawing/2014/main" id="{0243B8F3-B67E-9B13-E35D-2B786B831C5F}"/>
              </a:ext>
            </a:extLst>
          </p:cNvPr>
          <p:cNvSpPr txBox="1"/>
          <p:nvPr/>
        </p:nvSpPr>
        <p:spPr>
          <a:xfrm>
            <a:off x="3021965" y="207637"/>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References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2FE47139-41B6-2381-B163-0C613E00DB3A}"/>
              </a:ext>
            </a:extLst>
          </p:cNvPr>
          <p:cNvSpPr txBox="1"/>
          <p:nvPr/>
        </p:nvSpPr>
        <p:spPr>
          <a:xfrm>
            <a:off x="162560" y="915523"/>
            <a:ext cx="12029440" cy="5026954"/>
          </a:xfrm>
          <a:prstGeom prst="rect">
            <a:avLst/>
          </a:prstGeom>
          <a:noFill/>
        </p:spPr>
        <p:txBody>
          <a:bodyPr wrap="square">
            <a:spAutoFit/>
          </a:bodyPr>
          <a:lstStyle/>
          <a:p>
            <a:pPr algn="just">
              <a:lnSpc>
                <a:spcPct val="150000"/>
              </a:lnSpc>
            </a:pPr>
            <a:r>
              <a:rPr lang="en-IN" b="1" dirty="0">
                <a:latin typeface="Cambria" panose="02040503050406030204" pitchFamily="18" charset="0"/>
                <a:ea typeface="Cambria" panose="02040503050406030204" pitchFamily="18" charset="0"/>
              </a:rPr>
              <a:t>[13]</a:t>
            </a:r>
            <a:r>
              <a:rPr lang="en-IN" dirty="0">
                <a:latin typeface="Cambria" panose="02040503050406030204" pitchFamily="18" charset="0"/>
                <a:ea typeface="Cambria" panose="02040503050406030204" pitchFamily="18" charset="0"/>
              </a:rPr>
              <a:t> Roberto Carlos Bautista Ramos, Sang </a:t>
            </a:r>
            <a:r>
              <a:rPr lang="en-IN" dirty="0" err="1">
                <a:latin typeface="Cambria" panose="02040503050406030204" pitchFamily="18" charset="0"/>
                <a:ea typeface="Cambria" panose="02040503050406030204" pitchFamily="18" charset="0"/>
              </a:rPr>
              <a:t>Guun</a:t>
            </a:r>
            <a:r>
              <a:rPr lang="en-IN" dirty="0">
                <a:latin typeface="Cambria" panose="02040503050406030204" pitchFamily="18" charset="0"/>
                <a:ea typeface="Cambria" panose="02040503050406030204" pitchFamily="18" charset="0"/>
              </a:rPr>
              <a:t> Yoo, </a:t>
            </a:r>
            <a:r>
              <a:rPr lang="en-IN" i="1" dirty="0">
                <a:latin typeface="Cambria" panose="02040503050406030204" pitchFamily="18" charset="0"/>
                <a:ea typeface="Cambria" panose="02040503050406030204" pitchFamily="18" charset="0"/>
              </a:rPr>
              <a:t>Cybersecurity in DevOps Environments: A Systematic Literature Review</a:t>
            </a:r>
            <a:r>
              <a:rPr lang="en-IN" dirty="0">
                <a:latin typeface="Cambria" panose="02040503050406030204" pitchFamily="18" charset="0"/>
                <a:ea typeface="Cambria" panose="02040503050406030204" pitchFamily="18" charset="0"/>
              </a:rPr>
              <a:t>, IEEE Access, vol. 13, pp. 191959–191980, 2025, DOI: 10.1109/ACCESS.2025.3582892. </a:t>
            </a:r>
          </a:p>
          <a:p>
            <a:pPr algn="just">
              <a:lnSpc>
                <a:spcPct val="150000"/>
              </a:lnSpc>
            </a:pPr>
            <a:r>
              <a:rPr lang="en-IN" b="1" dirty="0">
                <a:latin typeface="Cambria" panose="02040503050406030204" pitchFamily="18" charset="0"/>
                <a:ea typeface="Cambria" panose="02040503050406030204" pitchFamily="18" charset="0"/>
              </a:rPr>
              <a:t>[14] </a:t>
            </a:r>
            <a:r>
              <a:rPr lang="en-IN" dirty="0">
                <a:latin typeface="Cambria" panose="02040503050406030204" pitchFamily="18" charset="0"/>
                <a:ea typeface="Cambria" panose="02040503050406030204" pitchFamily="18" charset="0"/>
              </a:rPr>
              <a:t>Rania Rajab, Mouhib </a:t>
            </a:r>
            <a:r>
              <a:rPr lang="en-IN" dirty="0" err="1">
                <a:latin typeface="Cambria" panose="02040503050406030204" pitchFamily="18" charset="0"/>
                <a:ea typeface="Cambria" panose="02040503050406030204" pitchFamily="18" charset="0"/>
              </a:rPr>
              <a:t>Alnoukari</a:t>
            </a:r>
            <a:r>
              <a:rPr lang="en-IN" dirty="0">
                <a:latin typeface="Cambria" panose="02040503050406030204" pitchFamily="18" charset="0"/>
                <a:ea typeface="Cambria" panose="02040503050406030204" pitchFamily="18" charset="0"/>
              </a:rPr>
              <a:t>, DevOps Integration With Capability Model Maturity Integration: A Systematic Mapping Review, IEEE Access, vol. 13, pp. 31829–31840, 2025, DOI: 10.1109/ACCESS.2025.3542630. </a:t>
            </a:r>
          </a:p>
          <a:p>
            <a:pPr algn="just">
              <a:lnSpc>
                <a:spcPct val="150000"/>
              </a:lnSpc>
            </a:pPr>
            <a:r>
              <a:rPr lang="en-IN" b="1" dirty="0">
                <a:latin typeface="Cambria" panose="02040503050406030204" pitchFamily="18" charset="0"/>
                <a:ea typeface="Cambria" panose="02040503050406030204" pitchFamily="18" charset="0"/>
              </a:rPr>
              <a:t>[15] </a:t>
            </a:r>
            <a:r>
              <a:rPr lang="en-IN" dirty="0" err="1">
                <a:latin typeface="Cambria" panose="02040503050406030204" pitchFamily="18" charset="0"/>
                <a:ea typeface="Cambria" panose="02040503050406030204" pitchFamily="18" charset="0"/>
              </a:rPr>
              <a:t>Sadaquat</a:t>
            </a:r>
            <a:r>
              <a:rPr lang="en-IN" dirty="0">
                <a:latin typeface="Cambria" panose="02040503050406030204" pitchFamily="18" charset="0"/>
                <a:ea typeface="Cambria" panose="02040503050406030204" pitchFamily="18" charset="0"/>
              </a:rPr>
              <a:t> Ali Ruk, Yasir Mahmood, Azri Azmi, </a:t>
            </a:r>
            <a:r>
              <a:rPr lang="en-IN" dirty="0" err="1">
                <a:latin typeface="Cambria" panose="02040503050406030204" pitchFamily="18" charset="0"/>
                <a:ea typeface="Cambria" panose="02040503050406030204" pitchFamily="18" charset="0"/>
              </a:rPr>
              <a:t>Nurulhuda</a:t>
            </a:r>
            <a:r>
              <a:rPr lang="en-IN" dirty="0">
                <a:latin typeface="Cambria" panose="02040503050406030204" pitchFamily="18" charset="0"/>
                <a:ea typeface="Cambria" panose="02040503050406030204" pitchFamily="18" charset="0"/>
              </a:rPr>
              <a:t> Firdaus Mohd Azmi, Sehar Gul, Effort Estimation in Agile and DevOps: A Systematic Literature Review of Stakeholder Dissatisfaction, IEEE Access, vol. 13, pp. 167925–167960, 2025, DOI: 10.1109/ACCESS.2025.3600321. </a:t>
            </a:r>
          </a:p>
          <a:p>
            <a:pPr algn="just">
              <a:lnSpc>
                <a:spcPct val="150000"/>
              </a:lnSpc>
            </a:pPr>
            <a:r>
              <a:rPr lang="en-IN" b="1" dirty="0">
                <a:latin typeface="Cambria" panose="02040503050406030204" pitchFamily="18" charset="0"/>
                <a:ea typeface="Cambria" panose="02040503050406030204" pitchFamily="18" charset="0"/>
              </a:rPr>
              <a:t>[16]</a:t>
            </a:r>
            <a:r>
              <a:rPr lang="en-IN" dirty="0">
                <a:latin typeface="Cambria" panose="02040503050406030204" pitchFamily="18" charset="0"/>
                <a:ea typeface="Cambria" panose="02040503050406030204" pitchFamily="18" charset="0"/>
              </a:rPr>
              <a:t> Muhammad Azeem Akbar, Abeer Abdulaziz </a:t>
            </a:r>
            <a:r>
              <a:rPr lang="en-IN" dirty="0" err="1">
                <a:latin typeface="Cambria" panose="02040503050406030204" pitchFamily="18" charset="0"/>
                <a:ea typeface="Cambria" panose="02040503050406030204" pitchFamily="18" charset="0"/>
              </a:rPr>
              <a:t>Alsanad</a:t>
            </a:r>
            <a:r>
              <a:rPr lang="en-IN" dirty="0">
                <a:latin typeface="Cambria" panose="02040503050406030204" pitchFamily="18" charset="0"/>
                <a:ea typeface="Cambria" panose="02040503050406030204" pitchFamily="18" charset="0"/>
              </a:rPr>
              <a:t>, </a:t>
            </a:r>
            <a:r>
              <a:rPr lang="en-IN" i="1" dirty="0">
                <a:latin typeface="Cambria" panose="02040503050406030204" pitchFamily="18" charset="0"/>
                <a:ea typeface="Cambria" panose="02040503050406030204" pitchFamily="18" charset="0"/>
              </a:rPr>
              <a:t>Empirical Investigation of Key Enablers for Secure DevOps Practices</a:t>
            </a:r>
            <a:r>
              <a:rPr lang="en-IN" dirty="0">
                <a:latin typeface="Cambria" panose="02040503050406030204" pitchFamily="18" charset="0"/>
                <a:ea typeface="Cambria" panose="02040503050406030204" pitchFamily="18" charset="0"/>
              </a:rPr>
              <a:t>, IEEE Access, vol. 13, pp. 43698–43710, 2025, DOI: 10.1109/ACCESS.2025.3549183.</a:t>
            </a:r>
          </a:p>
          <a:p>
            <a:pPr algn="just">
              <a:lnSpc>
                <a:spcPct val="150000"/>
              </a:lnSpc>
            </a:pPr>
            <a:r>
              <a:rPr lang="en-IN" b="1" dirty="0">
                <a:latin typeface="Cambria" panose="02040503050406030204" pitchFamily="18" charset="0"/>
                <a:ea typeface="Cambria" panose="02040503050406030204" pitchFamily="18" charset="0"/>
              </a:rPr>
              <a:t>[17] </a:t>
            </a:r>
            <a:r>
              <a:rPr lang="en-IN" dirty="0">
                <a:latin typeface="Cambria" panose="02040503050406030204" pitchFamily="18" charset="0"/>
                <a:ea typeface="Cambria" panose="02040503050406030204" pitchFamily="18" charset="0"/>
              </a:rPr>
              <a:t>Junaid Nasir Qureshi, Muhammad Shoaib Farooq, Usman Ali, Adel Khelifi, Zabihullah Atal, Exploring the Integration of Blockchain and Distributed DevOps for Secure, Transparent, and Traceable Software Development, IEEE Access, vol. 13, pp. 15489–15500, 2025, DOI: 10.1109/ACCESS.2024.3509036. </a:t>
            </a:r>
          </a:p>
        </p:txBody>
      </p:sp>
    </p:spTree>
    <p:extLst>
      <p:ext uri="{BB962C8B-B14F-4D97-AF65-F5344CB8AC3E}">
        <p14:creationId xmlns:p14="http://schemas.microsoft.com/office/powerpoint/2010/main" val="906954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27D20-7005-0819-0C79-88760924DDE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7F88FF0-F558-D0C5-2D88-A64AF38A77B6}"/>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D9E393CE-B698-0251-D608-806ABF621E63}"/>
              </a:ext>
            </a:extLst>
          </p:cNvPr>
          <p:cNvSpPr>
            <a:spLocks noGrp="1"/>
          </p:cNvSpPr>
          <p:nvPr>
            <p:ph type="sldNum" sz="quarter" idx="4"/>
          </p:nvPr>
        </p:nvSpPr>
        <p:spPr/>
        <p:txBody>
          <a:bodyPr/>
          <a:lstStyle/>
          <a:p>
            <a:fld id="{FFAE6D68-FB99-4243-9CC1-93FAA8C005BC}" type="slidenum">
              <a:rPr lang="en-IN" smtClean="0"/>
              <a:pPr/>
              <a:t>29</a:t>
            </a:fld>
            <a:endParaRPr lang="en-IN"/>
          </a:p>
        </p:txBody>
      </p:sp>
      <p:sp>
        <p:nvSpPr>
          <p:cNvPr id="4" name="TextBox 3">
            <a:extLst>
              <a:ext uri="{FF2B5EF4-FFF2-40B4-BE49-F238E27FC236}">
                <a16:creationId xmlns:a16="http://schemas.microsoft.com/office/drawing/2014/main" id="{89FA5180-8AA2-57F5-F7C7-980816CEC6D8}"/>
              </a:ext>
            </a:extLst>
          </p:cNvPr>
          <p:cNvSpPr txBox="1"/>
          <p:nvPr/>
        </p:nvSpPr>
        <p:spPr>
          <a:xfrm>
            <a:off x="2798445" y="487802"/>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References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E574BC18-E414-67B4-6133-AD7CFCE406A9}"/>
              </a:ext>
            </a:extLst>
          </p:cNvPr>
          <p:cNvSpPr txBox="1"/>
          <p:nvPr/>
        </p:nvSpPr>
        <p:spPr>
          <a:xfrm>
            <a:off x="81280" y="1754488"/>
            <a:ext cx="12029440" cy="2949462"/>
          </a:xfrm>
          <a:prstGeom prst="rect">
            <a:avLst/>
          </a:prstGeom>
          <a:noFill/>
        </p:spPr>
        <p:txBody>
          <a:bodyPr wrap="square">
            <a:spAutoFit/>
          </a:bodyPr>
          <a:lstStyle/>
          <a:p>
            <a:pPr algn="just">
              <a:lnSpc>
                <a:spcPct val="150000"/>
              </a:lnSpc>
            </a:pPr>
            <a:r>
              <a:rPr lang="en-IN" b="1" dirty="0">
                <a:latin typeface="Cambria" panose="02040503050406030204" pitchFamily="18" charset="0"/>
                <a:ea typeface="Cambria" panose="02040503050406030204" pitchFamily="18" charset="0"/>
              </a:rPr>
              <a:t>[18] </a:t>
            </a:r>
            <a:r>
              <a:rPr lang="en-IN" dirty="0" err="1">
                <a:latin typeface="Cambria" panose="02040503050406030204" pitchFamily="18" charset="0"/>
                <a:ea typeface="Cambria" panose="02040503050406030204" pitchFamily="18" charset="0"/>
              </a:rPr>
              <a:t>Nagasundari</a:t>
            </a:r>
            <a:r>
              <a:rPr lang="en-IN" dirty="0">
                <a:latin typeface="Cambria" panose="02040503050406030204" pitchFamily="18" charset="0"/>
                <a:ea typeface="Cambria" panose="02040503050406030204" pitchFamily="18" charset="0"/>
              </a:rPr>
              <a:t> S, Pratham Manja, Priyansh Mathur, Prasad B. </a:t>
            </a:r>
            <a:r>
              <a:rPr lang="en-IN" dirty="0" err="1">
                <a:latin typeface="Cambria" panose="02040503050406030204" pitchFamily="18" charset="0"/>
                <a:ea typeface="Cambria" panose="02040503050406030204" pitchFamily="18" charset="0"/>
              </a:rPr>
              <a:t>Honnavalli</a:t>
            </a:r>
            <a:r>
              <a:rPr lang="en-IN" dirty="0">
                <a:latin typeface="Cambria" panose="02040503050406030204" pitchFamily="18" charset="0"/>
                <a:ea typeface="Cambria" panose="02040503050406030204" pitchFamily="18" charset="0"/>
              </a:rPr>
              <a:t>, Extensive Review of Threat Models for </a:t>
            </a:r>
            <a:r>
              <a:rPr lang="en-IN" dirty="0" err="1">
                <a:latin typeface="Cambria" panose="02040503050406030204" pitchFamily="18" charset="0"/>
                <a:ea typeface="Cambria" panose="02040503050406030204" pitchFamily="18" charset="0"/>
              </a:rPr>
              <a:t>DevSecOps</a:t>
            </a:r>
            <a:r>
              <a:rPr lang="en-IN" dirty="0">
                <a:latin typeface="Cambria" panose="02040503050406030204" pitchFamily="18" charset="0"/>
                <a:ea typeface="Cambria" panose="02040503050406030204" pitchFamily="18" charset="0"/>
              </a:rPr>
              <a:t>, IEEE Access, vol. 13, pp. 45252–45274, 2025, DOI: 10.1109/ACCESS.2025.3547932, 2025. </a:t>
            </a:r>
          </a:p>
          <a:p>
            <a:pPr algn="just">
              <a:lnSpc>
                <a:spcPct val="150000"/>
              </a:lnSpc>
            </a:pPr>
            <a:r>
              <a:rPr lang="en-IN" b="1" dirty="0">
                <a:latin typeface="Cambria" panose="02040503050406030204" pitchFamily="18" charset="0"/>
                <a:ea typeface="Cambria" panose="02040503050406030204" pitchFamily="18" charset="0"/>
              </a:rPr>
              <a:t>[19]</a:t>
            </a:r>
            <a:r>
              <a:rPr lang="en-IN" dirty="0">
                <a:latin typeface="Cambria" panose="02040503050406030204" pitchFamily="18" charset="0"/>
                <a:ea typeface="Cambria" panose="02040503050406030204" pitchFamily="18" charset="0"/>
              </a:rPr>
              <a:t> Jafar Ababneh, Esam Y. A. Al-</a:t>
            </a:r>
            <a:r>
              <a:rPr lang="en-IN" dirty="0" err="1">
                <a:latin typeface="Cambria" panose="02040503050406030204" pitchFamily="18" charset="0"/>
                <a:ea typeface="Cambria" panose="02040503050406030204" pitchFamily="18" charset="0"/>
              </a:rPr>
              <a:t>Nsour</a:t>
            </a:r>
            <a:r>
              <a:rPr lang="en-IN" dirty="0">
                <a:latin typeface="Cambria" panose="02040503050406030204" pitchFamily="18" charset="0"/>
                <a:ea typeface="Cambria" panose="02040503050406030204" pitchFamily="18" charset="0"/>
              </a:rPr>
              <a:t>, </a:t>
            </a:r>
            <a:r>
              <a:rPr lang="en-IN" dirty="0" err="1">
                <a:latin typeface="Cambria" panose="02040503050406030204" pitchFamily="18" charset="0"/>
                <a:ea typeface="Cambria" panose="02040503050406030204" pitchFamily="18" charset="0"/>
              </a:rPr>
              <a:t>Alaa’a</a:t>
            </a:r>
            <a:r>
              <a:rPr lang="en-IN" dirty="0">
                <a:latin typeface="Cambria" panose="02040503050406030204" pitchFamily="18" charset="0"/>
                <a:ea typeface="Cambria" panose="02040503050406030204" pitchFamily="18" charset="0"/>
              </a:rPr>
              <a:t> Al-Shaikh, Mohammad Rasmi Al-Mousa, Ahmad Al-Zabin, Mahmoud </a:t>
            </a:r>
            <a:r>
              <a:rPr lang="en-IN" dirty="0" err="1">
                <a:latin typeface="Cambria" panose="02040503050406030204" pitchFamily="18" charset="0"/>
                <a:ea typeface="Cambria" panose="02040503050406030204" pitchFamily="18" charset="0"/>
              </a:rPr>
              <a:t>Asassfeh</a:t>
            </a:r>
            <a:r>
              <a:rPr lang="en-IN" dirty="0">
                <a:latin typeface="Cambria" panose="02040503050406030204" pitchFamily="18" charset="0"/>
                <a:ea typeface="Cambria" panose="02040503050406030204" pitchFamily="18" charset="0"/>
              </a:rPr>
              <a:t>, Hasan </a:t>
            </a:r>
            <a:r>
              <a:rPr lang="en-IN" dirty="0" err="1">
                <a:latin typeface="Cambria" panose="02040503050406030204" pitchFamily="18" charset="0"/>
                <a:ea typeface="Cambria" panose="02040503050406030204" pitchFamily="18" charset="0"/>
              </a:rPr>
              <a:t>Abualese</a:t>
            </a:r>
            <a:r>
              <a:rPr lang="en-IN" dirty="0">
                <a:latin typeface="Cambria" panose="02040503050406030204" pitchFamily="18" charset="0"/>
                <a:ea typeface="Cambria" panose="02040503050406030204" pitchFamily="18" charset="0"/>
              </a:rPr>
              <a:t>, </a:t>
            </a:r>
            <a:r>
              <a:rPr lang="en-IN" i="1" dirty="0">
                <a:latin typeface="Cambria" panose="02040503050406030204" pitchFamily="18" charset="0"/>
                <a:ea typeface="Cambria" panose="02040503050406030204" pitchFamily="18" charset="0"/>
              </a:rPr>
              <a:t>Enhancing DevOps Continuous Monitoring Phase: Hybrid Intrusion Detection and Ensemble Learning System (HIDELS)</a:t>
            </a:r>
            <a:r>
              <a:rPr lang="en-IN" dirty="0">
                <a:latin typeface="Cambria" panose="02040503050406030204" pitchFamily="18" charset="0"/>
                <a:ea typeface="Cambria" panose="02040503050406030204" pitchFamily="18" charset="0"/>
              </a:rPr>
              <a:t>, IEEE Access, vol. 14, pp. 4733–4755, 2026, DOI: 10.1109/ACCESS.2026.3650793.</a:t>
            </a:r>
          </a:p>
          <a:p>
            <a:pPr algn="just">
              <a:lnSpc>
                <a:spcPct val="150000"/>
              </a:lnSpc>
            </a:pPr>
            <a:r>
              <a:rPr lang="en-US" b="1" dirty="0">
                <a:latin typeface="Cambria" panose="02040503050406030204" pitchFamily="18" charset="0"/>
                <a:ea typeface="Cambria" panose="02040503050406030204" pitchFamily="18" charset="0"/>
              </a:rPr>
              <a:t>[20]</a:t>
            </a:r>
            <a:r>
              <a:rPr lang="en-US" dirty="0">
                <a:latin typeface="Cambria" panose="02040503050406030204" pitchFamily="18" charset="0"/>
                <a:ea typeface="Cambria" panose="02040503050406030204" pitchFamily="18" charset="0"/>
              </a:rPr>
              <a:t> Ahmad </a:t>
            </a:r>
            <a:r>
              <a:rPr lang="en-US" dirty="0" err="1">
                <a:latin typeface="Cambria" panose="02040503050406030204" pitchFamily="18" charset="0"/>
                <a:ea typeface="Cambria" panose="02040503050406030204" pitchFamily="18" charset="0"/>
              </a:rPr>
              <a:t>Alnafessah</a:t>
            </a:r>
            <a:r>
              <a:rPr lang="en-US" dirty="0">
                <a:latin typeface="Cambria" panose="02040503050406030204" pitchFamily="18" charset="0"/>
                <a:ea typeface="Cambria" panose="02040503050406030204" pitchFamily="18" charset="0"/>
              </a:rPr>
              <a:t>, Alim Ul </a:t>
            </a:r>
            <a:r>
              <a:rPr lang="en-US" dirty="0" err="1">
                <a:latin typeface="Cambria" panose="02040503050406030204" pitchFamily="18" charset="0"/>
                <a:ea typeface="Cambria" panose="02040503050406030204" pitchFamily="18" charset="0"/>
              </a:rPr>
              <a:t>Gias</a:t>
            </a:r>
            <a:r>
              <a:rPr lang="en-US" dirty="0">
                <a:latin typeface="Cambria" panose="02040503050406030204" pitchFamily="18" charset="0"/>
                <a:ea typeface="Cambria" panose="02040503050406030204" pitchFamily="18" charset="0"/>
              </a:rPr>
              <a:t>, Runan Wang, Lulai Zhu, Giuliano Casale, Antonio </a:t>
            </a:r>
            <a:r>
              <a:rPr lang="en-US" dirty="0" err="1">
                <a:latin typeface="Cambria" panose="02040503050406030204" pitchFamily="18" charset="0"/>
                <a:ea typeface="Cambria" panose="02040503050406030204" pitchFamily="18" charset="0"/>
              </a:rPr>
              <a:t>Filieri</a:t>
            </a:r>
            <a:r>
              <a:rPr lang="en-US" dirty="0">
                <a:latin typeface="Cambria" panose="02040503050406030204" pitchFamily="18" charset="0"/>
                <a:ea typeface="Cambria" panose="02040503050406030204" pitchFamily="18" charset="0"/>
              </a:rPr>
              <a:t>, </a:t>
            </a:r>
            <a:r>
              <a:rPr lang="en-US" i="1" dirty="0">
                <a:latin typeface="Cambria" panose="02040503050406030204" pitchFamily="18" charset="0"/>
                <a:ea typeface="Cambria" panose="02040503050406030204" pitchFamily="18" charset="0"/>
              </a:rPr>
              <a:t>Quality-Aware DevOps Research: Where Do We Stand?</a:t>
            </a:r>
            <a:r>
              <a:rPr lang="en-US" dirty="0">
                <a:latin typeface="Cambria" panose="02040503050406030204" pitchFamily="18" charset="0"/>
                <a:ea typeface="Cambria" panose="02040503050406030204" pitchFamily="18" charset="0"/>
              </a:rPr>
              <a:t>, IEEE Access, vol. 9, pp. 44476–44489, 2021, DOI: 10.1109/ACCESS.2021.3064867.</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230002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30</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30389" y="2775955"/>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Q &amp; A</a:t>
            </a:r>
            <a:endParaRPr lang="en-IN" sz="40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850230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31</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580264" y="2735011"/>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Thank You</a:t>
            </a:r>
            <a:endParaRPr lang="en-IN" sz="40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384833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TotalTime>
  <Words>3123</Words>
  <Application>Microsoft Office PowerPoint</Application>
  <PresentationFormat>Widescreen</PresentationFormat>
  <Paragraphs>318</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Shakthivel K</cp:lastModifiedBy>
  <cp:revision>63</cp:revision>
  <dcterms:created xsi:type="dcterms:W3CDTF">2026-02-18T04:52:12Z</dcterms:created>
  <dcterms:modified xsi:type="dcterms:W3CDTF">2026-05-19T14:15:29Z</dcterms:modified>
</cp:coreProperties>
</file>