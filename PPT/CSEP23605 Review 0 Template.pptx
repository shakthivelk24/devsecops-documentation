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9"/>
  </p:notesMasterIdLst>
  <p:sldIdLst>
    <p:sldId id="256" r:id="rId2"/>
    <p:sldId id="258" r:id="rId3"/>
    <p:sldId id="259" r:id="rId4"/>
    <p:sldId id="260" r:id="rId5"/>
    <p:sldId id="266" r:id="rId6"/>
    <p:sldId id="270" r:id="rId7"/>
    <p:sldId id="265" r:id="rId8"/>
    <p:sldId id="267" r:id="rId9"/>
    <p:sldId id="271" r:id="rId10"/>
    <p:sldId id="268" r:id="rId11"/>
    <p:sldId id="261" r:id="rId12"/>
    <p:sldId id="275" r:id="rId13"/>
    <p:sldId id="276" r:id="rId14"/>
    <p:sldId id="277" r:id="rId15"/>
    <p:sldId id="278" r:id="rId16"/>
    <p:sldId id="263" r:id="rId17"/>
    <p:sldId id="264"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309" autoAdjust="0"/>
    <p:restoredTop sz="94660"/>
  </p:normalViewPr>
  <p:slideViewPr>
    <p:cSldViewPr snapToGrid="0">
      <p:cViewPr varScale="1">
        <p:scale>
          <a:sx n="63" d="100"/>
          <a:sy n="63" d="100"/>
        </p:scale>
        <p:origin x="52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0881A4-97E0-4626-BA30-074D23D3B5E2}" type="datetimeFigureOut">
              <a:rPr lang="en-IN" smtClean="0"/>
              <a:t>27-02-2026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CCE34-49A7-43AF-8BAD-FB84CE1E7183}" type="slidenum">
              <a:rPr lang="en-IN" smtClean="0"/>
              <a:t>‹#›</a:t>
            </a:fld>
            <a:endParaRPr lang="en-IN"/>
          </a:p>
        </p:txBody>
      </p:sp>
    </p:spTree>
    <p:extLst>
      <p:ext uri="{BB962C8B-B14F-4D97-AF65-F5344CB8AC3E}">
        <p14:creationId xmlns:p14="http://schemas.microsoft.com/office/powerpoint/2010/main" val="19980218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7" name="Footer Placeholder 4"/>
          <p:cNvSpPr>
            <a:spLocks noGrp="1"/>
          </p:cNvSpPr>
          <p:nvPr>
            <p:ph type="ftr" sz="quarter" idx="3"/>
          </p:nvPr>
        </p:nvSpPr>
        <p:spPr>
          <a:xfrm>
            <a:off x="838200" y="6356350"/>
            <a:ext cx="7315200" cy="365125"/>
          </a:xfrm>
          <a:prstGeom prst="rect">
            <a:avLst/>
          </a:prstGeom>
        </p:spPr>
        <p:txBody>
          <a:bodyPr vert="horz" lIns="91440" tIns="45720" rIns="91440" bIns="45720" rtlCol="0" anchor="ctr"/>
          <a:lstStyle>
            <a:lvl1pPr algn="l">
              <a:defRPr sz="1200">
                <a:solidFill>
                  <a:schemeClr val="tx1"/>
                </a:solidFill>
                <a:latin typeface="Cambria" panose="02040503050406030204" pitchFamily="18" charset="0"/>
                <a:ea typeface="Cambria" panose="02040503050406030204" pitchFamily="18" charset="0"/>
              </a:defRPr>
            </a:lvl1pPr>
          </a:lstStyle>
          <a:p>
            <a:r>
              <a:rPr lang="en-US"/>
              <a:t>Dept. of CSE | GAT | 2025-26                                                                                                           CSEP23605</a:t>
            </a:r>
            <a:endParaRPr lang="en-IN" dirty="0"/>
          </a:p>
        </p:txBody>
      </p:sp>
      <p:sp>
        <p:nvSpPr>
          <p:cNvPr id="8"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olidFill>
                <a:latin typeface="Cambria" panose="02040503050406030204" pitchFamily="18" charset="0"/>
                <a:ea typeface="Cambria" panose="02040503050406030204" pitchFamily="18" charset="0"/>
              </a:defRPr>
            </a:lvl1pPr>
          </a:lstStyle>
          <a:p>
            <a:fld id="{FFAE6D68-FB99-4243-9CC1-93FAA8C005BC}" type="slidenum">
              <a:rPr lang="en-IN" smtClean="0"/>
              <a:pPr/>
              <a:t>‹#›</a:t>
            </a:fld>
            <a:endParaRPr lang="en-IN"/>
          </a:p>
        </p:txBody>
      </p:sp>
    </p:spTree>
    <p:extLst>
      <p:ext uri="{BB962C8B-B14F-4D97-AF65-F5344CB8AC3E}">
        <p14:creationId xmlns:p14="http://schemas.microsoft.com/office/powerpoint/2010/main" val="27783702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Footer Placeholder 4"/>
          <p:cNvSpPr>
            <a:spLocks noGrp="1"/>
          </p:cNvSpPr>
          <p:nvPr>
            <p:ph type="ftr" sz="quarter" idx="3"/>
          </p:nvPr>
        </p:nvSpPr>
        <p:spPr>
          <a:xfrm>
            <a:off x="838200" y="6356350"/>
            <a:ext cx="7315200" cy="365125"/>
          </a:xfrm>
          <a:prstGeom prst="rect">
            <a:avLst/>
          </a:prstGeom>
        </p:spPr>
        <p:txBody>
          <a:bodyPr vert="horz" lIns="91440" tIns="45720" rIns="91440" bIns="45720" rtlCol="0" anchor="ctr"/>
          <a:lstStyle>
            <a:lvl1pPr algn="l">
              <a:defRPr sz="1200">
                <a:solidFill>
                  <a:schemeClr val="tx1"/>
                </a:solidFill>
                <a:latin typeface="Cambria" panose="02040503050406030204" pitchFamily="18" charset="0"/>
                <a:ea typeface="Cambria" panose="02040503050406030204" pitchFamily="18" charset="0"/>
              </a:defRPr>
            </a:lvl1pPr>
          </a:lstStyle>
          <a:p>
            <a:r>
              <a:rPr lang="en-US"/>
              <a:t>Dept. of CSE | GAT | 2025-26                                                                                                           CSEP23605</a:t>
            </a:r>
            <a:endParaRPr lang="en-IN" dirty="0"/>
          </a:p>
        </p:txBody>
      </p:sp>
      <p:sp>
        <p:nvSpPr>
          <p:cNvPr id="8"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olidFill>
                <a:latin typeface="Cambria" panose="02040503050406030204" pitchFamily="18" charset="0"/>
                <a:ea typeface="Cambria" panose="02040503050406030204" pitchFamily="18" charset="0"/>
              </a:defRPr>
            </a:lvl1pPr>
          </a:lstStyle>
          <a:p>
            <a:fld id="{FFAE6D68-FB99-4243-9CC1-93FAA8C005BC}" type="slidenum">
              <a:rPr lang="en-IN" smtClean="0"/>
              <a:pPr/>
              <a:t>‹#›</a:t>
            </a:fld>
            <a:endParaRPr lang="en-IN"/>
          </a:p>
        </p:txBody>
      </p:sp>
    </p:spTree>
    <p:extLst>
      <p:ext uri="{BB962C8B-B14F-4D97-AF65-F5344CB8AC3E}">
        <p14:creationId xmlns:p14="http://schemas.microsoft.com/office/powerpoint/2010/main" val="31712476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7" name="Footer Placeholder 4"/>
          <p:cNvSpPr>
            <a:spLocks noGrp="1"/>
          </p:cNvSpPr>
          <p:nvPr>
            <p:ph type="ftr" sz="quarter" idx="3"/>
          </p:nvPr>
        </p:nvSpPr>
        <p:spPr>
          <a:xfrm>
            <a:off x="838200" y="6356350"/>
            <a:ext cx="7315200" cy="365125"/>
          </a:xfrm>
          <a:prstGeom prst="rect">
            <a:avLst/>
          </a:prstGeom>
        </p:spPr>
        <p:txBody>
          <a:bodyPr vert="horz" lIns="91440" tIns="45720" rIns="91440" bIns="45720" rtlCol="0" anchor="ctr"/>
          <a:lstStyle>
            <a:lvl1pPr algn="l">
              <a:defRPr sz="1200">
                <a:solidFill>
                  <a:schemeClr val="tx1"/>
                </a:solidFill>
                <a:latin typeface="Cambria" panose="02040503050406030204" pitchFamily="18" charset="0"/>
                <a:ea typeface="Cambria" panose="02040503050406030204" pitchFamily="18" charset="0"/>
              </a:defRPr>
            </a:lvl1pPr>
          </a:lstStyle>
          <a:p>
            <a:r>
              <a:rPr lang="en-US"/>
              <a:t>Dept. of CSE | GAT | 2025-26                                                                                                           CSEP23605</a:t>
            </a:r>
            <a:endParaRPr lang="en-IN" dirty="0"/>
          </a:p>
        </p:txBody>
      </p:sp>
      <p:sp>
        <p:nvSpPr>
          <p:cNvPr id="8"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olidFill>
                <a:latin typeface="Cambria" panose="02040503050406030204" pitchFamily="18" charset="0"/>
                <a:ea typeface="Cambria" panose="02040503050406030204" pitchFamily="18" charset="0"/>
              </a:defRPr>
            </a:lvl1pPr>
          </a:lstStyle>
          <a:p>
            <a:fld id="{FFAE6D68-FB99-4243-9CC1-93FAA8C005BC}" type="slidenum">
              <a:rPr lang="en-IN" smtClean="0"/>
              <a:pPr/>
              <a:t>‹#›</a:t>
            </a:fld>
            <a:endParaRPr lang="en-IN"/>
          </a:p>
        </p:txBody>
      </p:sp>
    </p:spTree>
    <p:extLst>
      <p:ext uri="{BB962C8B-B14F-4D97-AF65-F5344CB8AC3E}">
        <p14:creationId xmlns:p14="http://schemas.microsoft.com/office/powerpoint/2010/main" val="29548808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8" name="Footer Placeholder 4"/>
          <p:cNvSpPr>
            <a:spLocks noGrp="1"/>
          </p:cNvSpPr>
          <p:nvPr>
            <p:ph type="ftr" sz="quarter" idx="3"/>
          </p:nvPr>
        </p:nvSpPr>
        <p:spPr>
          <a:xfrm>
            <a:off x="838200" y="6356350"/>
            <a:ext cx="7315200" cy="365125"/>
          </a:xfrm>
          <a:prstGeom prst="rect">
            <a:avLst/>
          </a:prstGeom>
        </p:spPr>
        <p:txBody>
          <a:bodyPr vert="horz" lIns="91440" tIns="45720" rIns="91440" bIns="45720" rtlCol="0" anchor="ctr"/>
          <a:lstStyle>
            <a:lvl1pPr algn="l">
              <a:defRPr sz="1200">
                <a:solidFill>
                  <a:schemeClr val="tx1"/>
                </a:solidFill>
                <a:latin typeface="Cambria" panose="02040503050406030204" pitchFamily="18" charset="0"/>
                <a:ea typeface="Cambria" panose="02040503050406030204" pitchFamily="18" charset="0"/>
              </a:defRPr>
            </a:lvl1pPr>
          </a:lstStyle>
          <a:p>
            <a:r>
              <a:rPr lang="en-US"/>
              <a:t>Dept. of CSE | GAT | 2025-26                                                                                                           CSEP23605</a:t>
            </a:r>
            <a:endParaRPr lang="en-IN" dirty="0"/>
          </a:p>
        </p:txBody>
      </p:sp>
      <p:sp>
        <p:nvSpPr>
          <p:cNvPr id="9"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olidFill>
                <a:latin typeface="Cambria" panose="02040503050406030204" pitchFamily="18" charset="0"/>
                <a:ea typeface="Cambria" panose="02040503050406030204" pitchFamily="18" charset="0"/>
              </a:defRPr>
            </a:lvl1pPr>
          </a:lstStyle>
          <a:p>
            <a:fld id="{FFAE6D68-FB99-4243-9CC1-93FAA8C005BC}" type="slidenum">
              <a:rPr lang="en-IN" smtClean="0"/>
              <a:pPr/>
              <a:t>‹#›</a:t>
            </a:fld>
            <a:endParaRPr lang="en-IN"/>
          </a:p>
        </p:txBody>
      </p:sp>
    </p:spTree>
    <p:extLst>
      <p:ext uri="{BB962C8B-B14F-4D97-AF65-F5344CB8AC3E}">
        <p14:creationId xmlns:p14="http://schemas.microsoft.com/office/powerpoint/2010/main" val="18517748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 name="Footer Placeholder 4"/>
          <p:cNvSpPr>
            <a:spLocks noGrp="1"/>
          </p:cNvSpPr>
          <p:nvPr>
            <p:ph type="ftr" sz="quarter" idx="10"/>
          </p:nvPr>
        </p:nvSpPr>
        <p:spPr>
          <a:xfrm>
            <a:off x="838200" y="6356350"/>
            <a:ext cx="7315200" cy="365125"/>
          </a:xfrm>
          <a:prstGeom prst="rect">
            <a:avLst/>
          </a:prstGeom>
        </p:spPr>
        <p:txBody>
          <a:bodyPr vert="horz" lIns="91440" tIns="45720" rIns="91440" bIns="45720" rtlCol="0" anchor="ctr"/>
          <a:lstStyle>
            <a:lvl1pPr algn="l">
              <a:defRPr sz="1200">
                <a:solidFill>
                  <a:schemeClr val="tx1"/>
                </a:solidFill>
                <a:latin typeface="Cambria" panose="02040503050406030204" pitchFamily="18" charset="0"/>
                <a:ea typeface="Cambria" panose="02040503050406030204" pitchFamily="18" charset="0"/>
              </a:defRPr>
            </a:lvl1pPr>
          </a:lstStyle>
          <a:p>
            <a:r>
              <a:rPr lang="en-US"/>
              <a:t>Dept. of CSE | GAT | 2025-26                                                                                                           CSEP23605</a:t>
            </a:r>
            <a:endParaRPr lang="en-IN" dirty="0"/>
          </a:p>
        </p:txBody>
      </p:sp>
      <p:sp>
        <p:nvSpPr>
          <p:cNvPr id="11" name="Slide Number Placeholder 5"/>
          <p:cNvSpPr>
            <a:spLocks noGrp="1"/>
          </p:cNvSpPr>
          <p:nvPr>
            <p:ph type="sldNum" sz="quarter" idx="11"/>
          </p:nvPr>
        </p:nvSpPr>
        <p:spPr>
          <a:xfrm>
            <a:off x="8610600" y="6356350"/>
            <a:ext cx="2743200" cy="365125"/>
          </a:xfrm>
          <a:prstGeom prst="rect">
            <a:avLst/>
          </a:prstGeom>
        </p:spPr>
        <p:txBody>
          <a:bodyPr vert="horz" lIns="91440" tIns="45720" rIns="91440" bIns="45720" rtlCol="0" anchor="ctr"/>
          <a:lstStyle>
            <a:lvl1pPr algn="r">
              <a:defRPr sz="1200">
                <a:solidFill>
                  <a:schemeClr val="tx1"/>
                </a:solidFill>
                <a:latin typeface="Cambria" panose="02040503050406030204" pitchFamily="18" charset="0"/>
                <a:ea typeface="Cambria" panose="02040503050406030204" pitchFamily="18" charset="0"/>
              </a:defRPr>
            </a:lvl1pPr>
          </a:lstStyle>
          <a:p>
            <a:fld id="{FFAE6D68-FB99-4243-9CC1-93FAA8C005BC}" type="slidenum">
              <a:rPr lang="en-IN" smtClean="0"/>
              <a:pPr/>
              <a:t>‹#›</a:t>
            </a:fld>
            <a:endParaRPr lang="en-IN"/>
          </a:p>
        </p:txBody>
      </p:sp>
    </p:spTree>
    <p:extLst>
      <p:ext uri="{BB962C8B-B14F-4D97-AF65-F5344CB8AC3E}">
        <p14:creationId xmlns:p14="http://schemas.microsoft.com/office/powerpoint/2010/main" val="36654458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6" name="Footer Placeholder 4"/>
          <p:cNvSpPr>
            <a:spLocks noGrp="1"/>
          </p:cNvSpPr>
          <p:nvPr>
            <p:ph type="ftr" sz="quarter" idx="3"/>
          </p:nvPr>
        </p:nvSpPr>
        <p:spPr>
          <a:xfrm>
            <a:off x="838200" y="6356350"/>
            <a:ext cx="7315200" cy="365125"/>
          </a:xfrm>
          <a:prstGeom prst="rect">
            <a:avLst/>
          </a:prstGeom>
        </p:spPr>
        <p:txBody>
          <a:bodyPr vert="horz" lIns="91440" tIns="45720" rIns="91440" bIns="45720" rtlCol="0" anchor="ctr"/>
          <a:lstStyle>
            <a:lvl1pPr algn="l">
              <a:defRPr sz="1200">
                <a:solidFill>
                  <a:schemeClr val="tx1"/>
                </a:solidFill>
                <a:latin typeface="Cambria" panose="02040503050406030204" pitchFamily="18" charset="0"/>
                <a:ea typeface="Cambria" panose="02040503050406030204" pitchFamily="18" charset="0"/>
              </a:defRPr>
            </a:lvl1pPr>
          </a:lstStyle>
          <a:p>
            <a:r>
              <a:rPr lang="en-US"/>
              <a:t>Dept. of CSE | GAT | 2025-26                                                                                                           CSEP23605</a:t>
            </a:r>
            <a:endParaRPr lang="en-IN" dirty="0"/>
          </a:p>
        </p:txBody>
      </p:sp>
      <p:sp>
        <p:nvSpPr>
          <p:cNvPr id="7"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olidFill>
                <a:latin typeface="Cambria" panose="02040503050406030204" pitchFamily="18" charset="0"/>
                <a:ea typeface="Cambria" panose="02040503050406030204" pitchFamily="18" charset="0"/>
              </a:defRPr>
            </a:lvl1pPr>
          </a:lstStyle>
          <a:p>
            <a:fld id="{FFAE6D68-FB99-4243-9CC1-93FAA8C005BC}" type="slidenum">
              <a:rPr lang="en-IN" smtClean="0"/>
              <a:pPr/>
              <a:t>‹#›</a:t>
            </a:fld>
            <a:endParaRPr lang="en-IN"/>
          </a:p>
        </p:txBody>
      </p:sp>
    </p:spTree>
    <p:extLst>
      <p:ext uri="{BB962C8B-B14F-4D97-AF65-F5344CB8AC3E}">
        <p14:creationId xmlns:p14="http://schemas.microsoft.com/office/powerpoint/2010/main" val="13962669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381000" y="6410138"/>
            <a:ext cx="7315200" cy="365125"/>
          </a:xfrm>
          <a:prstGeom prst="rect">
            <a:avLst/>
          </a:prstGeom>
        </p:spPr>
        <p:txBody>
          <a:bodyPr vert="horz" lIns="91440" tIns="45720" rIns="91440" bIns="45720" rtlCol="0" anchor="ctr"/>
          <a:lstStyle>
            <a:lvl1pPr algn="l">
              <a:defRPr sz="1200">
                <a:solidFill>
                  <a:schemeClr val="bg1"/>
                </a:solidFill>
                <a:latin typeface="Cambria" panose="02040503050406030204" pitchFamily="18" charset="0"/>
                <a:ea typeface="Cambria" panose="02040503050406030204" pitchFamily="18" charset="0"/>
              </a:defRPr>
            </a:lvl1pPr>
          </a:lstStyle>
          <a:p>
            <a:r>
              <a:rPr lang="en-US"/>
              <a:t>Dept. of CSE | GAT | 2025-26                                                                                                           CSEP23605</a:t>
            </a:r>
            <a:endParaRPr lang="en-IN" dirty="0"/>
          </a:p>
        </p:txBody>
      </p:sp>
      <p:sp>
        <p:nvSpPr>
          <p:cNvPr id="6" name="Slide Number Placeholder 5"/>
          <p:cNvSpPr>
            <a:spLocks noGrp="1"/>
          </p:cNvSpPr>
          <p:nvPr>
            <p:ph type="sldNum" sz="quarter" idx="4"/>
          </p:nvPr>
        </p:nvSpPr>
        <p:spPr>
          <a:xfrm>
            <a:off x="9175374" y="6396691"/>
            <a:ext cx="2743200" cy="365125"/>
          </a:xfrm>
          <a:prstGeom prst="rect">
            <a:avLst/>
          </a:prstGeom>
        </p:spPr>
        <p:txBody>
          <a:bodyPr vert="horz" lIns="91440" tIns="45720" rIns="91440" bIns="45720" rtlCol="0" anchor="ctr"/>
          <a:lstStyle>
            <a:lvl1pPr algn="r">
              <a:defRPr sz="1200">
                <a:solidFill>
                  <a:schemeClr val="bg1"/>
                </a:solidFill>
                <a:latin typeface="Cambria" panose="02040503050406030204" pitchFamily="18" charset="0"/>
                <a:ea typeface="Cambria" panose="02040503050406030204" pitchFamily="18" charset="0"/>
              </a:defRPr>
            </a:lvl1pPr>
          </a:lstStyle>
          <a:p>
            <a:fld id="{FFAE6D68-FB99-4243-9CC1-93FAA8C005BC}" type="slidenum">
              <a:rPr lang="en-IN" smtClean="0"/>
              <a:pPr/>
              <a:t>‹#›</a:t>
            </a:fld>
            <a:endParaRPr lang="en-IN"/>
          </a:p>
        </p:txBody>
      </p:sp>
    </p:spTree>
    <p:extLst>
      <p:ext uri="{BB962C8B-B14F-4D97-AF65-F5344CB8AC3E}">
        <p14:creationId xmlns:p14="http://schemas.microsoft.com/office/powerpoint/2010/main" val="33263490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8" name="Footer Placeholder 4"/>
          <p:cNvSpPr>
            <a:spLocks noGrp="1"/>
          </p:cNvSpPr>
          <p:nvPr>
            <p:ph type="ftr" sz="quarter" idx="3"/>
          </p:nvPr>
        </p:nvSpPr>
        <p:spPr>
          <a:xfrm>
            <a:off x="838200" y="6356350"/>
            <a:ext cx="7315200" cy="365125"/>
          </a:xfrm>
          <a:prstGeom prst="rect">
            <a:avLst/>
          </a:prstGeom>
        </p:spPr>
        <p:txBody>
          <a:bodyPr vert="horz" lIns="91440" tIns="45720" rIns="91440" bIns="45720" rtlCol="0" anchor="ctr"/>
          <a:lstStyle>
            <a:lvl1pPr algn="l">
              <a:defRPr sz="1200">
                <a:solidFill>
                  <a:schemeClr val="tx1"/>
                </a:solidFill>
                <a:latin typeface="Cambria" panose="02040503050406030204" pitchFamily="18" charset="0"/>
                <a:ea typeface="Cambria" panose="02040503050406030204" pitchFamily="18" charset="0"/>
              </a:defRPr>
            </a:lvl1pPr>
          </a:lstStyle>
          <a:p>
            <a:r>
              <a:rPr lang="en-US"/>
              <a:t>Dept. of CSE | GAT | 2025-26                                                                                                           CSEP23605</a:t>
            </a:r>
            <a:endParaRPr lang="en-IN" dirty="0"/>
          </a:p>
        </p:txBody>
      </p:sp>
      <p:sp>
        <p:nvSpPr>
          <p:cNvPr id="9"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olidFill>
                <a:latin typeface="Cambria" panose="02040503050406030204" pitchFamily="18" charset="0"/>
                <a:ea typeface="Cambria" panose="02040503050406030204" pitchFamily="18" charset="0"/>
              </a:defRPr>
            </a:lvl1pPr>
          </a:lstStyle>
          <a:p>
            <a:fld id="{FFAE6D68-FB99-4243-9CC1-93FAA8C005BC}" type="slidenum">
              <a:rPr lang="en-IN" smtClean="0"/>
              <a:pPr/>
              <a:t>‹#›</a:t>
            </a:fld>
            <a:endParaRPr lang="en-IN"/>
          </a:p>
        </p:txBody>
      </p:sp>
    </p:spTree>
    <p:extLst>
      <p:ext uri="{BB962C8B-B14F-4D97-AF65-F5344CB8AC3E}">
        <p14:creationId xmlns:p14="http://schemas.microsoft.com/office/powerpoint/2010/main" val="9658477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8" name="Footer Placeholder 4"/>
          <p:cNvSpPr>
            <a:spLocks noGrp="1"/>
          </p:cNvSpPr>
          <p:nvPr>
            <p:ph type="ftr" sz="quarter" idx="3"/>
          </p:nvPr>
        </p:nvSpPr>
        <p:spPr>
          <a:xfrm>
            <a:off x="838200" y="6356350"/>
            <a:ext cx="7315200" cy="365125"/>
          </a:xfrm>
          <a:prstGeom prst="rect">
            <a:avLst/>
          </a:prstGeom>
        </p:spPr>
        <p:txBody>
          <a:bodyPr vert="horz" lIns="91440" tIns="45720" rIns="91440" bIns="45720" rtlCol="0" anchor="ctr"/>
          <a:lstStyle>
            <a:lvl1pPr algn="l">
              <a:defRPr sz="1200">
                <a:solidFill>
                  <a:schemeClr val="tx1"/>
                </a:solidFill>
                <a:latin typeface="Cambria" panose="02040503050406030204" pitchFamily="18" charset="0"/>
                <a:ea typeface="Cambria" panose="02040503050406030204" pitchFamily="18" charset="0"/>
              </a:defRPr>
            </a:lvl1pPr>
          </a:lstStyle>
          <a:p>
            <a:r>
              <a:rPr lang="en-US"/>
              <a:t>Dept. of CSE | GAT | 2025-26                                                                                                           CSEP23605</a:t>
            </a:r>
            <a:endParaRPr lang="en-IN" dirty="0"/>
          </a:p>
        </p:txBody>
      </p:sp>
      <p:sp>
        <p:nvSpPr>
          <p:cNvPr id="9"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olidFill>
                <a:latin typeface="Cambria" panose="02040503050406030204" pitchFamily="18" charset="0"/>
                <a:ea typeface="Cambria" panose="02040503050406030204" pitchFamily="18" charset="0"/>
              </a:defRPr>
            </a:lvl1pPr>
          </a:lstStyle>
          <a:p>
            <a:fld id="{FFAE6D68-FB99-4243-9CC1-93FAA8C005BC}" type="slidenum">
              <a:rPr lang="en-IN" smtClean="0"/>
              <a:pPr/>
              <a:t>‹#›</a:t>
            </a:fld>
            <a:endParaRPr lang="en-IN"/>
          </a:p>
        </p:txBody>
      </p:sp>
    </p:spTree>
    <p:extLst>
      <p:ext uri="{BB962C8B-B14F-4D97-AF65-F5344CB8AC3E}">
        <p14:creationId xmlns:p14="http://schemas.microsoft.com/office/powerpoint/2010/main" val="1364677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Footer Placeholder 4"/>
          <p:cNvSpPr>
            <a:spLocks noGrp="1"/>
          </p:cNvSpPr>
          <p:nvPr>
            <p:ph type="ftr" sz="quarter" idx="3"/>
          </p:nvPr>
        </p:nvSpPr>
        <p:spPr>
          <a:xfrm>
            <a:off x="838200" y="6356350"/>
            <a:ext cx="7315200" cy="365125"/>
          </a:xfrm>
          <a:prstGeom prst="rect">
            <a:avLst/>
          </a:prstGeom>
        </p:spPr>
        <p:txBody>
          <a:bodyPr vert="horz" lIns="91440" tIns="45720" rIns="91440" bIns="45720" rtlCol="0" anchor="ctr"/>
          <a:lstStyle>
            <a:lvl1pPr algn="l">
              <a:defRPr sz="1200">
                <a:solidFill>
                  <a:schemeClr val="tx1"/>
                </a:solidFill>
                <a:latin typeface="Cambria" panose="02040503050406030204" pitchFamily="18" charset="0"/>
                <a:ea typeface="Cambria" panose="02040503050406030204" pitchFamily="18" charset="0"/>
              </a:defRPr>
            </a:lvl1pPr>
          </a:lstStyle>
          <a:p>
            <a:r>
              <a:rPr lang="en-US"/>
              <a:t>Dept. of CSE | GAT | 2025-26                                                                                                           CSEP23605</a:t>
            </a:r>
            <a:endParaRPr lang="en-IN" dirty="0"/>
          </a:p>
        </p:txBody>
      </p:sp>
      <p:sp>
        <p:nvSpPr>
          <p:cNvPr id="8"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olidFill>
                <a:latin typeface="Cambria" panose="02040503050406030204" pitchFamily="18" charset="0"/>
                <a:ea typeface="Cambria" panose="02040503050406030204" pitchFamily="18" charset="0"/>
              </a:defRPr>
            </a:lvl1pPr>
          </a:lstStyle>
          <a:p>
            <a:fld id="{FFAE6D68-FB99-4243-9CC1-93FAA8C005BC}" type="slidenum">
              <a:rPr lang="en-IN" smtClean="0"/>
              <a:pPr/>
              <a:t>‹#›</a:t>
            </a:fld>
            <a:endParaRPr lang="en-IN"/>
          </a:p>
        </p:txBody>
      </p:sp>
    </p:spTree>
    <p:extLst>
      <p:ext uri="{BB962C8B-B14F-4D97-AF65-F5344CB8AC3E}">
        <p14:creationId xmlns:p14="http://schemas.microsoft.com/office/powerpoint/2010/main" val="37832523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Footer Placeholder 4"/>
          <p:cNvSpPr>
            <a:spLocks noGrp="1"/>
          </p:cNvSpPr>
          <p:nvPr>
            <p:ph type="ftr" sz="quarter" idx="3"/>
          </p:nvPr>
        </p:nvSpPr>
        <p:spPr>
          <a:xfrm>
            <a:off x="838200" y="6356350"/>
            <a:ext cx="7315200" cy="365125"/>
          </a:xfrm>
          <a:prstGeom prst="rect">
            <a:avLst/>
          </a:prstGeom>
        </p:spPr>
        <p:txBody>
          <a:bodyPr vert="horz" lIns="91440" tIns="45720" rIns="91440" bIns="45720" rtlCol="0" anchor="ctr"/>
          <a:lstStyle>
            <a:lvl1pPr algn="l">
              <a:defRPr sz="1200">
                <a:solidFill>
                  <a:schemeClr val="tx1"/>
                </a:solidFill>
                <a:latin typeface="Cambria" panose="02040503050406030204" pitchFamily="18" charset="0"/>
                <a:ea typeface="Cambria" panose="02040503050406030204" pitchFamily="18" charset="0"/>
              </a:defRPr>
            </a:lvl1pPr>
          </a:lstStyle>
          <a:p>
            <a:r>
              <a:rPr lang="en-US"/>
              <a:t>Dept. of CSE | GAT | 2025-26                                                                                                           CSEP23605</a:t>
            </a:r>
            <a:endParaRPr lang="en-IN" dirty="0"/>
          </a:p>
        </p:txBody>
      </p:sp>
      <p:sp>
        <p:nvSpPr>
          <p:cNvPr id="8"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olidFill>
                <a:latin typeface="Cambria" panose="02040503050406030204" pitchFamily="18" charset="0"/>
                <a:ea typeface="Cambria" panose="02040503050406030204" pitchFamily="18" charset="0"/>
              </a:defRPr>
            </a:lvl1pPr>
          </a:lstStyle>
          <a:p>
            <a:fld id="{FFAE6D68-FB99-4243-9CC1-93FAA8C005BC}" type="slidenum">
              <a:rPr lang="en-IN" smtClean="0"/>
              <a:pPr/>
              <a:t>‹#›</a:t>
            </a:fld>
            <a:endParaRPr lang="en-IN"/>
          </a:p>
        </p:txBody>
      </p:sp>
    </p:spTree>
    <p:extLst>
      <p:ext uri="{BB962C8B-B14F-4D97-AF65-F5344CB8AC3E}">
        <p14:creationId xmlns:p14="http://schemas.microsoft.com/office/powerpoint/2010/main" val="20696903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Footer Placeholder 4"/>
          <p:cNvSpPr>
            <a:spLocks noGrp="1"/>
          </p:cNvSpPr>
          <p:nvPr>
            <p:ph type="ftr" sz="quarter" idx="3"/>
          </p:nvPr>
        </p:nvSpPr>
        <p:spPr>
          <a:xfrm>
            <a:off x="838200" y="6356350"/>
            <a:ext cx="7315200" cy="365125"/>
          </a:xfrm>
          <a:prstGeom prst="rect">
            <a:avLst/>
          </a:prstGeom>
        </p:spPr>
        <p:txBody>
          <a:bodyPr vert="horz" lIns="91440" tIns="45720" rIns="91440" bIns="45720" rtlCol="0" anchor="ctr"/>
          <a:lstStyle>
            <a:lvl1pPr algn="l">
              <a:defRPr sz="1200">
                <a:solidFill>
                  <a:schemeClr val="bg1"/>
                </a:solidFill>
                <a:latin typeface="Cambria" panose="02040503050406030204" pitchFamily="18" charset="0"/>
                <a:ea typeface="Cambria" panose="02040503050406030204" pitchFamily="18" charset="0"/>
              </a:defRPr>
            </a:lvl1pPr>
          </a:lstStyle>
          <a:p>
            <a:r>
              <a:rPr lang="en-US"/>
              <a:t>Dept. of CSE | GAT | 2025-26                                                                                                           CSEP23605</a:t>
            </a:r>
            <a:endParaRPr lang="en-IN"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bg1"/>
                </a:solidFill>
                <a:latin typeface="Cambria" panose="02040503050406030204" pitchFamily="18" charset="0"/>
                <a:ea typeface="Cambria" panose="02040503050406030204" pitchFamily="18" charset="0"/>
              </a:defRPr>
            </a:lvl1pPr>
          </a:lstStyle>
          <a:p>
            <a:fld id="{FFAE6D68-FB99-4243-9CC1-93FAA8C005BC}" type="slidenum">
              <a:rPr lang="en-IN" smtClean="0"/>
              <a:pPr/>
              <a:t>‹#›</a:t>
            </a:fld>
            <a:endParaRPr lang="en-IN"/>
          </a:p>
        </p:txBody>
      </p:sp>
    </p:spTree>
    <p:extLst>
      <p:ext uri="{BB962C8B-B14F-4D97-AF65-F5344CB8AC3E}">
        <p14:creationId xmlns:p14="http://schemas.microsoft.com/office/powerpoint/2010/main" val="37544660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close-up of a computer science certificate&#10;&#10;AI-generated content may be incorrect.">
            <a:extLst>
              <a:ext uri="{FF2B5EF4-FFF2-40B4-BE49-F238E27FC236}">
                <a16:creationId xmlns:a16="http://schemas.microsoft.com/office/drawing/2014/main" id="{40420FD3-0A06-0436-D3A4-96837D4EB68C}"/>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17787"/>
          <a:stretch/>
        </p:blipFill>
        <p:spPr bwMode="auto">
          <a:xfrm>
            <a:off x="737937" y="0"/>
            <a:ext cx="10590433" cy="1716505"/>
          </a:xfrm>
          <a:prstGeom prst="rect">
            <a:avLst/>
          </a:prstGeom>
          <a:ln>
            <a:noFill/>
          </a:ln>
          <a:extLst>
            <a:ext uri="{53640926-AAD7-44D8-BBD7-CCE9431645EC}">
              <a14:shadowObscured xmlns:a14="http://schemas.microsoft.com/office/drawing/2010/main"/>
            </a:ext>
          </a:extLst>
        </p:spPr>
      </p:pic>
      <p:sp>
        <p:nvSpPr>
          <p:cNvPr id="6" name="TextBox 5">
            <a:extLst>
              <a:ext uri="{FF2B5EF4-FFF2-40B4-BE49-F238E27FC236}">
                <a16:creationId xmlns:a16="http://schemas.microsoft.com/office/drawing/2014/main" id="{F8F1ED9E-B03E-AADD-5318-2A3BC6BF9023}"/>
              </a:ext>
            </a:extLst>
          </p:cNvPr>
          <p:cNvSpPr txBox="1"/>
          <p:nvPr/>
        </p:nvSpPr>
        <p:spPr>
          <a:xfrm>
            <a:off x="1295397" y="2145727"/>
            <a:ext cx="9601200" cy="738664"/>
          </a:xfrm>
          <a:prstGeom prst="rect">
            <a:avLst/>
          </a:prstGeom>
          <a:noFill/>
        </p:spPr>
        <p:txBody>
          <a:bodyPr wrap="square" rtlCol="0">
            <a:spAutoFit/>
          </a:bodyPr>
          <a:lstStyle/>
          <a:p>
            <a:pPr algn="ctr"/>
            <a:r>
              <a:rPr lang="en-US" b="1" dirty="0">
                <a:solidFill>
                  <a:srgbClr val="002060"/>
                </a:solidFill>
                <a:latin typeface="Cambria" panose="02040503050406030204" pitchFamily="18" charset="0"/>
                <a:ea typeface="Cambria" panose="02040503050406030204" pitchFamily="18" charset="0"/>
                <a:cs typeface="Times New Roman" panose="02020603050405020304" pitchFamily="18" charset="0"/>
              </a:rPr>
              <a:t>6</a:t>
            </a:r>
            <a:r>
              <a:rPr lang="en-US" b="1" baseline="30000" dirty="0">
                <a:solidFill>
                  <a:srgbClr val="002060"/>
                </a:solidFill>
                <a:latin typeface="Cambria" panose="02040503050406030204" pitchFamily="18" charset="0"/>
                <a:ea typeface="Cambria" panose="02040503050406030204" pitchFamily="18" charset="0"/>
                <a:cs typeface="Times New Roman" panose="02020603050405020304" pitchFamily="18" charset="0"/>
              </a:rPr>
              <a:t>th</a:t>
            </a:r>
            <a:r>
              <a:rPr lang="en-US" b="1" dirty="0">
                <a:solidFill>
                  <a:srgbClr val="002060"/>
                </a:solidFill>
                <a:latin typeface="Cambria" panose="02040503050406030204" pitchFamily="18" charset="0"/>
                <a:ea typeface="Cambria" panose="02040503050406030204" pitchFamily="18" charset="0"/>
                <a:cs typeface="Times New Roman" panose="02020603050405020304" pitchFamily="18" charset="0"/>
              </a:rPr>
              <a:t> Semester</a:t>
            </a:r>
          </a:p>
          <a:p>
            <a:pPr algn="ctr"/>
            <a:r>
              <a:rPr lang="en-US" sz="2400" b="1" dirty="0">
                <a:solidFill>
                  <a:srgbClr val="C00000"/>
                </a:solidFill>
                <a:latin typeface="Cambria" panose="02040503050406030204" pitchFamily="18" charset="0"/>
                <a:ea typeface="Cambria" panose="02040503050406030204" pitchFamily="18" charset="0"/>
                <a:cs typeface="Times New Roman" panose="02020603050405020304" pitchFamily="18" charset="0"/>
              </a:rPr>
              <a:t>Major Project Phase – I (CSEP23605)</a:t>
            </a:r>
            <a:endParaRPr lang="en-IN" sz="2400" b="1" dirty="0">
              <a:solidFill>
                <a:srgbClr val="C00000"/>
              </a:solidFill>
              <a:latin typeface="Cambria" panose="02040503050406030204" pitchFamily="18" charset="0"/>
              <a:ea typeface="Cambria" panose="02040503050406030204" pitchFamily="18" charset="0"/>
              <a:cs typeface="Times New Roman" panose="02020603050405020304" pitchFamily="18" charset="0"/>
            </a:endParaRPr>
          </a:p>
        </p:txBody>
      </p:sp>
      <p:graphicFrame>
        <p:nvGraphicFramePr>
          <p:cNvPr id="7" name="Table 6">
            <a:extLst>
              <a:ext uri="{FF2B5EF4-FFF2-40B4-BE49-F238E27FC236}">
                <a16:creationId xmlns:a16="http://schemas.microsoft.com/office/drawing/2014/main" id="{A268F318-F08B-1439-4C67-E73AB17F70B6}"/>
              </a:ext>
            </a:extLst>
          </p:cNvPr>
          <p:cNvGraphicFramePr>
            <a:graphicFrameLocks noGrp="1"/>
          </p:cNvGraphicFramePr>
          <p:nvPr>
            <p:extLst>
              <p:ext uri="{D42A27DB-BD31-4B8C-83A1-F6EECF244321}">
                <p14:modId xmlns:p14="http://schemas.microsoft.com/office/powerpoint/2010/main" val="4246674439"/>
              </p:ext>
            </p:extLst>
          </p:nvPr>
        </p:nvGraphicFramePr>
        <p:xfrm>
          <a:off x="245266" y="2916475"/>
          <a:ext cx="11701463" cy="3187112"/>
        </p:xfrm>
        <a:graphic>
          <a:graphicData uri="http://schemas.openxmlformats.org/drawingml/2006/table">
            <a:tbl>
              <a:tblPr firstRow="1" bandRow="1">
                <a:tableStyleId>{5940675A-B579-460E-94D1-54222C63F5DA}</a:tableStyleId>
              </a:tblPr>
              <a:tblGrid>
                <a:gridCol w="2266655">
                  <a:extLst>
                    <a:ext uri="{9D8B030D-6E8A-4147-A177-3AD203B41FA5}">
                      <a16:colId xmlns:a16="http://schemas.microsoft.com/office/drawing/2014/main" val="2777636275"/>
                    </a:ext>
                  </a:extLst>
                </a:gridCol>
                <a:gridCol w="4061570">
                  <a:extLst>
                    <a:ext uri="{9D8B030D-6E8A-4147-A177-3AD203B41FA5}">
                      <a16:colId xmlns:a16="http://schemas.microsoft.com/office/drawing/2014/main" val="930982237"/>
                    </a:ext>
                  </a:extLst>
                </a:gridCol>
                <a:gridCol w="2749902">
                  <a:extLst>
                    <a:ext uri="{9D8B030D-6E8A-4147-A177-3AD203B41FA5}">
                      <a16:colId xmlns:a16="http://schemas.microsoft.com/office/drawing/2014/main" val="2160730651"/>
                    </a:ext>
                  </a:extLst>
                </a:gridCol>
                <a:gridCol w="2623336">
                  <a:extLst>
                    <a:ext uri="{9D8B030D-6E8A-4147-A177-3AD203B41FA5}">
                      <a16:colId xmlns:a16="http://schemas.microsoft.com/office/drawing/2014/main" val="26985477"/>
                    </a:ext>
                  </a:extLst>
                </a:gridCol>
              </a:tblGrid>
              <a:tr h="453878">
                <a:tc>
                  <a:txBody>
                    <a:bodyPr/>
                    <a:lstStyle/>
                    <a:p>
                      <a:pPr algn="ctr"/>
                      <a:r>
                        <a:rPr lang="en-US" sz="2200" b="1" kern="1200" dirty="0">
                          <a:solidFill>
                            <a:schemeClr val="tx1"/>
                          </a:solidFill>
                          <a:latin typeface="Cambria" panose="02040503050406030204" pitchFamily="18" charset="0"/>
                          <a:ea typeface="Cambria" panose="02040503050406030204" pitchFamily="18" charset="0"/>
                          <a:cs typeface="+mn-cs"/>
                        </a:rPr>
                        <a:t>Group No.</a:t>
                      </a:r>
                      <a:endParaRPr lang="en-IN" sz="2200" b="1" kern="1200" dirty="0">
                        <a:solidFill>
                          <a:schemeClr val="tx1"/>
                        </a:solidFill>
                        <a:latin typeface="Cambria" panose="02040503050406030204" pitchFamily="18" charset="0"/>
                        <a:ea typeface="Cambria" panose="02040503050406030204" pitchFamily="18" charset="0"/>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200" b="1" dirty="0">
                          <a:solidFill>
                            <a:schemeClr val="tx1"/>
                          </a:solidFill>
                          <a:latin typeface="Cambria" panose="02040503050406030204" pitchFamily="18" charset="0"/>
                          <a:ea typeface="Cambria" panose="02040503050406030204" pitchFamily="18" charset="0"/>
                        </a:rPr>
                        <a:t>G14</a:t>
                      </a:r>
                      <a:endParaRPr lang="en-IN" sz="2200" b="1"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200" b="1" kern="1200" dirty="0">
                          <a:solidFill>
                            <a:schemeClr val="tx1"/>
                          </a:solidFill>
                          <a:latin typeface="Cambria" panose="02040503050406030204" pitchFamily="18" charset="0"/>
                          <a:ea typeface="Cambria" panose="02040503050406030204" pitchFamily="18" charset="0"/>
                          <a:cs typeface="+mn-cs"/>
                        </a:rPr>
                        <a:t>Project ID</a:t>
                      </a:r>
                      <a:endParaRPr lang="en-IN" sz="22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sz="2400" b="1" dirty="0">
                          <a:latin typeface="Cambria" panose="02040503050406030204" pitchFamily="18" charset="0"/>
                          <a:ea typeface="Cambria" panose="02040503050406030204" pitchFamily="18" charset="0"/>
                        </a:rPr>
                        <a:t>P43</a:t>
                      </a:r>
                      <a:endParaRPr lang="en-IN" sz="2200" b="1"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29035671"/>
                  </a:ext>
                </a:extLst>
              </a:tr>
              <a:tr h="453878">
                <a:tc>
                  <a:txBody>
                    <a:bodyPr/>
                    <a:lstStyle/>
                    <a:p>
                      <a:pPr algn="ctr"/>
                      <a:r>
                        <a:rPr lang="en-US" sz="2200" b="1" kern="1200" dirty="0">
                          <a:solidFill>
                            <a:schemeClr val="tx1"/>
                          </a:solidFill>
                          <a:latin typeface="Cambria" panose="02040503050406030204" pitchFamily="18" charset="0"/>
                          <a:ea typeface="Cambria" panose="02040503050406030204" pitchFamily="18" charset="0"/>
                          <a:cs typeface="+mn-cs"/>
                        </a:rPr>
                        <a:t>Project Title</a:t>
                      </a:r>
                      <a:endParaRPr lang="en-IN" sz="2200" b="1" kern="1200" dirty="0">
                        <a:solidFill>
                          <a:schemeClr val="tx1"/>
                        </a:solidFill>
                        <a:latin typeface="Cambria" panose="02040503050406030204" pitchFamily="18" charset="0"/>
                        <a:ea typeface="Cambria" panose="02040503050406030204" pitchFamily="18" charset="0"/>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dirty="0">
                          <a:latin typeface="Cambria" panose="02040503050406030204" pitchFamily="18" charset="0"/>
                          <a:ea typeface="Cambria" panose="02040503050406030204" pitchFamily="18" charset="0"/>
                        </a:rPr>
                        <a:t>Implementation of a Secure CI/CD Pipeline Using DevOps Tools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IN" sz="2400" b="1" dirty="0">
                        <a:latin typeface="+mn-lt"/>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tc hMerge="1">
                  <a:txBody>
                    <a:bodyPr/>
                    <a:lstStyle/>
                    <a:p>
                      <a:endParaRPr lang="en-IN" sz="2400" b="1" dirty="0">
                        <a:latin typeface="+mn-lt"/>
                      </a:endParaRP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525941917"/>
                  </a:ext>
                </a:extLst>
              </a:tr>
              <a:tr h="453878">
                <a:tc rowSpan="4">
                  <a:txBody>
                    <a:bodyPr/>
                    <a:lstStyle/>
                    <a:p>
                      <a:pPr algn="ctr"/>
                      <a:r>
                        <a:rPr lang="en-US" sz="2200" b="1" kern="1200" dirty="0">
                          <a:solidFill>
                            <a:schemeClr val="tx1"/>
                          </a:solidFill>
                          <a:latin typeface="Cambria" panose="02040503050406030204" pitchFamily="18" charset="0"/>
                          <a:ea typeface="Cambria" panose="02040503050406030204" pitchFamily="18" charset="0"/>
                          <a:cs typeface="+mn-cs"/>
                        </a:rPr>
                        <a:t>Student Name</a:t>
                      </a:r>
                      <a:endParaRPr lang="en-IN" sz="2200" b="1" kern="1200" dirty="0">
                        <a:solidFill>
                          <a:schemeClr val="tx1"/>
                        </a:solidFill>
                        <a:latin typeface="Cambria" panose="02040503050406030204" pitchFamily="18" charset="0"/>
                        <a:ea typeface="Cambria" panose="02040503050406030204" pitchFamily="18" charset="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200" b="1" dirty="0">
                          <a:solidFill>
                            <a:schemeClr val="tx1"/>
                          </a:solidFill>
                          <a:latin typeface="Cambria" panose="02040503050406030204" pitchFamily="18" charset="0"/>
                          <a:ea typeface="Cambria" panose="02040503050406030204" pitchFamily="18" charset="0"/>
                        </a:rPr>
                        <a:t> Vignesh P</a:t>
                      </a:r>
                      <a:endParaRPr lang="en-IN" sz="2200" b="1"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4">
                  <a:txBody>
                    <a:bodyPr/>
                    <a:lstStyle/>
                    <a:p>
                      <a:pPr algn="ctr"/>
                      <a:r>
                        <a:rPr lang="en-US" sz="2200" b="1" kern="1200" dirty="0">
                          <a:solidFill>
                            <a:schemeClr val="tx1"/>
                          </a:solidFill>
                          <a:latin typeface="Cambria" panose="02040503050406030204" pitchFamily="18" charset="0"/>
                          <a:ea typeface="Cambria" panose="02040503050406030204" pitchFamily="18" charset="0"/>
                          <a:cs typeface="+mn-cs"/>
                        </a:rPr>
                        <a:t>USN</a:t>
                      </a:r>
                      <a:endParaRPr lang="en-IN" sz="2200" b="1" kern="1200" dirty="0">
                        <a:solidFill>
                          <a:schemeClr val="tx1"/>
                        </a:solidFill>
                        <a:latin typeface="Cambria" panose="02040503050406030204" pitchFamily="18" charset="0"/>
                        <a:ea typeface="Cambria" panose="02040503050406030204" pitchFamily="18" charset="0"/>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200" b="1" dirty="0">
                          <a:solidFill>
                            <a:schemeClr val="tx1"/>
                          </a:solidFill>
                          <a:latin typeface="Cambria" panose="02040503050406030204" pitchFamily="18" charset="0"/>
                          <a:ea typeface="Cambria" panose="02040503050406030204" pitchFamily="18" charset="0"/>
                        </a:rPr>
                        <a:t>1GA23CS193</a:t>
                      </a:r>
                      <a:endParaRPr lang="en-IN" sz="2200" b="1"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418601"/>
                  </a:ext>
                </a:extLst>
              </a:tr>
              <a:tr h="453878">
                <a:tc vMerge="1">
                  <a:txBody>
                    <a:bodyPr/>
                    <a:lstStyle/>
                    <a:p>
                      <a:endParaRPr lang="en-IN" sz="2000" dirty="0"/>
                    </a:p>
                  </a:txBody>
                  <a:tcPr>
                    <a:solidFill>
                      <a:schemeClr val="bg1"/>
                    </a:solidFill>
                  </a:tcPr>
                </a:tc>
                <a:tc>
                  <a:txBody>
                    <a:bodyPr/>
                    <a:lstStyle/>
                    <a:p>
                      <a:pPr algn="ctr"/>
                      <a:r>
                        <a:rPr lang="en-US" sz="2200" b="1" dirty="0">
                          <a:solidFill>
                            <a:schemeClr val="tx1"/>
                          </a:solidFill>
                          <a:latin typeface="Cambria" panose="02040503050406030204" pitchFamily="18" charset="0"/>
                          <a:ea typeface="Cambria" panose="02040503050406030204" pitchFamily="18" charset="0"/>
                        </a:rPr>
                        <a:t>Revanth Kumar T S</a:t>
                      </a:r>
                      <a:endParaRPr lang="en-IN" sz="2200" b="1"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IN" sz="2000" dirty="0"/>
                    </a:p>
                  </a:txBody>
                  <a:tcPr>
                    <a:solidFill>
                      <a:schemeClr val="bg1"/>
                    </a:solidFill>
                  </a:tcPr>
                </a:tc>
                <a:tc>
                  <a:txBody>
                    <a:bodyPr/>
                    <a:lstStyle/>
                    <a:p>
                      <a:pPr algn="ctr"/>
                      <a:r>
                        <a:rPr lang="en-US" sz="2200" b="1" dirty="0">
                          <a:solidFill>
                            <a:schemeClr val="tx1"/>
                          </a:solidFill>
                          <a:latin typeface="Cambria" panose="02040503050406030204" pitchFamily="18" charset="0"/>
                          <a:ea typeface="Cambria" panose="02040503050406030204" pitchFamily="18" charset="0"/>
                        </a:rPr>
                        <a:t>1GA23CS137</a:t>
                      </a:r>
                      <a:endParaRPr lang="en-IN" sz="2200" b="1"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7442161"/>
                  </a:ext>
                </a:extLst>
              </a:tr>
              <a:tr h="453878">
                <a:tc vMerge="1">
                  <a:txBody>
                    <a:bodyPr/>
                    <a:lstStyle/>
                    <a:p>
                      <a:endParaRPr lang="en-IN" sz="2000" dirty="0"/>
                    </a:p>
                  </a:txBody>
                  <a:tcPr>
                    <a:solidFill>
                      <a:schemeClr val="bg1"/>
                    </a:solidFill>
                  </a:tcPr>
                </a:tc>
                <a:tc>
                  <a:txBody>
                    <a:bodyPr/>
                    <a:lstStyle/>
                    <a:p>
                      <a:pPr algn="ctr"/>
                      <a:r>
                        <a:rPr lang="en-US" sz="2200" b="1" dirty="0">
                          <a:solidFill>
                            <a:schemeClr val="tx1"/>
                          </a:solidFill>
                          <a:latin typeface="Cambria" panose="02040503050406030204" pitchFamily="18" charset="0"/>
                          <a:ea typeface="Cambria" panose="02040503050406030204" pitchFamily="18" charset="0"/>
                        </a:rPr>
                        <a:t>Sanket</a:t>
                      </a:r>
                      <a:endParaRPr lang="en-IN" sz="2200" b="1"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IN" sz="2000" dirty="0"/>
                    </a:p>
                  </a:txBody>
                  <a:tcPr>
                    <a:solidFill>
                      <a:schemeClr val="bg1"/>
                    </a:solidFill>
                  </a:tcPr>
                </a:tc>
                <a:tc>
                  <a:txBody>
                    <a:bodyPr/>
                    <a:lstStyle/>
                    <a:p>
                      <a:pPr algn="ctr"/>
                      <a:r>
                        <a:rPr lang="en-US" sz="2200" b="1" dirty="0">
                          <a:solidFill>
                            <a:schemeClr val="tx1"/>
                          </a:solidFill>
                          <a:latin typeface="Cambria" panose="02040503050406030204" pitchFamily="18" charset="0"/>
                          <a:ea typeface="Cambria" panose="02040503050406030204" pitchFamily="18" charset="0"/>
                        </a:rPr>
                        <a:t>1GA23CS148</a:t>
                      </a:r>
                      <a:endParaRPr lang="en-IN" sz="2200" b="1"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76726222"/>
                  </a:ext>
                </a:extLst>
              </a:tr>
              <a:tr h="453878">
                <a:tc vMerge="1">
                  <a:txBody>
                    <a:bodyPr/>
                    <a:lstStyle/>
                    <a:p>
                      <a:endParaRPr lang="en-IN" sz="2000" dirty="0"/>
                    </a:p>
                  </a:txBody>
                  <a:tcPr>
                    <a:solidFill>
                      <a:schemeClr val="bg1"/>
                    </a:solidFill>
                  </a:tcPr>
                </a:tc>
                <a:tc>
                  <a:txBody>
                    <a:bodyPr/>
                    <a:lstStyle/>
                    <a:p>
                      <a:pPr algn="ctr"/>
                      <a:r>
                        <a:rPr lang="en-US" sz="2200" b="1" dirty="0">
                          <a:solidFill>
                            <a:schemeClr val="tx1"/>
                          </a:solidFill>
                          <a:latin typeface="Cambria" panose="02040503050406030204" pitchFamily="18" charset="0"/>
                          <a:ea typeface="Cambria" panose="02040503050406030204" pitchFamily="18" charset="0"/>
                        </a:rPr>
                        <a:t>Shakthi Vel K</a:t>
                      </a:r>
                      <a:endParaRPr lang="en-IN" sz="2200" b="1"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endParaRPr lang="en-IN" sz="2000" dirty="0"/>
                    </a:p>
                  </a:txBody>
                  <a:tcPr>
                    <a:solidFill>
                      <a:schemeClr val="bg1"/>
                    </a:solidFill>
                  </a:tcPr>
                </a:tc>
                <a:tc>
                  <a:txBody>
                    <a:bodyPr/>
                    <a:lstStyle/>
                    <a:p>
                      <a:pPr algn="ctr"/>
                      <a:r>
                        <a:rPr lang="en-US" sz="2200" b="1" dirty="0">
                          <a:solidFill>
                            <a:schemeClr val="tx1"/>
                          </a:solidFill>
                          <a:latin typeface="Cambria" panose="02040503050406030204" pitchFamily="18" charset="0"/>
                          <a:ea typeface="Cambria" panose="02040503050406030204" pitchFamily="18" charset="0"/>
                        </a:rPr>
                        <a:t>1GA23CS151</a:t>
                      </a:r>
                      <a:endParaRPr lang="en-IN" sz="2200" b="1"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64284577"/>
                  </a:ext>
                </a:extLst>
              </a:tr>
              <a:tr h="453878">
                <a:tc>
                  <a:txBody>
                    <a:bodyPr/>
                    <a:lstStyle/>
                    <a:p>
                      <a:pPr algn="ctr"/>
                      <a:r>
                        <a:rPr lang="en-US" sz="2200" b="1" kern="1200" dirty="0">
                          <a:solidFill>
                            <a:schemeClr val="tx1"/>
                          </a:solidFill>
                          <a:latin typeface="Cambria" panose="02040503050406030204" pitchFamily="18" charset="0"/>
                          <a:ea typeface="Cambria" panose="02040503050406030204" pitchFamily="18" charset="0"/>
                          <a:cs typeface="+mn-cs"/>
                        </a:rPr>
                        <a:t>Guide Name</a:t>
                      </a:r>
                      <a:endParaRPr lang="en-IN" sz="2200" b="1" kern="1200" dirty="0">
                        <a:solidFill>
                          <a:schemeClr val="tx1"/>
                        </a:solidFill>
                        <a:latin typeface="Cambria" panose="02040503050406030204" pitchFamily="18" charset="0"/>
                        <a:ea typeface="Cambria" panose="02040503050406030204" pitchFamily="18" charset="0"/>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algn="ctr"/>
                      <a:r>
                        <a:rPr lang="en-IN" sz="2400" b="1" dirty="0">
                          <a:latin typeface="Cambria" panose="02040503050406030204" pitchFamily="18" charset="0"/>
                          <a:ea typeface="Cambria" panose="02040503050406030204" pitchFamily="18" charset="0"/>
                        </a:rPr>
                        <a:t>Prof. Sameena H S</a:t>
                      </a:r>
                      <a:r>
                        <a:rPr lang="en-IN" sz="2400" dirty="0"/>
                        <a:t> </a:t>
                      </a:r>
                      <a:r>
                        <a:rPr lang="en-US" sz="2200" b="1">
                          <a:solidFill>
                            <a:schemeClr val="tx1"/>
                          </a:solidFill>
                          <a:latin typeface="Cambria" panose="02040503050406030204" pitchFamily="18" charset="0"/>
                          <a:ea typeface="Cambria" panose="02040503050406030204" pitchFamily="18" charset="0"/>
                        </a:rPr>
                        <a:t>,  Assistant </a:t>
                      </a:r>
                      <a:r>
                        <a:rPr lang="en-US" sz="2200" b="1" dirty="0">
                          <a:solidFill>
                            <a:schemeClr val="tx1"/>
                          </a:solidFill>
                          <a:latin typeface="Cambria" panose="02040503050406030204" pitchFamily="18" charset="0"/>
                          <a:ea typeface="Cambria" panose="02040503050406030204" pitchFamily="18" charset="0"/>
                        </a:rPr>
                        <a:t>Professor</a:t>
                      </a:r>
                      <a:endParaRPr lang="en-IN" sz="2200" b="1"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IN" sz="2000" dirty="0"/>
                    </a:p>
                  </a:txBody>
                  <a:tcPr>
                    <a:lnL w="12700" cap="flat" cmpd="sng" algn="ctr">
                      <a:solidFill>
                        <a:schemeClr val="tx1"/>
                      </a:solidFill>
                      <a:prstDash val="solid"/>
                      <a:round/>
                      <a:headEnd type="none" w="med" len="med"/>
                      <a:tailEnd type="none" w="med" len="med"/>
                    </a:lnL>
                    <a:solidFill>
                      <a:schemeClr val="bg1"/>
                    </a:solidFill>
                  </a:tcPr>
                </a:tc>
                <a:tc hMerge="1">
                  <a:txBody>
                    <a:bodyPr/>
                    <a:lstStyle/>
                    <a:p>
                      <a:endParaRPr lang="en-IN" sz="2000" dirty="0"/>
                    </a:p>
                  </a:txBody>
                  <a:tcPr>
                    <a:lnL w="12700" cap="flat" cmpd="sng" algn="ctr">
                      <a:solidFill>
                        <a:schemeClr val="tx1"/>
                      </a:solidFill>
                      <a:prstDash val="solid"/>
                      <a:round/>
                      <a:headEnd type="none" w="med" len="med"/>
                      <a:tailEnd type="none" w="med" len="med"/>
                    </a:lnL>
                    <a:solidFill>
                      <a:schemeClr val="bg1"/>
                    </a:solidFill>
                  </a:tcPr>
                </a:tc>
                <a:extLst>
                  <a:ext uri="{0D108BD9-81ED-4DB2-BD59-A6C34878D82A}">
                    <a16:rowId xmlns:a16="http://schemas.microsoft.com/office/drawing/2014/main" val="4083224178"/>
                  </a:ext>
                </a:extLst>
              </a:tr>
            </a:tbl>
          </a:graphicData>
        </a:graphic>
      </p:graphicFrame>
    </p:spTree>
    <p:extLst>
      <p:ext uri="{BB962C8B-B14F-4D97-AF65-F5344CB8AC3E}">
        <p14:creationId xmlns:p14="http://schemas.microsoft.com/office/powerpoint/2010/main" val="21621446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3"/>
          </p:nvPr>
        </p:nvSpPr>
        <p:spPr/>
        <p:txBody>
          <a:bodyPr/>
          <a:lstStyle/>
          <a:p>
            <a:r>
              <a:rPr lang="en-US"/>
              <a:t>Dept. of CSE | GAT | 2025-26                                                                                                           CSEP23605</a:t>
            </a:r>
            <a:endParaRPr lang="en-IN" dirty="0"/>
          </a:p>
        </p:txBody>
      </p:sp>
      <p:sp>
        <p:nvSpPr>
          <p:cNvPr id="3" name="Slide Number Placeholder 2"/>
          <p:cNvSpPr>
            <a:spLocks noGrp="1"/>
          </p:cNvSpPr>
          <p:nvPr>
            <p:ph type="sldNum" sz="quarter" idx="4"/>
          </p:nvPr>
        </p:nvSpPr>
        <p:spPr/>
        <p:txBody>
          <a:bodyPr/>
          <a:lstStyle/>
          <a:p>
            <a:fld id="{FFAE6D68-FB99-4243-9CC1-93FAA8C005BC}" type="slidenum">
              <a:rPr lang="en-IN" smtClean="0"/>
              <a:pPr/>
              <a:t>2</a:t>
            </a:fld>
            <a:endParaRPr lang="en-IN"/>
          </a:p>
        </p:txBody>
      </p:sp>
      <p:sp>
        <p:nvSpPr>
          <p:cNvPr id="4" name="TextBox 3">
            <a:extLst>
              <a:ext uri="{FF2B5EF4-FFF2-40B4-BE49-F238E27FC236}">
                <a16:creationId xmlns:a16="http://schemas.microsoft.com/office/drawing/2014/main" id="{8A9C1741-F608-45C9-6668-19733C50868C}"/>
              </a:ext>
            </a:extLst>
          </p:cNvPr>
          <p:cNvSpPr txBox="1"/>
          <p:nvPr/>
        </p:nvSpPr>
        <p:spPr>
          <a:xfrm>
            <a:off x="2798445" y="182880"/>
            <a:ext cx="6595110" cy="707886"/>
          </a:xfrm>
          <a:prstGeom prst="rect">
            <a:avLst/>
          </a:prstGeom>
          <a:noFill/>
        </p:spPr>
        <p:txBody>
          <a:bodyPr wrap="square" rtlCol="0">
            <a:spAutoFit/>
          </a:bodyPr>
          <a:lstStyle/>
          <a:p>
            <a:pPr algn="ctr"/>
            <a:r>
              <a:rPr lang="en-US" sz="4000" b="1" dirty="0">
                <a:latin typeface="Cambria" panose="02040503050406030204" pitchFamily="18" charset="0"/>
                <a:ea typeface="Cambria" panose="02040503050406030204" pitchFamily="18" charset="0"/>
              </a:rPr>
              <a:t>Agenda</a:t>
            </a:r>
            <a:endParaRPr lang="en-IN" sz="4000" b="1" dirty="0">
              <a:latin typeface="Cambria" panose="02040503050406030204" pitchFamily="18" charset="0"/>
              <a:ea typeface="Cambria" panose="02040503050406030204" pitchFamily="18" charset="0"/>
            </a:endParaRPr>
          </a:p>
        </p:txBody>
      </p:sp>
      <p:sp>
        <p:nvSpPr>
          <p:cNvPr id="5" name="Content Placeholder 7">
            <a:extLst>
              <a:ext uri="{FF2B5EF4-FFF2-40B4-BE49-F238E27FC236}">
                <a16:creationId xmlns:a16="http://schemas.microsoft.com/office/drawing/2014/main" id="{F745C16F-33D2-99EB-7E0E-85A0DC9ADD16}"/>
              </a:ext>
            </a:extLst>
          </p:cNvPr>
          <p:cNvSpPr txBox="1">
            <a:spLocks/>
          </p:cNvSpPr>
          <p:nvPr/>
        </p:nvSpPr>
        <p:spPr>
          <a:xfrm>
            <a:off x="838199" y="1793803"/>
            <a:ext cx="9438565" cy="362435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spcBef>
                <a:spcPts val="0"/>
              </a:spcBef>
            </a:pPr>
            <a:r>
              <a:rPr lang="en-US" sz="2200" dirty="0">
                <a:latin typeface="Cambria" panose="02040503050406030204" pitchFamily="18" charset="0"/>
                <a:ea typeface="Cambria" panose="02040503050406030204" pitchFamily="18" charset="0"/>
              </a:rPr>
              <a:t>Problem Statement</a:t>
            </a:r>
          </a:p>
          <a:p>
            <a:pPr>
              <a:lnSpc>
                <a:spcPct val="150000"/>
              </a:lnSpc>
              <a:spcBef>
                <a:spcPts val="0"/>
              </a:spcBef>
            </a:pPr>
            <a:r>
              <a:rPr lang="en-US" sz="2200" dirty="0">
                <a:latin typeface="Cambria" panose="02040503050406030204" pitchFamily="18" charset="0"/>
                <a:ea typeface="Cambria" panose="02040503050406030204" pitchFamily="18" charset="0"/>
              </a:rPr>
              <a:t>Literature Survey</a:t>
            </a:r>
          </a:p>
          <a:p>
            <a:pPr>
              <a:lnSpc>
                <a:spcPct val="150000"/>
              </a:lnSpc>
              <a:spcBef>
                <a:spcPts val="0"/>
              </a:spcBef>
            </a:pPr>
            <a:r>
              <a:rPr lang="en-US" sz="2200" dirty="0">
                <a:latin typeface="Cambria" panose="02040503050406030204" pitchFamily="18" charset="0"/>
                <a:ea typeface="Cambria" panose="02040503050406030204" pitchFamily="18" charset="0"/>
              </a:rPr>
              <a:t>Objectives</a:t>
            </a:r>
          </a:p>
          <a:p>
            <a:pPr>
              <a:lnSpc>
                <a:spcPct val="150000"/>
              </a:lnSpc>
              <a:spcBef>
                <a:spcPts val="0"/>
              </a:spcBef>
            </a:pPr>
            <a:r>
              <a:rPr lang="en-US" sz="2200" dirty="0">
                <a:latin typeface="Cambria" panose="02040503050406030204" pitchFamily="18" charset="0"/>
                <a:ea typeface="Cambria" panose="02040503050406030204" pitchFamily="18" charset="0"/>
              </a:rPr>
              <a:t>Requirements Specification (Hardware/Software Requirements)</a:t>
            </a:r>
          </a:p>
          <a:p>
            <a:pPr>
              <a:lnSpc>
                <a:spcPct val="150000"/>
              </a:lnSpc>
              <a:spcBef>
                <a:spcPts val="0"/>
              </a:spcBef>
            </a:pPr>
            <a:r>
              <a:rPr lang="en-US" sz="2200" dirty="0">
                <a:latin typeface="Cambria" panose="02040503050406030204" pitchFamily="18" charset="0"/>
                <a:ea typeface="Cambria" panose="02040503050406030204" pitchFamily="18" charset="0"/>
              </a:rPr>
              <a:t>Project Plan and Timeline</a:t>
            </a:r>
          </a:p>
          <a:p>
            <a:pPr>
              <a:lnSpc>
                <a:spcPct val="150000"/>
              </a:lnSpc>
              <a:spcBef>
                <a:spcPts val="0"/>
              </a:spcBef>
            </a:pPr>
            <a:r>
              <a:rPr lang="en-US" sz="2200" dirty="0">
                <a:latin typeface="Cambria" panose="02040503050406030204" pitchFamily="18" charset="0"/>
                <a:ea typeface="Cambria" panose="02040503050406030204" pitchFamily="18" charset="0"/>
              </a:rPr>
              <a:t>References</a:t>
            </a:r>
            <a:endParaRPr lang="en-IN" sz="22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3762725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3"/>
          </p:nvPr>
        </p:nvSpPr>
        <p:spPr/>
        <p:txBody>
          <a:bodyPr/>
          <a:lstStyle/>
          <a:p>
            <a:r>
              <a:rPr lang="en-US"/>
              <a:t>Dept. of CSE | GAT | 2025-26                                                                                                           CSEP23605</a:t>
            </a:r>
            <a:endParaRPr lang="en-IN" dirty="0"/>
          </a:p>
        </p:txBody>
      </p:sp>
      <p:sp>
        <p:nvSpPr>
          <p:cNvPr id="3" name="Slide Number Placeholder 2"/>
          <p:cNvSpPr>
            <a:spLocks noGrp="1"/>
          </p:cNvSpPr>
          <p:nvPr>
            <p:ph type="sldNum" sz="quarter" idx="4"/>
          </p:nvPr>
        </p:nvSpPr>
        <p:spPr/>
        <p:txBody>
          <a:bodyPr/>
          <a:lstStyle/>
          <a:p>
            <a:fld id="{FFAE6D68-FB99-4243-9CC1-93FAA8C005BC}" type="slidenum">
              <a:rPr lang="en-IN" smtClean="0"/>
              <a:pPr/>
              <a:t>3</a:t>
            </a:fld>
            <a:endParaRPr lang="en-IN"/>
          </a:p>
        </p:txBody>
      </p:sp>
      <p:sp>
        <p:nvSpPr>
          <p:cNvPr id="4" name="TextBox 3">
            <a:extLst>
              <a:ext uri="{FF2B5EF4-FFF2-40B4-BE49-F238E27FC236}">
                <a16:creationId xmlns:a16="http://schemas.microsoft.com/office/drawing/2014/main" id="{F4A12894-0E7D-FCE9-A846-069E08CD7E41}"/>
              </a:ext>
            </a:extLst>
          </p:cNvPr>
          <p:cNvSpPr txBox="1"/>
          <p:nvPr/>
        </p:nvSpPr>
        <p:spPr>
          <a:xfrm>
            <a:off x="2798445" y="182880"/>
            <a:ext cx="6595110" cy="707886"/>
          </a:xfrm>
          <a:prstGeom prst="rect">
            <a:avLst/>
          </a:prstGeom>
          <a:noFill/>
        </p:spPr>
        <p:txBody>
          <a:bodyPr wrap="square" rtlCol="0">
            <a:spAutoFit/>
          </a:bodyPr>
          <a:lstStyle/>
          <a:p>
            <a:pPr algn="ctr"/>
            <a:r>
              <a:rPr lang="en-US" sz="4000" b="1" dirty="0">
                <a:latin typeface="Cambria" panose="02040503050406030204" pitchFamily="18" charset="0"/>
                <a:ea typeface="Cambria" panose="02040503050406030204" pitchFamily="18" charset="0"/>
              </a:rPr>
              <a:t>Problem Statement</a:t>
            </a:r>
            <a:endParaRPr lang="en-IN" sz="4000" b="1" dirty="0">
              <a:latin typeface="Cambria" panose="02040503050406030204" pitchFamily="18" charset="0"/>
              <a:ea typeface="Cambria" panose="02040503050406030204" pitchFamily="18" charset="0"/>
            </a:endParaRPr>
          </a:p>
        </p:txBody>
      </p:sp>
      <p:sp>
        <p:nvSpPr>
          <p:cNvPr id="5" name="TextBox 4">
            <a:extLst>
              <a:ext uri="{FF2B5EF4-FFF2-40B4-BE49-F238E27FC236}">
                <a16:creationId xmlns:a16="http://schemas.microsoft.com/office/drawing/2014/main" id="{B0878827-ED6C-D210-CC6A-3F5026340803}"/>
              </a:ext>
            </a:extLst>
          </p:cNvPr>
          <p:cNvSpPr txBox="1"/>
          <p:nvPr/>
        </p:nvSpPr>
        <p:spPr>
          <a:xfrm>
            <a:off x="488574" y="1301750"/>
            <a:ext cx="11430000" cy="3630546"/>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sz="2400" dirty="0">
                <a:latin typeface="Cambria" panose="02040503050406030204" pitchFamily="18" charset="0"/>
                <a:ea typeface="Cambria" panose="02040503050406030204" pitchFamily="18" charset="0"/>
              </a:rPr>
              <a:t>Security vulnerabilities are often detected </a:t>
            </a:r>
            <a:r>
              <a:rPr lang="en-US" sz="2400" b="1" dirty="0">
                <a:latin typeface="Cambria" panose="02040503050406030204" pitchFamily="18" charset="0"/>
                <a:ea typeface="Cambria" panose="02040503050406030204" pitchFamily="18" charset="0"/>
              </a:rPr>
              <a:t>after deployment</a:t>
            </a:r>
          </a:p>
          <a:p>
            <a:pPr marL="342900" indent="-342900" algn="just">
              <a:lnSpc>
                <a:spcPct val="150000"/>
              </a:lnSpc>
              <a:buFont typeface="Arial" panose="020B0604020202020204" pitchFamily="34" charset="0"/>
              <a:buChar char="•"/>
            </a:pPr>
            <a:r>
              <a:rPr lang="en-US" sz="2200" dirty="0">
                <a:latin typeface="Cambria" panose="02040503050406030204" pitchFamily="18" charset="0"/>
                <a:ea typeface="Cambria" panose="02040503050406030204" pitchFamily="18" charset="0"/>
              </a:rPr>
              <a:t>This leads to:</a:t>
            </a:r>
          </a:p>
          <a:p>
            <a:pPr marL="1257300" lvl="2" indent="-342900" algn="just">
              <a:lnSpc>
                <a:spcPct val="150000"/>
              </a:lnSpc>
              <a:buFont typeface="Arial" panose="020B0604020202020204" pitchFamily="34" charset="0"/>
              <a:buChar char="•"/>
            </a:pPr>
            <a:r>
              <a:rPr lang="en-US" sz="2200" dirty="0">
                <a:latin typeface="Cambria" panose="02040503050406030204" pitchFamily="18" charset="0"/>
                <a:ea typeface="Cambria" panose="02040503050406030204" pitchFamily="18" charset="0"/>
              </a:rPr>
              <a:t>Increased risk of cyberattacks</a:t>
            </a:r>
          </a:p>
          <a:p>
            <a:pPr marL="1257300" lvl="2" indent="-342900" algn="just">
              <a:lnSpc>
                <a:spcPct val="150000"/>
              </a:lnSpc>
              <a:buFont typeface="Arial" panose="020B0604020202020204" pitchFamily="34" charset="0"/>
              <a:buChar char="•"/>
            </a:pPr>
            <a:r>
              <a:rPr lang="en-US" sz="2200" dirty="0">
                <a:latin typeface="Cambria" panose="02040503050406030204" pitchFamily="18" charset="0"/>
                <a:ea typeface="Cambria" panose="02040503050406030204" pitchFamily="18" charset="0"/>
              </a:rPr>
              <a:t>High remediation and maintenance costs</a:t>
            </a:r>
          </a:p>
          <a:p>
            <a:pPr marL="1257300" lvl="2" indent="-342900" algn="just">
              <a:lnSpc>
                <a:spcPct val="150000"/>
              </a:lnSpc>
              <a:buFont typeface="Arial" panose="020B0604020202020204" pitchFamily="34" charset="0"/>
              <a:buChar char="•"/>
            </a:pPr>
            <a:r>
              <a:rPr lang="en-US" sz="2200" dirty="0">
                <a:latin typeface="Cambria" panose="02040503050406030204" pitchFamily="18" charset="0"/>
                <a:ea typeface="Cambria" panose="02040503050406030204" pitchFamily="18" charset="0"/>
              </a:rPr>
              <a:t>Delays in software releases</a:t>
            </a:r>
          </a:p>
          <a:p>
            <a:pPr marL="1257300" lvl="2" indent="-342900" algn="just">
              <a:lnSpc>
                <a:spcPct val="150000"/>
              </a:lnSpc>
              <a:buFont typeface="Arial" panose="020B0604020202020204" pitchFamily="34" charset="0"/>
              <a:buChar char="•"/>
            </a:pPr>
            <a:r>
              <a:rPr lang="en-US" sz="2200" dirty="0">
                <a:latin typeface="Cambria" panose="02040503050406030204" pitchFamily="18" charset="0"/>
                <a:ea typeface="Cambria" panose="02040503050406030204" pitchFamily="18" charset="0"/>
              </a:rPr>
              <a:t>Lack of automated security integration in traditional DevOps pipelines</a:t>
            </a:r>
          </a:p>
          <a:p>
            <a:pPr marL="342900" indent="-342900" algn="just">
              <a:lnSpc>
                <a:spcPct val="150000"/>
              </a:lnSpc>
              <a:buFont typeface="Arial" panose="020B0604020202020204" pitchFamily="34" charset="0"/>
              <a:buChar char="•"/>
            </a:pPr>
            <a:r>
              <a:rPr lang="en-US" sz="2200" dirty="0">
                <a:latin typeface="Cambria" panose="02040503050406030204" pitchFamily="18" charset="0"/>
                <a:ea typeface="Cambria" panose="02040503050406030204" pitchFamily="18" charset="0"/>
              </a:rPr>
              <a:t>Need for early vulnerability detection in development lifecycle</a:t>
            </a:r>
            <a:endParaRPr lang="en-IN" sz="22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2976269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3"/>
          </p:nvPr>
        </p:nvSpPr>
        <p:spPr/>
        <p:txBody>
          <a:bodyPr/>
          <a:lstStyle/>
          <a:p>
            <a:r>
              <a:rPr lang="en-US"/>
              <a:t>Dept. of CSE | GAT | 2025-26                                                                                                           CSEP23605</a:t>
            </a:r>
            <a:endParaRPr lang="en-IN" dirty="0"/>
          </a:p>
        </p:txBody>
      </p:sp>
      <p:sp>
        <p:nvSpPr>
          <p:cNvPr id="3" name="Slide Number Placeholder 2"/>
          <p:cNvSpPr>
            <a:spLocks noGrp="1"/>
          </p:cNvSpPr>
          <p:nvPr>
            <p:ph type="sldNum" sz="quarter" idx="4"/>
          </p:nvPr>
        </p:nvSpPr>
        <p:spPr/>
        <p:txBody>
          <a:bodyPr/>
          <a:lstStyle/>
          <a:p>
            <a:fld id="{FFAE6D68-FB99-4243-9CC1-93FAA8C005BC}" type="slidenum">
              <a:rPr lang="en-IN" smtClean="0"/>
              <a:pPr/>
              <a:t>4</a:t>
            </a:fld>
            <a:endParaRPr lang="en-IN"/>
          </a:p>
        </p:txBody>
      </p:sp>
      <p:sp>
        <p:nvSpPr>
          <p:cNvPr id="4" name="TextBox 3">
            <a:extLst>
              <a:ext uri="{FF2B5EF4-FFF2-40B4-BE49-F238E27FC236}">
                <a16:creationId xmlns:a16="http://schemas.microsoft.com/office/drawing/2014/main" id="{A2D65176-27C0-6A9C-1D22-589841C6C443}"/>
              </a:ext>
            </a:extLst>
          </p:cNvPr>
          <p:cNvSpPr txBox="1"/>
          <p:nvPr/>
        </p:nvSpPr>
        <p:spPr>
          <a:xfrm>
            <a:off x="2798444" y="-58831"/>
            <a:ext cx="6595110" cy="707886"/>
          </a:xfrm>
          <a:prstGeom prst="rect">
            <a:avLst/>
          </a:prstGeom>
          <a:noFill/>
        </p:spPr>
        <p:txBody>
          <a:bodyPr wrap="square" rtlCol="0">
            <a:spAutoFit/>
          </a:bodyPr>
          <a:lstStyle/>
          <a:p>
            <a:pPr algn="ctr"/>
            <a:r>
              <a:rPr lang="en-US" sz="4000" b="1" dirty="0">
                <a:latin typeface="Cambria" panose="02040503050406030204" pitchFamily="18" charset="0"/>
                <a:ea typeface="Cambria" panose="02040503050406030204" pitchFamily="18" charset="0"/>
              </a:rPr>
              <a:t>Literature Survey</a:t>
            </a:r>
            <a:endParaRPr lang="en-IN" sz="4000" b="1" dirty="0">
              <a:latin typeface="Cambria" panose="02040503050406030204" pitchFamily="18" charset="0"/>
              <a:ea typeface="Cambria" panose="02040503050406030204" pitchFamily="18" charset="0"/>
            </a:endParaRPr>
          </a:p>
        </p:txBody>
      </p:sp>
      <p:graphicFrame>
        <p:nvGraphicFramePr>
          <p:cNvPr id="7" name="Table 6"/>
          <p:cNvGraphicFramePr>
            <a:graphicFrameLocks noGrp="1"/>
          </p:cNvGraphicFramePr>
          <p:nvPr>
            <p:extLst>
              <p:ext uri="{D42A27DB-BD31-4B8C-83A1-F6EECF244321}">
                <p14:modId xmlns:p14="http://schemas.microsoft.com/office/powerpoint/2010/main" val="712070937"/>
              </p:ext>
            </p:extLst>
          </p:nvPr>
        </p:nvGraphicFramePr>
        <p:xfrm>
          <a:off x="194007" y="649055"/>
          <a:ext cx="11803985" cy="5559889"/>
        </p:xfrm>
        <a:graphic>
          <a:graphicData uri="http://schemas.openxmlformats.org/drawingml/2006/table">
            <a:tbl>
              <a:tblPr firstRow="1" bandRow="1">
                <a:tableStyleId>{74C1A8A3-306A-4EB7-A6B1-4F7E0EB9C5D6}</a:tableStyleId>
              </a:tblPr>
              <a:tblGrid>
                <a:gridCol w="773430">
                  <a:extLst>
                    <a:ext uri="{9D8B030D-6E8A-4147-A177-3AD203B41FA5}">
                      <a16:colId xmlns:a16="http://schemas.microsoft.com/office/drawing/2014/main" val="1246332516"/>
                    </a:ext>
                  </a:extLst>
                </a:gridCol>
                <a:gridCol w="4222230">
                  <a:extLst>
                    <a:ext uri="{9D8B030D-6E8A-4147-A177-3AD203B41FA5}">
                      <a16:colId xmlns:a16="http://schemas.microsoft.com/office/drawing/2014/main" val="3511594090"/>
                    </a:ext>
                  </a:extLst>
                </a:gridCol>
                <a:gridCol w="2462432">
                  <a:extLst>
                    <a:ext uri="{9D8B030D-6E8A-4147-A177-3AD203B41FA5}">
                      <a16:colId xmlns:a16="http://schemas.microsoft.com/office/drawing/2014/main" val="2075059803"/>
                    </a:ext>
                  </a:extLst>
                </a:gridCol>
                <a:gridCol w="1924206">
                  <a:extLst>
                    <a:ext uri="{9D8B030D-6E8A-4147-A177-3AD203B41FA5}">
                      <a16:colId xmlns:a16="http://schemas.microsoft.com/office/drawing/2014/main" val="469376826"/>
                    </a:ext>
                  </a:extLst>
                </a:gridCol>
                <a:gridCol w="2421687">
                  <a:extLst>
                    <a:ext uri="{9D8B030D-6E8A-4147-A177-3AD203B41FA5}">
                      <a16:colId xmlns:a16="http://schemas.microsoft.com/office/drawing/2014/main" val="4042864848"/>
                    </a:ext>
                  </a:extLst>
                </a:gridCol>
              </a:tblGrid>
              <a:tr h="403771">
                <a:tc>
                  <a:txBody>
                    <a:bodyPr/>
                    <a:lstStyle/>
                    <a:p>
                      <a:pPr algn="ctr"/>
                      <a:r>
                        <a:rPr lang="en-US" sz="2200" dirty="0">
                          <a:solidFill>
                            <a:srgbClr val="002060"/>
                          </a:solidFill>
                          <a:latin typeface="Cambria" panose="02040503050406030204" pitchFamily="18" charset="0"/>
                          <a:ea typeface="Cambria" panose="02040503050406030204" pitchFamily="18" charset="0"/>
                        </a:rPr>
                        <a:t>Sl.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sz="2200" dirty="0">
                          <a:solidFill>
                            <a:srgbClr val="002060"/>
                          </a:solidFill>
                          <a:latin typeface="Cambria" panose="02040503050406030204" pitchFamily="18" charset="0"/>
                          <a:ea typeface="Cambria" panose="02040503050406030204" pitchFamily="18" charset="0"/>
                        </a:rPr>
                        <a:t>Title</a:t>
                      </a:r>
                      <a:r>
                        <a:rPr lang="en-IN" sz="2200" baseline="0" dirty="0">
                          <a:solidFill>
                            <a:srgbClr val="002060"/>
                          </a:solidFill>
                          <a:latin typeface="Cambria" panose="02040503050406030204" pitchFamily="18" charset="0"/>
                          <a:ea typeface="Cambria" panose="02040503050406030204" pitchFamily="18" charset="0"/>
                        </a:rPr>
                        <a:t> of the paper and year</a:t>
                      </a:r>
                      <a:endParaRPr lang="en-IN" sz="2200" dirty="0">
                        <a:solidFill>
                          <a:srgbClr val="002060"/>
                        </a:solidFill>
                        <a:latin typeface="Cambria" panose="02040503050406030204" pitchFamily="18" charset="0"/>
                        <a:ea typeface="Cambria" panose="020405030504060302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sz="2200" dirty="0">
                          <a:solidFill>
                            <a:srgbClr val="002060"/>
                          </a:solidFill>
                          <a:latin typeface="Cambria" panose="02040503050406030204" pitchFamily="18" charset="0"/>
                          <a:ea typeface="Cambria" panose="02040503050406030204" pitchFamily="18" charset="0"/>
                        </a:rPr>
                        <a:t>Methodology</a:t>
                      </a:r>
                      <a:r>
                        <a:rPr lang="en-IN" sz="2200" baseline="0" dirty="0">
                          <a:solidFill>
                            <a:srgbClr val="002060"/>
                          </a:solidFill>
                          <a:latin typeface="Cambria" panose="02040503050406030204" pitchFamily="18" charset="0"/>
                          <a:ea typeface="Cambria" panose="02040503050406030204" pitchFamily="18" charset="0"/>
                        </a:rPr>
                        <a:t> </a:t>
                      </a:r>
                      <a:endParaRPr lang="en-IN" sz="2200" dirty="0">
                        <a:solidFill>
                          <a:srgbClr val="002060"/>
                        </a:solidFill>
                        <a:latin typeface="Cambria" panose="02040503050406030204" pitchFamily="18" charset="0"/>
                        <a:ea typeface="Cambria" panose="020405030504060302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sz="2200" dirty="0">
                          <a:solidFill>
                            <a:srgbClr val="002060"/>
                          </a:solidFill>
                          <a:latin typeface="Cambria" panose="02040503050406030204" pitchFamily="18" charset="0"/>
                          <a:ea typeface="Cambria" panose="02040503050406030204" pitchFamily="18" charset="0"/>
                        </a:rPr>
                        <a:t>Advantages </a:t>
                      </a:r>
                      <a:endParaRPr lang="en-IN" sz="2200" dirty="0">
                        <a:solidFill>
                          <a:srgbClr val="002060"/>
                        </a:solidFill>
                        <a:latin typeface="Cambria" panose="02040503050406030204" pitchFamily="18" charset="0"/>
                        <a:ea typeface="Cambria" panose="020405030504060302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sz="2200" dirty="0">
                          <a:solidFill>
                            <a:srgbClr val="002060"/>
                          </a:solidFill>
                          <a:latin typeface="Cambria" panose="02040503050406030204" pitchFamily="18" charset="0"/>
                          <a:ea typeface="Cambria" panose="02040503050406030204" pitchFamily="18" charset="0"/>
                        </a:rPr>
                        <a:t>Disadvantages</a:t>
                      </a:r>
                      <a:endParaRPr lang="en-IN" sz="2200" dirty="0">
                        <a:solidFill>
                          <a:srgbClr val="002060"/>
                        </a:solidFill>
                        <a:latin typeface="Cambria" panose="02040503050406030204" pitchFamily="18" charset="0"/>
                        <a:ea typeface="Cambria" panose="020405030504060302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17800540"/>
                  </a:ext>
                </a:extLst>
              </a:tr>
              <a:tr h="927790">
                <a:tc>
                  <a:txBody>
                    <a:bodyPr/>
                    <a:lstStyle/>
                    <a:p>
                      <a:pPr algn="ctr"/>
                      <a:r>
                        <a:rPr lang="en-US" sz="1700" dirty="0">
                          <a:latin typeface="Cambria" panose="02040503050406030204" pitchFamily="18" charset="0"/>
                          <a:ea typeface="Cambria" panose="02040503050406030204" pitchFamily="18" charset="0"/>
                        </a:rPr>
                        <a:t>1</a:t>
                      </a:r>
                      <a:endParaRPr lang="en-IN" sz="1700" dirty="0">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700" dirty="0">
                          <a:latin typeface="Cambria" panose="02040503050406030204" pitchFamily="18" charset="0"/>
                          <a:ea typeface="Cambria" panose="02040503050406030204" pitchFamily="18" charset="0"/>
                        </a:rPr>
                        <a:t>Implementing and Automating Security Scanning to a </a:t>
                      </a:r>
                      <a:r>
                        <a:rPr lang="en-US" sz="1700" dirty="0" err="1">
                          <a:latin typeface="Cambria" panose="02040503050406030204" pitchFamily="18" charset="0"/>
                          <a:ea typeface="Cambria" panose="02040503050406030204" pitchFamily="18" charset="0"/>
                        </a:rPr>
                        <a:t>DevSecOps</a:t>
                      </a:r>
                      <a:r>
                        <a:rPr lang="en-US" sz="1700" dirty="0">
                          <a:latin typeface="Cambria" panose="02040503050406030204" pitchFamily="18" charset="0"/>
                          <a:ea typeface="Cambria" panose="02040503050406030204" pitchFamily="18" charset="0"/>
                        </a:rPr>
                        <a:t> CI/CD Pipeline , 2023 </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dirty="0">
                          <a:latin typeface="Cambria" panose="02040503050406030204" pitchFamily="18" charset="0"/>
                          <a:ea typeface="Cambria" panose="02040503050406030204" pitchFamily="18" charset="0"/>
                        </a:rPr>
                        <a:t>Automated </a:t>
                      </a:r>
                      <a:r>
                        <a:rPr lang="en-US" sz="1700" dirty="0" err="1">
                          <a:latin typeface="Cambria" panose="02040503050406030204" pitchFamily="18" charset="0"/>
                          <a:ea typeface="Cambria" panose="02040503050406030204" pitchFamily="18" charset="0"/>
                        </a:rPr>
                        <a:t>DevSecOps</a:t>
                      </a:r>
                      <a:r>
                        <a:rPr lang="en-US" sz="1700" dirty="0">
                          <a:latin typeface="Cambria" panose="02040503050406030204" pitchFamily="18" charset="0"/>
                          <a:ea typeface="Cambria" panose="02040503050406030204" pitchFamily="18" charset="0"/>
                        </a:rPr>
                        <a:t> CI/CD with integrated SAST and DAST scanning</a:t>
                      </a:r>
                      <a:endParaRPr lang="en-US" sz="1700" b="0" dirty="0">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700" dirty="0">
                          <a:latin typeface="Cambria" panose="02040503050406030204" pitchFamily="18" charset="0"/>
                          <a:ea typeface="Cambria" panose="02040503050406030204" pitchFamily="18" charset="0"/>
                        </a:rPr>
                        <a:t>Early vulnerability detection and faster remediation</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700" dirty="0">
                          <a:latin typeface="Cambria" panose="02040503050406030204" pitchFamily="18" charset="0"/>
                          <a:ea typeface="Cambria" panose="02040503050406030204" pitchFamily="18" charset="0"/>
                        </a:rPr>
                        <a:t>Tool-dependent with limited real-world validation</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92441998"/>
                  </a:ext>
                </a:extLst>
              </a:tr>
              <a:tr h="1201980">
                <a:tc>
                  <a:txBody>
                    <a:bodyPr/>
                    <a:lstStyle/>
                    <a:p>
                      <a:pPr algn="ctr"/>
                      <a:r>
                        <a:rPr lang="en-US" sz="1700" dirty="0">
                          <a:latin typeface="Cambria" panose="02040503050406030204" pitchFamily="18" charset="0"/>
                          <a:ea typeface="Cambria" panose="02040503050406030204" pitchFamily="18" charset="0"/>
                        </a:rPr>
                        <a:t>2</a:t>
                      </a:r>
                      <a:endParaRPr lang="en-IN" sz="1700" dirty="0">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dirty="0">
                          <a:latin typeface="Cambria" panose="02040503050406030204" pitchFamily="18" charset="0"/>
                          <a:ea typeface="Cambria" panose="02040503050406030204" pitchFamily="18" charset="0"/>
                        </a:rPr>
                        <a:t>Automated Security Findings Management: A Case Study in Industrial DevOps,2024.</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b="0" dirty="0">
                          <a:latin typeface="Cambria" panose="02040503050406030204" pitchFamily="18" charset="0"/>
                          <a:ea typeface="Cambria" panose="02040503050406030204" pitchFamily="18" charset="0"/>
                        </a:rPr>
                        <a:t>Automated semantic knowledge base for unified security findings.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dirty="0">
                          <a:latin typeface="Cambria" panose="02040503050406030204" pitchFamily="18" charset="0"/>
                          <a:ea typeface="Cambria" panose="02040503050406030204" pitchFamily="18" charset="0"/>
                        </a:rPr>
                        <a:t>Enhanced data visibility </a:t>
                      </a:r>
                      <a:r>
                        <a:rPr lang="en-US" sz="1700" dirty="0" err="1">
                          <a:latin typeface="Cambria" panose="02040503050406030204" pitchFamily="18" charset="0"/>
                          <a:ea typeface="Cambria" panose="02040503050406030204" pitchFamily="18" charset="0"/>
                        </a:rPr>
                        <a:t>an.d</a:t>
                      </a:r>
                      <a:r>
                        <a:rPr lang="en-US" sz="1700" dirty="0">
                          <a:latin typeface="Cambria" panose="02040503050406030204" pitchFamily="18" charset="0"/>
                          <a:ea typeface="Cambria" panose="02040503050406030204" pitchFamily="18" charset="0"/>
                        </a:rPr>
                        <a:t> quality.</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700" dirty="0">
                          <a:latin typeface="Cambria" panose="02040503050406030204" pitchFamily="18" charset="0"/>
                          <a:ea typeface="Cambria" panose="02040503050406030204" pitchFamily="18" charset="0"/>
                        </a:rPr>
                        <a:t>Manual rule definition required.</a:t>
                      </a:r>
                      <a:endParaRPr lang="en-IN" sz="1700" dirty="0">
                        <a:solidFill>
                          <a:schemeClr val="tx1"/>
                        </a:solidFill>
                        <a:latin typeface="Cambria" panose="02040503050406030204" pitchFamily="18" charset="0"/>
                        <a:ea typeface="Cambria" panose="02040503050406030204" pitchFamily="18" charset="0"/>
                      </a:endParaRPr>
                    </a:p>
                    <a:p>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34382206"/>
                  </a:ext>
                </a:extLst>
              </a:tr>
              <a:tr h="1019230">
                <a:tc>
                  <a:txBody>
                    <a:bodyPr/>
                    <a:lstStyle/>
                    <a:p>
                      <a:pPr algn="ctr"/>
                      <a:r>
                        <a:rPr lang="en-US" sz="1700" b="0" dirty="0">
                          <a:latin typeface="Cambria" panose="02040503050406030204" pitchFamily="18" charset="0"/>
                          <a:ea typeface="Cambria" panose="02040503050406030204" pitchFamily="18" charset="0"/>
                        </a:rPr>
                        <a:t>3</a:t>
                      </a:r>
                      <a:endParaRPr lang="en-IN" sz="1700" b="0" dirty="0">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dirty="0">
                          <a:latin typeface="Cambria" panose="02040503050406030204" pitchFamily="18" charset="0"/>
                          <a:ea typeface="Cambria" panose="02040503050406030204" pitchFamily="18" charset="0"/>
                        </a:rPr>
                        <a:t>Challenges affecting the successful adoption of DevOps practices: A systematic literature review ,2024. </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b="0" dirty="0">
                          <a:latin typeface="Cambria" panose="02040503050406030204" pitchFamily="18" charset="0"/>
                          <a:ea typeface="Cambria" panose="02040503050406030204" pitchFamily="18" charset="0"/>
                        </a:rPr>
                        <a:t>PRISMA-based systematic literature review of 21 studies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b="0" dirty="0">
                          <a:latin typeface="Cambria" panose="02040503050406030204" pitchFamily="18" charset="0"/>
                          <a:ea typeface="Cambria" panose="02040503050406030204" pitchFamily="18" charset="0"/>
                        </a:rPr>
                        <a:t>Identifies success factors and offers structured frameworks for challenges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b="0" dirty="0">
                          <a:latin typeface="Cambria" panose="02040503050406030204" pitchFamily="18" charset="0"/>
                          <a:ea typeface="Cambria" panose="02040503050406030204" pitchFamily="18" charset="0"/>
                        </a:rPr>
                        <a:t>Highlights cultural resistance, high costs, skill gaps, and legacy complexity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64219671"/>
                  </a:ext>
                </a:extLst>
              </a:tr>
              <a:tr h="1616559">
                <a:tc>
                  <a:txBody>
                    <a:bodyPr/>
                    <a:lstStyle/>
                    <a:p>
                      <a:pPr algn="ctr"/>
                      <a:r>
                        <a:rPr lang="en-US" sz="1700" b="1" dirty="0">
                          <a:latin typeface="Cambria" panose="02040503050406030204" pitchFamily="18" charset="0"/>
                          <a:ea typeface="Cambria" panose="02040503050406030204" pitchFamily="18" charset="0"/>
                        </a:rPr>
                        <a:t>4</a:t>
                      </a:r>
                      <a:endParaRPr lang="en-IN" sz="1700" b="1" dirty="0">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b="1" dirty="0">
                          <a:latin typeface="Cambria" panose="02040503050406030204" pitchFamily="18" charset="0"/>
                          <a:ea typeface="Cambria" panose="02040503050406030204" pitchFamily="18" charset="0"/>
                        </a:rPr>
                        <a:t>Enhancing Smart Contract Security Through </a:t>
                      </a:r>
                      <a:r>
                        <a:rPr lang="en-US" sz="1700" b="1" dirty="0" err="1">
                          <a:latin typeface="Cambria" panose="02040503050406030204" pitchFamily="18" charset="0"/>
                          <a:ea typeface="Cambria" panose="02040503050406030204" pitchFamily="18" charset="0"/>
                        </a:rPr>
                        <a:t>DevSecOps</a:t>
                      </a:r>
                      <a:r>
                        <a:rPr lang="en-US" sz="1700" b="1" dirty="0">
                          <a:latin typeface="Cambria" panose="02040503050406030204" pitchFamily="18" charset="0"/>
                          <a:ea typeface="Cambria" panose="02040503050406030204" pitchFamily="18" charset="0"/>
                        </a:rPr>
                        <a:t>: An Adaptive Approach for Vulnerability Detection , 2025</a:t>
                      </a:r>
                      <a:endParaRPr lang="en-IN" sz="1700" b="1"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b="1" dirty="0">
                          <a:latin typeface="Cambria" panose="02040503050406030204" pitchFamily="18" charset="0"/>
                          <a:ea typeface="Cambria" panose="02040503050406030204" pitchFamily="18" charset="0"/>
                        </a:rPr>
                        <a:t>Adaptive </a:t>
                      </a:r>
                      <a:r>
                        <a:rPr lang="en-US" sz="1700" b="1" dirty="0" err="1">
                          <a:latin typeface="Cambria" panose="02040503050406030204" pitchFamily="18" charset="0"/>
                          <a:ea typeface="Cambria" panose="02040503050406030204" pitchFamily="18" charset="0"/>
                        </a:rPr>
                        <a:t>DevSecOps</a:t>
                      </a:r>
                      <a:r>
                        <a:rPr lang="en-US" sz="1700" b="1" dirty="0">
                          <a:latin typeface="Cambria" panose="02040503050406030204" pitchFamily="18" charset="0"/>
                          <a:ea typeface="Cambria" panose="02040503050406030204" pitchFamily="18" charset="0"/>
                        </a:rPr>
                        <a:t> with AI and testing tools</a:t>
                      </a:r>
                      <a:endParaRPr lang="en-IN" sz="1700" b="1"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700" b="1" dirty="0">
                          <a:latin typeface="Cambria" panose="02040503050406030204" pitchFamily="18" charset="0"/>
                          <a:ea typeface="Cambria" panose="02040503050406030204" pitchFamily="18" charset="0"/>
                        </a:rPr>
                        <a:t>Early vulnerability detection</a:t>
                      </a:r>
                      <a:endParaRPr lang="en-IN" sz="1700" b="1" dirty="0">
                        <a:solidFill>
                          <a:schemeClr val="tx1"/>
                        </a:solidFill>
                        <a:latin typeface="Cambria" panose="02040503050406030204" pitchFamily="18" charset="0"/>
                        <a:ea typeface="Cambria" panose="02040503050406030204" pitchFamily="18" charset="0"/>
                      </a:endParaRPr>
                    </a:p>
                    <a:p>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700" b="1" dirty="0">
                          <a:latin typeface="Cambria" panose="02040503050406030204" pitchFamily="18" charset="0"/>
                          <a:ea typeface="Cambria" panose="02040503050406030204" pitchFamily="18" charset="0"/>
                        </a:rPr>
                        <a:t>Complex to implement</a:t>
                      </a:r>
                      <a:endParaRPr lang="en-IN" sz="1700" b="1"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267957622"/>
                  </a:ext>
                </a:extLst>
              </a:tr>
            </a:tbl>
          </a:graphicData>
        </a:graphic>
      </p:graphicFrame>
    </p:spTree>
    <p:extLst>
      <p:ext uri="{BB962C8B-B14F-4D97-AF65-F5344CB8AC3E}">
        <p14:creationId xmlns:p14="http://schemas.microsoft.com/office/powerpoint/2010/main" val="31314499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3"/>
          </p:nvPr>
        </p:nvSpPr>
        <p:spPr/>
        <p:txBody>
          <a:bodyPr/>
          <a:lstStyle/>
          <a:p>
            <a:r>
              <a:rPr lang="en-US"/>
              <a:t>Dept. of CSE | GAT | 2025-26                                                                                                           CSEP23605</a:t>
            </a:r>
            <a:endParaRPr lang="en-IN" dirty="0"/>
          </a:p>
        </p:txBody>
      </p:sp>
      <p:sp>
        <p:nvSpPr>
          <p:cNvPr id="3" name="Slide Number Placeholder 2"/>
          <p:cNvSpPr>
            <a:spLocks noGrp="1"/>
          </p:cNvSpPr>
          <p:nvPr>
            <p:ph type="sldNum" sz="quarter" idx="4"/>
          </p:nvPr>
        </p:nvSpPr>
        <p:spPr/>
        <p:txBody>
          <a:bodyPr/>
          <a:lstStyle/>
          <a:p>
            <a:fld id="{FFAE6D68-FB99-4243-9CC1-93FAA8C005BC}" type="slidenum">
              <a:rPr lang="en-IN" smtClean="0"/>
              <a:pPr/>
              <a:t>5</a:t>
            </a:fld>
            <a:endParaRPr lang="en-IN"/>
          </a:p>
        </p:txBody>
      </p:sp>
      <p:sp>
        <p:nvSpPr>
          <p:cNvPr id="4" name="TextBox 3">
            <a:extLst>
              <a:ext uri="{FF2B5EF4-FFF2-40B4-BE49-F238E27FC236}">
                <a16:creationId xmlns:a16="http://schemas.microsoft.com/office/drawing/2014/main" id="{A2D65176-27C0-6A9C-1D22-589841C6C443}"/>
              </a:ext>
            </a:extLst>
          </p:cNvPr>
          <p:cNvSpPr txBox="1"/>
          <p:nvPr/>
        </p:nvSpPr>
        <p:spPr>
          <a:xfrm>
            <a:off x="2798445" y="182880"/>
            <a:ext cx="6595110" cy="707886"/>
          </a:xfrm>
          <a:prstGeom prst="rect">
            <a:avLst/>
          </a:prstGeom>
          <a:noFill/>
        </p:spPr>
        <p:txBody>
          <a:bodyPr wrap="square" rtlCol="0">
            <a:spAutoFit/>
          </a:bodyPr>
          <a:lstStyle/>
          <a:p>
            <a:pPr algn="ctr"/>
            <a:r>
              <a:rPr lang="en-US" sz="4000" b="1" dirty="0">
                <a:latin typeface="Cambria" panose="02040503050406030204" pitchFamily="18" charset="0"/>
                <a:ea typeface="Cambria" panose="02040503050406030204" pitchFamily="18" charset="0"/>
              </a:rPr>
              <a:t>Literature Survey</a:t>
            </a:r>
            <a:endParaRPr lang="en-IN" sz="4000" b="1" dirty="0">
              <a:latin typeface="Cambria" panose="02040503050406030204" pitchFamily="18" charset="0"/>
              <a:ea typeface="Cambria" panose="02040503050406030204" pitchFamily="18" charset="0"/>
            </a:endParaRPr>
          </a:p>
        </p:txBody>
      </p:sp>
      <p:graphicFrame>
        <p:nvGraphicFramePr>
          <p:cNvPr id="10" name="Table 9"/>
          <p:cNvGraphicFramePr>
            <a:graphicFrameLocks noGrp="1"/>
          </p:cNvGraphicFramePr>
          <p:nvPr>
            <p:extLst>
              <p:ext uri="{D42A27DB-BD31-4B8C-83A1-F6EECF244321}">
                <p14:modId xmlns:p14="http://schemas.microsoft.com/office/powerpoint/2010/main" val="2726606295"/>
              </p:ext>
            </p:extLst>
          </p:nvPr>
        </p:nvGraphicFramePr>
        <p:xfrm>
          <a:off x="381000" y="958572"/>
          <a:ext cx="11627225" cy="5301809"/>
        </p:xfrm>
        <a:graphic>
          <a:graphicData uri="http://schemas.openxmlformats.org/drawingml/2006/table">
            <a:tbl>
              <a:tblPr firstRow="1" bandRow="1">
                <a:tableStyleId>{74C1A8A3-306A-4EB7-A6B1-4F7E0EB9C5D6}</a:tableStyleId>
              </a:tblPr>
              <a:tblGrid>
                <a:gridCol w="822867">
                  <a:extLst>
                    <a:ext uri="{9D8B030D-6E8A-4147-A177-3AD203B41FA5}">
                      <a16:colId xmlns:a16="http://schemas.microsoft.com/office/drawing/2014/main" val="1246332516"/>
                    </a:ext>
                  </a:extLst>
                </a:gridCol>
                <a:gridCol w="3799859">
                  <a:extLst>
                    <a:ext uri="{9D8B030D-6E8A-4147-A177-3AD203B41FA5}">
                      <a16:colId xmlns:a16="http://schemas.microsoft.com/office/drawing/2014/main" val="3511594090"/>
                    </a:ext>
                  </a:extLst>
                </a:gridCol>
                <a:gridCol w="2334833">
                  <a:extLst>
                    <a:ext uri="{9D8B030D-6E8A-4147-A177-3AD203B41FA5}">
                      <a16:colId xmlns:a16="http://schemas.microsoft.com/office/drawing/2014/main" val="2075059803"/>
                    </a:ext>
                  </a:extLst>
                </a:gridCol>
                <a:gridCol w="2334833">
                  <a:extLst>
                    <a:ext uri="{9D8B030D-6E8A-4147-A177-3AD203B41FA5}">
                      <a16:colId xmlns:a16="http://schemas.microsoft.com/office/drawing/2014/main" val="469376826"/>
                    </a:ext>
                  </a:extLst>
                </a:gridCol>
                <a:gridCol w="2334833">
                  <a:extLst>
                    <a:ext uri="{9D8B030D-6E8A-4147-A177-3AD203B41FA5}">
                      <a16:colId xmlns:a16="http://schemas.microsoft.com/office/drawing/2014/main" val="4042864848"/>
                    </a:ext>
                  </a:extLst>
                </a:gridCol>
              </a:tblGrid>
              <a:tr h="495594">
                <a:tc>
                  <a:txBody>
                    <a:bodyPr/>
                    <a:lstStyle/>
                    <a:p>
                      <a:pPr algn="ctr"/>
                      <a:r>
                        <a:rPr lang="en-US" sz="2200" dirty="0">
                          <a:solidFill>
                            <a:srgbClr val="002060"/>
                          </a:solidFill>
                          <a:latin typeface="Cambria" panose="02040503050406030204" pitchFamily="18" charset="0"/>
                          <a:ea typeface="Cambria" panose="02040503050406030204" pitchFamily="18" charset="0"/>
                        </a:rPr>
                        <a:t>Sl.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sz="2200" dirty="0">
                          <a:solidFill>
                            <a:srgbClr val="002060"/>
                          </a:solidFill>
                          <a:latin typeface="Cambria" panose="02040503050406030204" pitchFamily="18" charset="0"/>
                          <a:ea typeface="Cambria" panose="02040503050406030204" pitchFamily="18" charset="0"/>
                        </a:rPr>
                        <a:t>Title</a:t>
                      </a:r>
                      <a:r>
                        <a:rPr lang="en-IN" sz="2200" baseline="0" dirty="0">
                          <a:solidFill>
                            <a:srgbClr val="002060"/>
                          </a:solidFill>
                          <a:latin typeface="Cambria" panose="02040503050406030204" pitchFamily="18" charset="0"/>
                          <a:ea typeface="Cambria" panose="02040503050406030204" pitchFamily="18" charset="0"/>
                        </a:rPr>
                        <a:t> of the paper and year</a:t>
                      </a:r>
                      <a:endParaRPr lang="en-IN" sz="2200" dirty="0">
                        <a:solidFill>
                          <a:srgbClr val="002060"/>
                        </a:solidFill>
                        <a:latin typeface="Cambria" panose="02040503050406030204" pitchFamily="18" charset="0"/>
                        <a:ea typeface="Cambria" panose="020405030504060302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sz="2200" dirty="0">
                          <a:solidFill>
                            <a:srgbClr val="002060"/>
                          </a:solidFill>
                          <a:latin typeface="Cambria" panose="02040503050406030204" pitchFamily="18" charset="0"/>
                          <a:ea typeface="Cambria" panose="02040503050406030204" pitchFamily="18" charset="0"/>
                        </a:rPr>
                        <a:t>Methodology</a:t>
                      </a:r>
                      <a:r>
                        <a:rPr lang="en-IN" sz="2200" baseline="0" dirty="0">
                          <a:solidFill>
                            <a:srgbClr val="002060"/>
                          </a:solidFill>
                          <a:latin typeface="Cambria" panose="02040503050406030204" pitchFamily="18" charset="0"/>
                          <a:ea typeface="Cambria" panose="02040503050406030204" pitchFamily="18" charset="0"/>
                        </a:rPr>
                        <a:t> </a:t>
                      </a:r>
                      <a:endParaRPr lang="en-IN" sz="2200" dirty="0">
                        <a:solidFill>
                          <a:srgbClr val="002060"/>
                        </a:solidFill>
                        <a:latin typeface="Cambria" panose="02040503050406030204" pitchFamily="18" charset="0"/>
                        <a:ea typeface="Cambria" panose="020405030504060302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sz="2200" dirty="0">
                          <a:solidFill>
                            <a:srgbClr val="002060"/>
                          </a:solidFill>
                          <a:latin typeface="Cambria" panose="02040503050406030204" pitchFamily="18" charset="0"/>
                          <a:ea typeface="Cambria" panose="02040503050406030204" pitchFamily="18" charset="0"/>
                        </a:rPr>
                        <a:t>Advantages </a:t>
                      </a:r>
                      <a:endParaRPr lang="en-IN" sz="2200" dirty="0">
                        <a:solidFill>
                          <a:srgbClr val="002060"/>
                        </a:solidFill>
                        <a:latin typeface="Cambria" panose="02040503050406030204" pitchFamily="18" charset="0"/>
                        <a:ea typeface="Cambria" panose="020405030504060302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sz="2200" dirty="0">
                          <a:solidFill>
                            <a:srgbClr val="002060"/>
                          </a:solidFill>
                          <a:latin typeface="Cambria" panose="02040503050406030204" pitchFamily="18" charset="0"/>
                          <a:ea typeface="Cambria" panose="02040503050406030204" pitchFamily="18" charset="0"/>
                        </a:rPr>
                        <a:t>Disadvantages</a:t>
                      </a:r>
                      <a:endParaRPr lang="en-IN" sz="2200" dirty="0">
                        <a:solidFill>
                          <a:srgbClr val="002060"/>
                        </a:solidFill>
                        <a:latin typeface="Cambria" panose="02040503050406030204" pitchFamily="18" charset="0"/>
                        <a:ea typeface="Cambria" panose="020405030504060302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17800540"/>
                  </a:ext>
                </a:extLst>
              </a:tr>
              <a:tr h="1008887">
                <a:tc>
                  <a:txBody>
                    <a:bodyPr/>
                    <a:lstStyle/>
                    <a:p>
                      <a:pPr algn="ctr"/>
                      <a:r>
                        <a:rPr lang="en-US" sz="1700" dirty="0">
                          <a:latin typeface="Cambria" panose="02040503050406030204" pitchFamily="18" charset="0"/>
                          <a:ea typeface="Cambria" panose="02040503050406030204" pitchFamily="18" charset="0"/>
                        </a:rPr>
                        <a:t>5</a:t>
                      </a:r>
                      <a:endParaRPr lang="en-IN" sz="1700" dirty="0">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dirty="0">
                          <a:latin typeface="Cambria" panose="02040503050406030204" pitchFamily="18" charset="0"/>
                          <a:ea typeface="Cambria" panose="02040503050406030204" pitchFamily="18" charset="0"/>
                        </a:rPr>
                        <a:t>Cybersecurity in DevOps Environments: A Systematic Literature Review ,2025.</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700" dirty="0">
                          <a:latin typeface="Cambria" panose="02040503050406030204" pitchFamily="18" charset="0"/>
                          <a:ea typeface="Cambria" panose="02040503050406030204" pitchFamily="18" charset="0"/>
                        </a:rPr>
                        <a:t>Systematic literature review.</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700" dirty="0">
                          <a:latin typeface="Cambria" panose="02040503050406030204" pitchFamily="18" charset="0"/>
                          <a:ea typeface="Cambria" panose="02040503050406030204" pitchFamily="18" charset="0"/>
                        </a:rPr>
                        <a:t>Broad evidence and taxonomy.</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700" dirty="0">
                          <a:latin typeface="Cambria" panose="02040503050406030204" pitchFamily="18" charset="0"/>
                          <a:ea typeface="Cambria" panose="02040503050406030204" pitchFamily="18" charset="0"/>
                        </a:rPr>
                        <a:t>No empirical validation.</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92441998"/>
                  </a:ext>
                </a:extLst>
              </a:tr>
              <a:tr h="977928">
                <a:tc>
                  <a:txBody>
                    <a:bodyPr/>
                    <a:lstStyle/>
                    <a:p>
                      <a:pPr algn="ctr"/>
                      <a:r>
                        <a:rPr lang="en-US" sz="1700" dirty="0">
                          <a:latin typeface="Cambria" panose="02040503050406030204" pitchFamily="18" charset="0"/>
                          <a:ea typeface="Cambria" panose="02040503050406030204" pitchFamily="18" charset="0"/>
                        </a:rPr>
                        <a:t>6</a:t>
                      </a:r>
                      <a:endParaRPr lang="en-IN" sz="1700" dirty="0">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700" dirty="0">
                          <a:latin typeface="Cambria" panose="02040503050406030204" pitchFamily="18" charset="0"/>
                          <a:ea typeface="Cambria" panose="02040503050406030204" pitchFamily="18" charset="0"/>
                        </a:rPr>
                        <a:t>Effort Estimation in Agile and DevOps: A Systematic Literature Review of Stakeholder Dissatisfaction ,2025 </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700" dirty="0">
                          <a:latin typeface="Cambria" panose="02040503050406030204" pitchFamily="18" charset="0"/>
                          <a:ea typeface="Cambria" panose="02040503050406030204" pitchFamily="18" charset="0"/>
                        </a:rPr>
                        <a:t>Systematic Literature Review using PICOS &amp; PRISMA</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N" sz="1700" dirty="0">
                          <a:latin typeface="Cambria" panose="02040503050406030204" pitchFamily="18" charset="0"/>
                          <a:ea typeface="Cambria" panose="02040503050406030204" pitchFamily="18" charset="0"/>
                        </a:rPr>
                        <a:t>Identifies causes of estimation failure</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N" sz="1700" dirty="0">
                          <a:latin typeface="Cambria" panose="02040503050406030204" pitchFamily="18" charset="0"/>
                          <a:ea typeface="Cambria" panose="02040503050406030204" pitchFamily="18" charset="0"/>
                        </a:rPr>
                        <a:t>No new estimation model</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34382206"/>
                  </a:ext>
                </a:extLst>
              </a:tr>
              <a:tr h="1432560">
                <a:tc>
                  <a:txBody>
                    <a:bodyPr/>
                    <a:lstStyle/>
                    <a:p>
                      <a:pPr algn="ctr"/>
                      <a:r>
                        <a:rPr lang="en-US" sz="1700" dirty="0">
                          <a:latin typeface="Cambria" panose="02040503050406030204" pitchFamily="18" charset="0"/>
                          <a:ea typeface="Cambria" panose="02040503050406030204" pitchFamily="18" charset="0"/>
                        </a:rPr>
                        <a:t>7</a:t>
                      </a:r>
                      <a:endParaRPr lang="en-IN" sz="1700" dirty="0">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700" dirty="0">
                          <a:latin typeface="Cambria" panose="02040503050406030204" pitchFamily="18" charset="0"/>
                          <a:ea typeface="Cambria" panose="02040503050406030204" pitchFamily="18" charset="0"/>
                        </a:rPr>
                        <a:t>Extensive Review of Threat Models for </a:t>
                      </a:r>
                      <a:r>
                        <a:rPr lang="en-US" sz="1700" dirty="0" err="1">
                          <a:latin typeface="Cambria" panose="02040503050406030204" pitchFamily="18" charset="0"/>
                          <a:ea typeface="Cambria" panose="02040503050406030204" pitchFamily="18" charset="0"/>
                        </a:rPr>
                        <a:t>DevSecOps</a:t>
                      </a:r>
                      <a:r>
                        <a:rPr lang="en-US" sz="1700" dirty="0">
                          <a:latin typeface="Cambria" panose="02040503050406030204" pitchFamily="18" charset="0"/>
                          <a:ea typeface="Cambria" panose="02040503050406030204" pitchFamily="18" charset="0"/>
                        </a:rPr>
                        <a:t> ,2025</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b="0" dirty="0">
                          <a:latin typeface="Cambria" panose="02040503050406030204" pitchFamily="18" charset="0"/>
                          <a:ea typeface="Cambria" panose="02040503050406030204" pitchFamily="18" charset="0"/>
                        </a:rPr>
                        <a:t>Systematic review of threat models with layered </a:t>
                      </a:r>
                      <a:r>
                        <a:rPr lang="en-US" sz="1700" b="0" dirty="0" err="1">
                          <a:latin typeface="Cambria" panose="02040503050406030204" pitchFamily="18" charset="0"/>
                          <a:ea typeface="Cambria" panose="02040503050406030204" pitchFamily="18" charset="0"/>
                        </a:rPr>
                        <a:t>DevSecOps</a:t>
                      </a:r>
                      <a:r>
                        <a:rPr lang="en-US" sz="1700" b="0" dirty="0">
                          <a:latin typeface="Cambria" panose="02040503050406030204" pitchFamily="18" charset="0"/>
                          <a:ea typeface="Cambria" panose="02040503050406030204" pitchFamily="18" charset="0"/>
                        </a:rPr>
                        <a:t> framework for single and </a:t>
                      </a:r>
                      <a:r>
                        <a:rPr lang="en-US" sz="1700" b="0" dirty="0" err="1">
                          <a:latin typeface="Cambria" panose="02040503050406030204" pitchFamily="18" charset="0"/>
                          <a:ea typeface="Cambria" panose="02040503050406030204" pitchFamily="18" charset="0"/>
                        </a:rPr>
                        <a:t>multicloud</a:t>
                      </a:r>
                      <a:endParaRPr lang="en-US" sz="1700" b="0" dirty="0">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b="0" dirty="0">
                          <a:latin typeface="Cambria" panose="02040503050406030204" pitchFamily="18" charset="0"/>
                          <a:ea typeface="Cambria" panose="02040503050406030204" pitchFamily="18" charset="0"/>
                        </a:rPr>
                        <a:t>Comprehensive threat model coverage with early security integration support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b="0" dirty="0">
                          <a:latin typeface="Cambria" panose="02040503050406030204" pitchFamily="18" charset="0"/>
                          <a:ea typeface="Cambria" panose="02040503050406030204" pitchFamily="18" charset="0"/>
                        </a:rPr>
                        <a:t>Conceptual study without experimental validation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64219671"/>
                  </a:ext>
                </a:extLst>
              </a:tr>
              <a:tr h="407095">
                <a:tc>
                  <a:txBody>
                    <a:bodyPr/>
                    <a:lstStyle/>
                    <a:p>
                      <a:pPr algn="ctr"/>
                      <a:r>
                        <a:rPr lang="en-US" sz="1700" dirty="0">
                          <a:latin typeface="Cambria" panose="02040503050406030204" pitchFamily="18" charset="0"/>
                          <a:ea typeface="Cambria" panose="02040503050406030204" pitchFamily="18" charset="0"/>
                        </a:rPr>
                        <a:t>8</a:t>
                      </a:r>
                      <a:endParaRPr lang="en-IN" sz="1700" dirty="0">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dirty="0">
                          <a:latin typeface="Cambria" panose="02040503050406030204" pitchFamily="18" charset="0"/>
                          <a:ea typeface="Cambria" panose="02040503050406030204" pitchFamily="18" charset="0"/>
                        </a:rPr>
                        <a:t>Empirical Investigation of Key Enablers for Secure DevOps Practices, 2025</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700" dirty="0">
                          <a:latin typeface="Cambria" panose="02040503050406030204" pitchFamily="18" charset="0"/>
                          <a:ea typeface="Cambria" panose="02040503050406030204" pitchFamily="18" charset="0"/>
                        </a:rPr>
                        <a:t>Empirical Study / Survey-based Research</a:t>
                      </a:r>
                      <a:r>
                        <a:rPr lang="en-US" sz="1700" dirty="0">
                          <a:solidFill>
                            <a:schemeClr val="tx1"/>
                          </a:solidFill>
                          <a:latin typeface="Cambria" panose="02040503050406030204" pitchFamily="18" charset="0"/>
                          <a:ea typeface="Cambria" panose="02040503050406030204" pitchFamily="18" charset="0"/>
                        </a:rPr>
                        <a:t>.</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b="0" dirty="0">
                          <a:latin typeface="Cambria" panose="02040503050406030204" pitchFamily="18" charset="0"/>
                          <a:ea typeface="Cambria" panose="02040503050406030204" pitchFamily="18" charset="0"/>
                        </a:rPr>
                        <a:t>Statistically validated results, industry support, sustainability focus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dirty="0">
                          <a:latin typeface="Cambria" panose="02040503050406030204" pitchFamily="18" charset="0"/>
                          <a:ea typeface="Cambria" panose="02040503050406030204" pitchFamily="18" charset="0"/>
                        </a:rPr>
                        <a:t>No technical implementation, survey bias risk, no performance benchmarking</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957622"/>
                  </a:ext>
                </a:extLst>
              </a:tr>
            </a:tbl>
          </a:graphicData>
        </a:graphic>
      </p:graphicFrame>
    </p:spTree>
    <p:extLst>
      <p:ext uri="{BB962C8B-B14F-4D97-AF65-F5344CB8AC3E}">
        <p14:creationId xmlns:p14="http://schemas.microsoft.com/office/powerpoint/2010/main" val="35504695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BF7E5-7BEB-577A-7F50-82A0274A0B3F}"/>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8CF3FEED-0417-6208-46AD-2CB25B06881E}"/>
              </a:ext>
            </a:extLst>
          </p:cNvPr>
          <p:cNvSpPr>
            <a:spLocks noGrp="1"/>
          </p:cNvSpPr>
          <p:nvPr>
            <p:ph type="ftr" sz="quarter" idx="3"/>
          </p:nvPr>
        </p:nvSpPr>
        <p:spPr/>
        <p:txBody>
          <a:bodyPr/>
          <a:lstStyle/>
          <a:p>
            <a:r>
              <a:rPr lang="en-US"/>
              <a:t>Dept. of CSE | GAT | 2025-26                                                                                                           CSEP23605</a:t>
            </a:r>
            <a:endParaRPr lang="en-IN" dirty="0"/>
          </a:p>
        </p:txBody>
      </p:sp>
      <p:sp>
        <p:nvSpPr>
          <p:cNvPr id="3" name="Slide Number Placeholder 2">
            <a:extLst>
              <a:ext uri="{FF2B5EF4-FFF2-40B4-BE49-F238E27FC236}">
                <a16:creationId xmlns:a16="http://schemas.microsoft.com/office/drawing/2014/main" id="{129B0017-3F41-422B-7409-0FB5632E5DA7}"/>
              </a:ext>
            </a:extLst>
          </p:cNvPr>
          <p:cNvSpPr>
            <a:spLocks noGrp="1"/>
          </p:cNvSpPr>
          <p:nvPr>
            <p:ph type="sldNum" sz="quarter" idx="4"/>
          </p:nvPr>
        </p:nvSpPr>
        <p:spPr/>
        <p:txBody>
          <a:bodyPr/>
          <a:lstStyle/>
          <a:p>
            <a:fld id="{FFAE6D68-FB99-4243-9CC1-93FAA8C005BC}" type="slidenum">
              <a:rPr lang="en-IN" smtClean="0"/>
              <a:pPr/>
              <a:t>6</a:t>
            </a:fld>
            <a:endParaRPr lang="en-IN"/>
          </a:p>
        </p:txBody>
      </p:sp>
      <p:sp>
        <p:nvSpPr>
          <p:cNvPr id="4" name="TextBox 3">
            <a:extLst>
              <a:ext uri="{FF2B5EF4-FFF2-40B4-BE49-F238E27FC236}">
                <a16:creationId xmlns:a16="http://schemas.microsoft.com/office/drawing/2014/main" id="{1C0ACCFF-7B2A-5D1C-77C9-68912F460998}"/>
              </a:ext>
            </a:extLst>
          </p:cNvPr>
          <p:cNvSpPr txBox="1"/>
          <p:nvPr/>
        </p:nvSpPr>
        <p:spPr>
          <a:xfrm>
            <a:off x="2798445" y="182880"/>
            <a:ext cx="6595110" cy="707886"/>
          </a:xfrm>
          <a:prstGeom prst="rect">
            <a:avLst/>
          </a:prstGeom>
          <a:noFill/>
        </p:spPr>
        <p:txBody>
          <a:bodyPr wrap="square" rtlCol="0">
            <a:spAutoFit/>
          </a:bodyPr>
          <a:lstStyle/>
          <a:p>
            <a:pPr algn="ctr"/>
            <a:r>
              <a:rPr lang="en-US" sz="4000" b="1" dirty="0">
                <a:latin typeface="Cambria" panose="02040503050406030204" pitchFamily="18" charset="0"/>
                <a:ea typeface="Cambria" panose="02040503050406030204" pitchFamily="18" charset="0"/>
              </a:rPr>
              <a:t>Literature Survey</a:t>
            </a:r>
            <a:endParaRPr lang="en-IN" sz="4000" b="1" dirty="0">
              <a:latin typeface="Cambria" panose="02040503050406030204" pitchFamily="18" charset="0"/>
              <a:ea typeface="Cambria" panose="02040503050406030204" pitchFamily="18" charset="0"/>
            </a:endParaRPr>
          </a:p>
        </p:txBody>
      </p:sp>
      <p:graphicFrame>
        <p:nvGraphicFramePr>
          <p:cNvPr id="10" name="Table 9">
            <a:extLst>
              <a:ext uri="{FF2B5EF4-FFF2-40B4-BE49-F238E27FC236}">
                <a16:creationId xmlns:a16="http://schemas.microsoft.com/office/drawing/2014/main" id="{5F8EFF7C-1375-B2C4-04A2-879B7407DC62}"/>
              </a:ext>
            </a:extLst>
          </p:cNvPr>
          <p:cNvGraphicFramePr>
            <a:graphicFrameLocks noGrp="1"/>
          </p:cNvGraphicFramePr>
          <p:nvPr>
            <p:extLst>
              <p:ext uri="{D42A27DB-BD31-4B8C-83A1-F6EECF244321}">
                <p14:modId xmlns:p14="http://schemas.microsoft.com/office/powerpoint/2010/main" val="2301831654"/>
              </p:ext>
            </p:extLst>
          </p:nvPr>
        </p:nvGraphicFramePr>
        <p:xfrm>
          <a:off x="381000" y="958572"/>
          <a:ext cx="11627225" cy="2751114"/>
        </p:xfrm>
        <a:graphic>
          <a:graphicData uri="http://schemas.openxmlformats.org/drawingml/2006/table">
            <a:tbl>
              <a:tblPr firstRow="1" bandRow="1">
                <a:tableStyleId>{74C1A8A3-306A-4EB7-A6B1-4F7E0EB9C5D6}</a:tableStyleId>
              </a:tblPr>
              <a:tblGrid>
                <a:gridCol w="822867">
                  <a:extLst>
                    <a:ext uri="{9D8B030D-6E8A-4147-A177-3AD203B41FA5}">
                      <a16:colId xmlns:a16="http://schemas.microsoft.com/office/drawing/2014/main" val="1246332516"/>
                    </a:ext>
                  </a:extLst>
                </a:gridCol>
                <a:gridCol w="3799859">
                  <a:extLst>
                    <a:ext uri="{9D8B030D-6E8A-4147-A177-3AD203B41FA5}">
                      <a16:colId xmlns:a16="http://schemas.microsoft.com/office/drawing/2014/main" val="3511594090"/>
                    </a:ext>
                  </a:extLst>
                </a:gridCol>
                <a:gridCol w="2334833">
                  <a:extLst>
                    <a:ext uri="{9D8B030D-6E8A-4147-A177-3AD203B41FA5}">
                      <a16:colId xmlns:a16="http://schemas.microsoft.com/office/drawing/2014/main" val="2075059803"/>
                    </a:ext>
                  </a:extLst>
                </a:gridCol>
                <a:gridCol w="2334833">
                  <a:extLst>
                    <a:ext uri="{9D8B030D-6E8A-4147-A177-3AD203B41FA5}">
                      <a16:colId xmlns:a16="http://schemas.microsoft.com/office/drawing/2014/main" val="469376826"/>
                    </a:ext>
                  </a:extLst>
                </a:gridCol>
                <a:gridCol w="2334833">
                  <a:extLst>
                    <a:ext uri="{9D8B030D-6E8A-4147-A177-3AD203B41FA5}">
                      <a16:colId xmlns:a16="http://schemas.microsoft.com/office/drawing/2014/main" val="4042864848"/>
                    </a:ext>
                  </a:extLst>
                </a:gridCol>
              </a:tblGrid>
              <a:tr h="495594">
                <a:tc>
                  <a:txBody>
                    <a:bodyPr/>
                    <a:lstStyle/>
                    <a:p>
                      <a:pPr algn="ctr"/>
                      <a:r>
                        <a:rPr lang="en-US" sz="2200" dirty="0">
                          <a:solidFill>
                            <a:srgbClr val="002060"/>
                          </a:solidFill>
                          <a:latin typeface="Cambria" panose="02040503050406030204" pitchFamily="18" charset="0"/>
                          <a:ea typeface="Cambria" panose="02040503050406030204" pitchFamily="18" charset="0"/>
                        </a:rPr>
                        <a:t>Sl.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sz="2200" dirty="0">
                          <a:solidFill>
                            <a:srgbClr val="002060"/>
                          </a:solidFill>
                          <a:latin typeface="Cambria" panose="02040503050406030204" pitchFamily="18" charset="0"/>
                          <a:ea typeface="Cambria" panose="02040503050406030204" pitchFamily="18" charset="0"/>
                        </a:rPr>
                        <a:t>Title</a:t>
                      </a:r>
                      <a:r>
                        <a:rPr lang="en-IN" sz="2200" baseline="0" dirty="0">
                          <a:solidFill>
                            <a:srgbClr val="002060"/>
                          </a:solidFill>
                          <a:latin typeface="Cambria" panose="02040503050406030204" pitchFamily="18" charset="0"/>
                          <a:ea typeface="Cambria" panose="02040503050406030204" pitchFamily="18" charset="0"/>
                        </a:rPr>
                        <a:t> of the paper and year</a:t>
                      </a:r>
                      <a:endParaRPr lang="en-IN" sz="2200" dirty="0">
                        <a:solidFill>
                          <a:srgbClr val="002060"/>
                        </a:solidFill>
                        <a:latin typeface="Cambria" panose="02040503050406030204" pitchFamily="18" charset="0"/>
                        <a:ea typeface="Cambria" panose="020405030504060302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sz="2200" dirty="0">
                          <a:solidFill>
                            <a:srgbClr val="002060"/>
                          </a:solidFill>
                          <a:latin typeface="Cambria" panose="02040503050406030204" pitchFamily="18" charset="0"/>
                          <a:ea typeface="Cambria" panose="02040503050406030204" pitchFamily="18" charset="0"/>
                        </a:rPr>
                        <a:t>Methodology</a:t>
                      </a:r>
                      <a:r>
                        <a:rPr lang="en-IN" sz="2200" baseline="0" dirty="0">
                          <a:solidFill>
                            <a:srgbClr val="002060"/>
                          </a:solidFill>
                          <a:latin typeface="Cambria" panose="02040503050406030204" pitchFamily="18" charset="0"/>
                          <a:ea typeface="Cambria" panose="02040503050406030204" pitchFamily="18" charset="0"/>
                        </a:rPr>
                        <a:t> </a:t>
                      </a:r>
                      <a:endParaRPr lang="en-IN" sz="2200" dirty="0">
                        <a:solidFill>
                          <a:srgbClr val="002060"/>
                        </a:solidFill>
                        <a:latin typeface="Cambria" panose="02040503050406030204" pitchFamily="18" charset="0"/>
                        <a:ea typeface="Cambria" panose="020405030504060302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sz="2200" dirty="0">
                          <a:solidFill>
                            <a:srgbClr val="002060"/>
                          </a:solidFill>
                          <a:latin typeface="Cambria" panose="02040503050406030204" pitchFamily="18" charset="0"/>
                          <a:ea typeface="Cambria" panose="02040503050406030204" pitchFamily="18" charset="0"/>
                        </a:rPr>
                        <a:t>Advantages </a:t>
                      </a:r>
                      <a:endParaRPr lang="en-IN" sz="2200" dirty="0">
                        <a:solidFill>
                          <a:srgbClr val="002060"/>
                        </a:solidFill>
                        <a:latin typeface="Cambria" panose="02040503050406030204" pitchFamily="18" charset="0"/>
                        <a:ea typeface="Cambria" panose="020405030504060302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sz="2200" dirty="0">
                          <a:solidFill>
                            <a:srgbClr val="002060"/>
                          </a:solidFill>
                          <a:latin typeface="Cambria" panose="02040503050406030204" pitchFamily="18" charset="0"/>
                          <a:ea typeface="Cambria" panose="02040503050406030204" pitchFamily="18" charset="0"/>
                        </a:rPr>
                        <a:t>Disadvantages</a:t>
                      </a:r>
                      <a:endParaRPr lang="en-IN" sz="2200" dirty="0">
                        <a:solidFill>
                          <a:srgbClr val="002060"/>
                        </a:solidFill>
                        <a:latin typeface="Cambria" panose="02040503050406030204" pitchFamily="18" charset="0"/>
                        <a:ea typeface="Cambria" panose="020405030504060302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17800540"/>
                  </a:ext>
                </a:extLst>
              </a:tr>
              <a:tr h="1008887">
                <a:tc>
                  <a:txBody>
                    <a:bodyPr/>
                    <a:lstStyle/>
                    <a:p>
                      <a:pPr algn="ctr"/>
                      <a:r>
                        <a:rPr lang="en-US" sz="1700" dirty="0">
                          <a:latin typeface="Cambria" panose="02040503050406030204" pitchFamily="18" charset="0"/>
                          <a:ea typeface="Cambria" panose="02040503050406030204" pitchFamily="18" charset="0"/>
                        </a:rPr>
                        <a:t>9</a:t>
                      </a:r>
                      <a:endParaRPr lang="en-IN" sz="1700" dirty="0">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dirty="0">
                          <a:solidFill>
                            <a:schemeClr val="tx1"/>
                          </a:solidFill>
                          <a:latin typeface="Cambria" panose="02040503050406030204" pitchFamily="18" charset="0"/>
                          <a:ea typeface="Cambria" panose="02040503050406030204" pitchFamily="18" charset="0"/>
                        </a:rPr>
                        <a:t>Building Resilient CI/CD Pipelines: A DevOps Security-First Framework ,2025</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dirty="0">
                          <a:solidFill>
                            <a:schemeClr val="tx1"/>
                          </a:solidFill>
                          <a:latin typeface="Cambria" panose="02040503050406030204" pitchFamily="18" charset="0"/>
                          <a:ea typeface="Cambria" panose="02040503050406030204" pitchFamily="18" charset="0"/>
                        </a:rPr>
                        <a:t>Case study implementing a secure CI/CD pipeline using AWS and DevOps tools.</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dirty="0">
                          <a:solidFill>
                            <a:schemeClr val="tx1"/>
                          </a:solidFill>
                          <a:latin typeface="Cambria" panose="02040503050406030204" pitchFamily="18" charset="0"/>
                          <a:ea typeface="Cambria" panose="02040503050406030204" pitchFamily="18" charset="0"/>
                        </a:rPr>
                        <a:t>Improves security, automation, and deployment reliability.</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700" dirty="0">
                          <a:solidFill>
                            <a:schemeClr val="tx1"/>
                          </a:solidFill>
                          <a:latin typeface="Cambria" panose="02040503050406030204" pitchFamily="18" charset="0"/>
                          <a:ea typeface="Cambria" panose="02040503050406030204" pitchFamily="18" charset="0"/>
                        </a:rPr>
                        <a:t>Complex setup and limited generalization.</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92441998"/>
                  </a:ext>
                </a:extLst>
              </a:tr>
              <a:tr h="977928">
                <a:tc>
                  <a:txBody>
                    <a:bodyPr/>
                    <a:lstStyle/>
                    <a:p>
                      <a:pPr algn="ctr"/>
                      <a:r>
                        <a:rPr lang="en-US" sz="1700" dirty="0">
                          <a:latin typeface="Cambria" panose="02040503050406030204" pitchFamily="18" charset="0"/>
                          <a:ea typeface="Cambria" panose="02040503050406030204" pitchFamily="18" charset="0"/>
                        </a:rPr>
                        <a:t>10</a:t>
                      </a:r>
                      <a:endParaRPr lang="en-IN" sz="1700" dirty="0">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700" dirty="0">
                          <a:latin typeface="Cambria" panose="02040503050406030204" pitchFamily="18" charset="0"/>
                          <a:ea typeface="Cambria" panose="02040503050406030204" pitchFamily="18" charset="0"/>
                        </a:rPr>
                        <a:t>Enhancing DevOps Continuous Monitoring Phase: Hybrid Intrusion Detection and Ensemble Learning System (HIDELS),2026</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IN" sz="1700" dirty="0">
                          <a:latin typeface="Cambria" panose="02040503050406030204" pitchFamily="18" charset="0"/>
                          <a:ea typeface="Cambria" panose="02040503050406030204" pitchFamily="18" charset="0"/>
                        </a:rPr>
                        <a:t>Experimental / Machine Learning based</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700" dirty="0">
                          <a:latin typeface="Cambria" panose="02040503050406030204" pitchFamily="18" charset="0"/>
                          <a:ea typeface="Cambria" panose="02040503050406030204" pitchFamily="18" charset="0"/>
                        </a:rPr>
                        <a:t>High accuracy, strong robustness, </a:t>
                      </a:r>
                      <a:r>
                        <a:rPr lang="en-US" sz="1700" dirty="0" err="1">
                          <a:latin typeface="Cambria" panose="02040503050406030204" pitchFamily="18" charset="0"/>
                          <a:ea typeface="Cambria" panose="02040503050406030204" pitchFamily="18" charset="0"/>
                        </a:rPr>
                        <a:t>DevSecOps</a:t>
                      </a:r>
                      <a:r>
                        <a:rPr lang="en-US" sz="1700" dirty="0">
                          <a:latin typeface="Cambria" panose="02040503050406030204" pitchFamily="18" charset="0"/>
                          <a:ea typeface="Cambria" panose="02040503050406030204" pitchFamily="18" charset="0"/>
                        </a:rPr>
                        <a:t> automation, lower bias.</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700" dirty="0">
                          <a:latin typeface="Cambria" panose="02040503050406030204" pitchFamily="18" charset="0"/>
                          <a:ea typeface="Cambria" panose="02040503050406030204" pitchFamily="18" charset="0"/>
                        </a:rPr>
                        <a:t>High cost, no deep learning, limited scalability discussion</a:t>
                      </a:r>
                      <a:endParaRPr lang="en-IN" sz="17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34382206"/>
                  </a:ext>
                </a:extLst>
              </a:tr>
            </a:tbl>
          </a:graphicData>
        </a:graphic>
      </p:graphicFrame>
    </p:spTree>
    <p:extLst>
      <p:ext uri="{BB962C8B-B14F-4D97-AF65-F5344CB8AC3E}">
        <p14:creationId xmlns:p14="http://schemas.microsoft.com/office/powerpoint/2010/main" val="23799462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3"/>
          </p:nvPr>
        </p:nvSpPr>
        <p:spPr/>
        <p:txBody>
          <a:bodyPr/>
          <a:lstStyle/>
          <a:p>
            <a:r>
              <a:rPr lang="en-US"/>
              <a:t>Dept. of CSE | GAT | 2025-26                                                                                                           CSEP23605</a:t>
            </a:r>
            <a:endParaRPr lang="en-IN" dirty="0"/>
          </a:p>
        </p:txBody>
      </p:sp>
      <p:sp>
        <p:nvSpPr>
          <p:cNvPr id="3" name="Slide Number Placeholder 2"/>
          <p:cNvSpPr>
            <a:spLocks noGrp="1"/>
          </p:cNvSpPr>
          <p:nvPr>
            <p:ph type="sldNum" sz="quarter" idx="4"/>
          </p:nvPr>
        </p:nvSpPr>
        <p:spPr/>
        <p:txBody>
          <a:bodyPr/>
          <a:lstStyle/>
          <a:p>
            <a:fld id="{FFAE6D68-FB99-4243-9CC1-93FAA8C005BC}" type="slidenum">
              <a:rPr lang="en-IN" smtClean="0"/>
              <a:pPr/>
              <a:t>7</a:t>
            </a:fld>
            <a:endParaRPr lang="en-IN"/>
          </a:p>
        </p:txBody>
      </p:sp>
      <p:sp>
        <p:nvSpPr>
          <p:cNvPr id="4" name="TextBox 3">
            <a:extLst>
              <a:ext uri="{FF2B5EF4-FFF2-40B4-BE49-F238E27FC236}">
                <a16:creationId xmlns:a16="http://schemas.microsoft.com/office/drawing/2014/main" id="{A2D65176-27C0-6A9C-1D22-589841C6C443}"/>
              </a:ext>
            </a:extLst>
          </p:cNvPr>
          <p:cNvSpPr txBox="1"/>
          <p:nvPr/>
        </p:nvSpPr>
        <p:spPr>
          <a:xfrm>
            <a:off x="2798445" y="182880"/>
            <a:ext cx="6595110" cy="707886"/>
          </a:xfrm>
          <a:prstGeom prst="rect">
            <a:avLst/>
          </a:prstGeom>
          <a:noFill/>
        </p:spPr>
        <p:txBody>
          <a:bodyPr wrap="square" rtlCol="0">
            <a:spAutoFit/>
          </a:bodyPr>
          <a:lstStyle/>
          <a:p>
            <a:pPr algn="ctr"/>
            <a:r>
              <a:rPr lang="en-US" sz="4000" b="1" dirty="0">
                <a:latin typeface="Cambria" panose="02040503050406030204" pitchFamily="18" charset="0"/>
                <a:ea typeface="Cambria" panose="02040503050406030204" pitchFamily="18" charset="0"/>
              </a:rPr>
              <a:t>Objectives</a:t>
            </a:r>
            <a:endParaRPr lang="en-IN" sz="4000" b="1" dirty="0">
              <a:latin typeface="Cambria" panose="02040503050406030204" pitchFamily="18" charset="0"/>
              <a:ea typeface="Cambria" panose="02040503050406030204" pitchFamily="18" charset="0"/>
            </a:endParaRPr>
          </a:p>
        </p:txBody>
      </p:sp>
      <p:sp>
        <p:nvSpPr>
          <p:cNvPr id="5" name="TextBox 4">
            <a:extLst>
              <a:ext uri="{FF2B5EF4-FFF2-40B4-BE49-F238E27FC236}">
                <a16:creationId xmlns:a16="http://schemas.microsoft.com/office/drawing/2014/main" id="{55BEC630-6F30-942B-AE77-8AB365B0B80F}"/>
              </a:ext>
            </a:extLst>
          </p:cNvPr>
          <p:cNvSpPr txBox="1"/>
          <p:nvPr/>
        </p:nvSpPr>
        <p:spPr>
          <a:xfrm>
            <a:off x="580072" y="1332845"/>
            <a:ext cx="10769917" cy="2576859"/>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200" dirty="0">
                <a:latin typeface="Cambria" panose="02040503050406030204" pitchFamily="18" charset="0"/>
                <a:ea typeface="Cambria" panose="02040503050406030204" pitchFamily="18" charset="0"/>
              </a:rPr>
              <a:t>To design and implement a secure CI/CD pipeline </a:t>
            </a:r>
          </a:p>
          <a:p>
            <a:pPr marL="342900" indent="-342900">
              <a:lnSpc>
                <a:spcPct val="150000"/>
              </a:lnSpc>
              <a:buFont typeface="Arial" panose="020B0604020202020204" pitchFamily="34" charset="0"/>
              <a:buChar char="•"/>
            </a:pPr>
            <a:r>
              <a:rPr lang="en-US" sz="2200" dirty="0">
                <a:latin typeface="Cambria" panose="02040503050406030204" pitchFamily="18" charset="0"/>
                <a:ea typeface="Cambria" panose="02040503050406030204" pitchFamily="18" charset="0"/>
              </a:rPr>
              <a:t>To integrate security testing tools into DevOps workflows </a:t>
            </a:r>
          </a:p>
          <a:p>
            <a:pPr marL="342900" indent="-342900">
              <a:lnSpc>
                <a:spcPct val="150000"/>
              </a:lnSpc>
              <a:buFont typeface="Arial" panose="020B0604020202020204" pitchFamily="34" charset="0"/>
              <a:buChar char="•"/>
            </a:pPr>
            <a:r>
              <a:rPr lang="en-US" sz="2200" dirty="0">
                <a:latin typeface="Cambria" panose="02040503050406030204" pitchFamily="18" charset="0"/>
                <a:ea typeface="Cambria" panose="02040503050406030204" pitchFamily="18" charset="0"/>
              </a:rPr>
              <a:t>To identify and mitigate vulnerabilities at early stages of development </a:t>
            </a:r>
          </a:p>
          <a:p>
            <a:pPr marL="342900" indent="-342900">
              <a:lnSpc>
                <a:spcPct val="150000"/>
              </a:lnSpc>
              <a:buFont typeface="Arial" panose="020B0604020202020204" pitchFamily="34" charset="0"/>
              <a:buChar char="•"/>
            </a:pPr>
            <a:r>
              <a:rPr lang="en-US" sz="2200" dirty="0">
                <a:latin typeface="Cambria" panose="02040503050406030204" pitchFamily="18" charset="0"/>
                <a:ea typeface="Cambria" panose="02040503050406030204" pitchFamily="18" charset="0"/>
              </a:rPr>
              <a:t>To reduce security risks and remediation costs </a:t>
            </a:r>
          </a:p>
          <a:p>
            <a:pPr marL="342900" indent="-342900">
              <a:lnSpc>
                <a:spcPct val="150000"/>
              </a:lnSpc>
              <a:buFont typeface="Arial" panose="020B0604020202020204" pitchFamily="34" charset="0"/>
              <a:buChar char="•"/>
            </a:pPr>
            <a:r>
              <a:rPr lang="en-US" sz="2200" dirty="0">
                <a:latin typeface="Cambria" panose="02040503050406030204" pitchFamily="18" charset="0"/>
                <a:ea typeface="Cambria" panose="02040503050406030204" pitchFamily="18" charset="0"/>
              </a:rPr>
              <a:t>To ensure faster and secure software delivery </a:t>
            </a:r>
            <a:endParaRPr lang="en-IN" sz="22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9793924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3"/>
          </p:nvPr>
        </p:nvSpPr>
        <p:spPr/>
        <p:txBody>
          <a:bodyPr/>
          <a:lstStyle/>
          <a:p>
            <a:r>
              <a:rPr lang="en-US"/>
              <a:t>Dept. of CSE | GAT | 2025-26                                                                                                           CSEP23605</a:t>
            </a:r>
            <a:endParaRPr lang="en-IN" dirty="0"/>
          </a:p>
        </p:txBody>
      </p:sp>
      <p:sp>
        <p:nvSpPr>
          <p:cNvPr id="3" name="Slide Number Placeholder 2"/>
          <p:cNvSpPr>
            <a:spLocks noGrp="1"/>
          </p:cNvSpPr>
          <p:nvPr>
            <p:ph type="sldNum" sz="quarter" idx="4"/>
          </p:nvPr>
        </p:nvSpPr>
        <p:spPr/>
        <p:txBody>
          <a:bodyPr/>
          <a:lstStyle/>
          <a:p>
            <a:fld id="{FFAE6D68-FB99-4243-9CC1-93FAA8C005BC}" type="slidenum">
              <a:rPr lang="en-IN" smtClean="0"/>
              <a:pPr/>
              <a:t>8</a:t>
            </a:fld>
            <a:endParaRPr lang="en-IN"/>
          </a:p>
        </p:txBody>
      </p:sp>
      <p:sp>
        <p:nvSpPr>
          <p:cNvPr id="4" name="TextBox 3">
            <a:extLst>
              <a:ext uri="{FF2B5EF4-FFF2-40B4-BE49-F238E27FC236}">
                <a16:creationId xmlns:a16="http://schemas.microsoft.com/office/drawing/2014/main" id="{A2D65176-27C0-6A9C-1D22-589841C6C443}"/>
              </a:ext>
            </a:extLst>
          </p:cNvPr>
          <p:cNvSpPr txBox="1"/>
          <p:nvPr/>
        </p:nvSpPr>
        <p:spPr>
          <a:xfrm>
            <a:off x="2470246" y="182880"/>
            <a:ext cx="7492620" cy="707886"/>
          </a:xfrm>
          <a:prstGeom prst="rect">
            <a:avLst/>
          </a:prstGeom>
          <a:noFill/>
        </p:spPr>
        <p:txBody>
          <a:bodyPr wrap="square" rtlCol="0">
            <a:spAutoFit/>
          </a:bodyPr>
          <a:lstStyle/>
          <a:p>
            <a:pPr algn="ctr"/>
            <a:r>
              <a:rPr lang="en-US" sz="4000" b="1" dirty="0">
                <a:latin typeface="Cambria" panose="02040503050406030204" pitchFamily="18" charset="0"/>
                <a:ea typeface="Cambria" panose="02040503050406030204" pitchFamily="18" charset="0"/>
              </a:rPr>
              <a:t>Requirements Specification</a:t>
            </a:r>
            <a:endParaRPr lang="en-IN" sz="4000" b="1" dirty="0">
              <a:latin typeface="Cambria" panose="02040503050406030204" pitchFamily="18" charset="0"/>
              <a:ea typeface="Cambria" panose="02040503050406030204" pitchFamily="18" charset="0"/>
            </a:endParaRPr>
          </a:p>
        </p:txBody>
      </p:sp>
      <p:sp>
        <p:nvSpPr>
          <p:cNvPr id="5" name="Rectangle 4"/>
          <p:cNvSpPr/>
          <p:nvPr/>
        </p:nvSpPr>
        <p:spPr>
          <a:xfrm>
            <a:off x="678195" y="1227061"/>
            <a:ext cx="10676741" cy="4308872"/>
          </a:xfrm>
          <a:prstGeom prst="rect">
            <a:avLst/>
          </a:prstGeom>
        </p:spPr>
        <p:txBody>
          <a:bodyPr wrap="square">
            <a:spAutoFit/>
          </a:bodyPr>
          <a:lstStyle/>
          <a:p>
            <a:pPr>
              <a:lnSpc>
                <a:spcPct val="150000"/>
              </a:lnSpc>
              <a:spcBef>
                <a:spcPts val="0"/>
              </a:spcBef>
            </a:pPr>
            <a:r>
              <a:rPr lang="en-US" sz="2400" b="1" dirty="0">
                <a:latin typeface="Cambria" panose="02040503050406030204" pitchFamily="18" charset="0"/>
                <a:ea typeface="Cambria" panose="02040503050406030204" pitchFamily="18" charset="0"/>
              </a:rPr>
              <a:t>Hardware Requirements</a:t>
            </a:r>
          </a:p>
          <a:p>
            <a:pPr>
              <a:lnSpc>
                <a:spcPct val="150000"/>
              </a:lnSpc>
              <a:spcBef>
                <a:spcPts val="0"/>
              </a:spcBef>
            </a:pPr>
            <a:endParaRPr lang="en-US" sz="2400" b="1" dirty="0">
              <a:latin typeface="Cambria" panose="02040503050406030204" pitchFamily="18" charset="0"/>
              <a:ea typeface="Cambria" panose="02040503050406030204" pitchFamily="18" charset="0"/>
            </a:endParaRPr>
          </a:p>
          <a:p>
            <a:r>
              <a:rPr lang="en-IN" sz="2000" b="1" dirty="0">
                <a:latin typeface="Cambria" panose="02040503050406030204" pitchFamily="18" charset="0"/>
                <a:ea typeface="Cambria" panose="02040503050406030204" pitchFamily="18" charset="0"/>
              </a:rPr>
              <a:t>Minimum Hardware</a:t>
            </a:r>
          </a:p>
          <a:p>
            <a:pPr marL="285750" indent="-285750">
              <a:buFont typeface="Arial" panose="020B0604020202020204" pitchFamily="34" charset="0"/>
              <a:buChar char="•"/>
            </a:pPr>
            <a:r>
              <a:rPr lang="en-IN" dirty="0">
                <a:latin typeface="Cambria" panose="02040503050406030204" pitchFamily="18" charset="0"/>
                <a:ea typeface="Cambria" panose="02040503050406030204" pitchFamily="18" charset="0"/>
              </a:rPr>
              <a:t>Processor: Intel i5 / AMD </a:t>
            </a:r>
            <a:r>
              <a:rPr lang="en-IN" dirty="0" err="1">
                <a:latin typeface="Cambria" panose="02040503050406030204" pitchFamily="18" charset="0"/>
                <a:ea typeface="Cambria" panose="02040503050406030204" pitchFamily="18" charset="0"/>
              </a:rPr>
              <a:t>Ryzen</a:t>
            </a:r>
            <a:r>
              <a:rPr lang="en-IN" dirty="0">
                <a:latin typeface="Cambria" panose="02040503050406030204" pitchFamily="18" charset="0"/>
                <a:ea typeface="Cambria" panose="02040503050406030204" pitchFamily="18" charset="0"/>
              </a:rPr>
              <a:t> 5</a:t>
            </a:r>
          </a:p>
          <a:p>
            <a:pPr marL="285750" indent="-285750">
              <a:buFont typeface="Arial" panose="020B0604020202020204" pitchFamily="34" charset="0"/>
              <a:buChar char="•"/>
            </a:pPr>
            <a:r>
              <a:rPr lang="en-IN" dirty="0">
                <a:latin typeface="Cambria" panose="02040503050406030204" pitchFamily="18" charset="0"/>
                <a:ea typeface="Cambria" panose="02040503050406030204" pitchFamily="18" charset="0"/>
              </a:rPr>
              <a:t>RAM: 8 GB</a:t>
            </a:r>
          </a:p>
          <a:p>
            <a:pPr marL="285750" indent="-285750">
              <a:buFont typeface="Arial" panose="020B0604020202020204" pitchFamily="34" charset="0"/>
              <a:buChar char="•"/>
            </a:pPr>
            <a:r>
              <a:rPr lang="en-IN" dirty="0">
                <a:latin typeface="Cambria" panose="02040503050406030204" pitchFamily="18" charset="0"/>
                <a:ea typeface="Cambria" panose="02040503050406030204" pitchFamily="18" charset="0"/>
              </a:rPr>
              <a:t>Storage: 256 GB SSD</a:t>
            </a:r>
          </a:p>
          <a:p>
            <a:pPr marL="285750" indent="-285750">
              <a:buFont typeface="Arial" panose="020B0604020202020204" pitchFamily="34" charset="0"/>
              <a:buChar char="•"/>
            </a:pPr>
            <a:r>
              <a:rPr lang="en-IN" dirty="0">
                <a:latin typeface="Cambria" panose="02040503050406030204" pitchFamily="18" charset="0"/>
                <a:ea typeface="Cambria" panose="02040503050406030204" pitchFamily="18" charset="0"/>
              </a:rPr>
              <a:t>Internet connection (for GitHub, updates, plugins)</a:t>
            </a:r>
          </a:p>
          <a:p>
            <a:endParaRPr lang="en-IN" dirty="0">
              <a:latin typeface="Cambria" panose="02040503050406030204" pitchFamily="18" charset="0"/>
              <a:ea typeface="Cambria" panose="02040503050406030204" pitchFamily="18" charset="0"/>
            </a:endParaRPr>
          </a:p>
          <a:p>
            <a:r>
              <a:rPr lang="en-IN" sz="2000" b="1" dirty="0">
                <a:latin typeface="Cambria" panose="02040503050406030204" pitchFamily="18" charset="0"/>
                <a:ea typeface="Cambria" panose="02040503050406030204" pitchFamily="18" charset="0"/>
              </a:rPr>
              <a:t>Recommended Hardware</a:t>
            </a:r>
          </a:p>
          <a:p>
            <a:pPr marL="285750" indent="-285750">
              <a:buFont typeface="Arial" panose="020B0604020202020204" pitchFamily="34" charset="0"/>
              <a:buChar char="•"/>
            </a:pPr>
            <a:r>
              <a:rPr lang="en-IN" dirty="0">
                <a:latin typeface="Cambria" panose="02040503050406030204" pitchFamily="18" charset="0"/>
                <a:ea typeface="Cambria" panose="02040503050406030204" pitchFamily="18" charset="0"/>
              </a:rPr>
              <a:t>Processor: Intel i7 / AMD </a:t>
            </a:r>
            <a:r>
              <a:rPr lang="en-IN" dirty="0" err="1">
                <a:latin typeface="Cambria" panose="02040503050406030204" pitchFamily="18" charset="0"/>
                <a:ea typeface="Cambria" panose="02040503050406030204" pitchFamily="18" charset="0"/>
              </a:rPr>
              <a:t>Ryzen</a:t>
            </a:r>
            <a:r>
              <a:rPr lang="en-IN" dirty="0">
                <a:latin typeface="Cambria" panose="02040503050406030204" pitchFamily="18" charset="0"/>
                <a:ea typeface="Cambria" panose="02040503050406030204" pitchFamily="18" charset="0"/>
              </a:rPr>
              <a:t> 7</a:t>
            </a:r>
          </a:p>
          <a:p>
            <a:pPr marL="285750" indent="-285750">
              <a:buFont typeface="Arial" panose="020B0604020202020204" pitchFamily="34" charset="0"/>
              <a:buChar char="•"/>
            </a:pPr>
            <a:r>
              <a:rPr lang="en-IN" dirty="0">
                <a:latin typeface="Cambria" panose="02040503050406030204" pitchFamily="18" charset="0"/>
                <a:ea typeface="Cambria" panose="02040503050406030204" pitchFamily="18" charset="0"/>
              </a:rPr>
              <a:t>RAM: 16 GB</a:t>
            </a:r>
          </a:p>
          <a:p>
            <a:pPr marL="285750" indent="-285750">
              <a:buFont typeface="Arial" panose="020B0604020202020204" pitchFamily="34" charset="0"/>
              <a:buChar char="•"/>
            </a:pPr>
            <a:r>
              <a:rPr lang="en-IN" dirty="0">
                <a:latin typeface="Cambria" panose="02040503050406030204" pitchFamily="18" charset="0"/>
                <a:ea typeface="Cambria" panose="02040503050406030204" pitchFamily="18" charset="0"/>
              </a:rPr>
              <a:t>Storage: 512 GB SSD</a:t>
            </a:r>
          </a:p>
          <a:p>
            <a:pPr marL="285750" indent="-285750">
              <a:buFont typeface="Arial" panose="020B0604020202020204" pitchFamily="34" charset="0"/>
              <a:buChar char="•"/>
            </a:pPr>
            <a:r>
              <a:rPr lang="en-IN" dirty="0">
                <a:latin typeface="Cambria" panose="02040503050406030204" pitchFamily="18" charset="0"/>
                <a:ea typeface="Cambria" panose="02040503050406030204" pitchFamily="18" charset="0"/>
              </a:rPr>
              <a:t>Virtualization support enabled (for Docker &amp; Jenkins)</a:t>
            </a:r>
            <a:endParaRPr lang="en-US" sz="24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6439881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DC075-8C9D-5E78-3474-26E54DC56D3D}"/>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C71FF1A2-3D36-3212-6161-A8C1B0664349}"/>
              </a:ext>
            </a:extLst>
          </p:cNvPr>
          <p:cNvSpPr>
            <a:spLocks noGrp="1"/>
          </p:cNvSpPr>
          <p:nvPr>
            <p:ph type="ftr" sz="quarter" idx="3"/>
          </p:nvPr>
        </p:nvSpPr>
        <p:spPr/>
        <p:txBody>
          <a:bodyPr/>
          <a:lstStyle/>
          <a:p>
            <a:r>
              <a:rPr lang="en-US"/>
              <a:t>Dept. of CSE | GAT | 2025-26                                                                                                           CSEP23605</a:t>
            </a:r>
            <a:endParaRPr lang="en-IN" dirty="0"/>
          </a:p>
        </p:txBody>
      </p:sp>
      <p:sp>
        <p:nvSpPr>
          <p:cNvPr id="3" name="Slide Number Placeholder 2">
            <a:extLst>
              <a:ext uri="{FF2B5EF4-FFF2-40B4-BE49-F238E27FC236}">
                <a16:creationId xmlns:a16="http://schemas.microsoft.com/office/drawing/2014/main" id="{0E6CBFBB-6DA9-0C2F-9972-578C6FBF86D8}"/>
              </a:ext>
            </a:extLst>
          </p:cNvPr>
          <p:cNvSpPr>
            <a:spLocks noGrp="1"/>
          </p:cNvSpPr>
          <p:nvPr>
            <p:ph type="sldNum" sz="quarter" idx="4"/>
          </p:nvPr>
        </p:nvSpPr>
        <p:spPr/>
        <p:txBody>
          <a:bodyPr/>
          <a:lstStyle/>
          <a:p>
            <a:fld id="{FFAE6D68-FB99-4243-9CC1-93FAA8C005BC}" type="slidenum">
              <a:rPr lang="en-IN" smtClean="0"/>
              <a:pPr/>
              <a:t>9</a:t>
            </a:fld>
            <a:endParaRPr lang="en-IN"/>
          </a:p>
        </p:txBody>
      </p:sp>
      <p:sp>
        <p:nvSpPr>
          <p:cNvPr id="4" name="TextBox 3">
            <a:extLst>
              <a:ext uri="{FF2B5EF4-FFF2-40B4-BE49-F238E27FC236}">
                <a16:creationId xmlns:a16="http://schemas.microsoft.com/office/drawing/2014/main" id="{F98C609B-A2E3-241F-436E-96331840B2A1}"/>
              </a:ext>
            </a:extLst>
          </p:cNvPr>
          <p:cNvSpPr txBox="1"/>
          <p:nvPr/>
        </p:nvSpPr>
        <p:spPr>
          <a:xfrm>
            <a:off x="2470246" y="182880"/>
            <a:ext cx="7492620" cy="707886"/>
          </a:xfrm>
          <a:prstGeom prst="rect">
            <a:avLst/>
          </a:prstGeom>
          <a:noFill/>
        </p:spPr>
        <p:txBody>
          <a:bodyPr wrap="square" rtlCol="0">
            <a:spAutoFit/>
          </a:bodyPr>
          <a:lstStyle/>
          <a:p>
            <a:pPr algn="ctr"/>
            <a:r>
              <a:rPr lang="en-US" sz="4000" b="1" dirty="0">
                <a:latin typeface="Cambria" panose="02040503050406030204" pitchFamily="18" charset="0"/>
                <a:ea typeface="Cambria" panose="02040503050406030204" pitchFamily="18" charset="0"/>
              </a:rPr>
              <a:t>Requirements Specification</a:t>
            </a:r>
            <a:endParaRPr lang="en-IN" sz="4000" b="1" dirty="0">
              <a:latin typeface="Cambria" panose="02040503050406030204" pitchFamily="18" charset="0"/>
              <a:ea typeface="Cambria" panose="02040503050406030204" pitchFamily="18" charset="0"/>
            </a:endParaRPr>
          </a:p>
        </p:txBody>
      </p:sp>
      <p:sp>
        <p:nvSpPr>
          <p:cNvPr id="5" name="Rectangle 4">
            <a:extLst>
              <a:ext uri="{FF2B5EF4-FFF2-40B4-BE49-F238E27FC236}">
                <a16:creationId xmlns:a16="http://schemas.microsoft.com/office/drawing/2014/main" id="{9D1B8E76-DB02-C536-ADB4-2070C0F35FCB}"/>
              </a:ext>
            </a:extLst>
          </p:cNvPr>
          <p:cNvSpPr/>
          <p:nvPr/>
        </p:nvSpPr>
        <p:spPr>
          <a:xfrm>
            <a:off x="381000" y="1175246"/>
            <a:ext cx="11219329" cy="3901774"/>
          </a:xfrm>
          <a:prstGeom prst="rect">
            <a:avLst/>
          </a:prstGeom>
        </p:spPr>
        <p:txBody>
          <a:bodyPr wrap="square">
            <a:spAutoFit/>
          </a:bodyPr>
          <a:lstStyle/>
          <a:p>
            <a:pPr>
              <a:lnSpc>
                <a:spcPct val="150000"/>
              </a:lnSpc>
            </a:pPr>
            <a:r>
              <a:rPr lang="en-US" sz="2400" b="1" dirty="0">
                <a:latin typeface="Cambria" panose="02040503050406030204" pitchFamily="18" charset="0"/>
                <a:ea typeface="Cambria" panose="02040503050406030204" pitchFamily="18" charset="0"/>
              </a:rPr>
              <a:t>Software Requirements</a:t>
            </a:r>
          </a:p>
          <a:p>
            <a:pPr marL="285750" indent="-285750">
              <a:lnSpc>
                <a:spcPct val="150000"/>
              </a:lnSpc>
              <a:buFont typeface="Arial" panose="020B0604020202020204" pitchFamily="34" charset="0"/>
              <a:buChar char="•"/>
            </a:pPr>
            <a:r>
              <a:rPr lang="en-IN" sz="2000" b="1" dirty="0">
                <a:latin typeface="Cambria" panose="02040503050406030204" pitchFamily="18" charset="0"/>
                <a:ea typeface="Cambria" panose="02040503050406030204" pitchFamily="18" charset="0"/>
              </a:rPr>
              <a:t>Operating System  :  Windows 11 </a:t>
            </a:r>
            <a:r>
              <a:rPr lang="en-IN" sz="2000" dirty="0">
                <a:latin typeface="Cambria" panose="02040503050406030204" pitchFamily="18" charset="0"/>
                <a:ea typeface="Cambria" panose="02040503050406030204" pitchFamily="18" charset="0"/>
              </a:rPr>
              <a:t>(64-bit)</a:t>
            </a:r>
          </a:p>
          <a:p>
            <a:pPr marL="285750" indent="-285750">
              <a:lnSpc>
                <a:spcPct val="150000"/>
              </a:lnSpc>
              <a:buFont typeface="Arial" panose="020B0604020202020204" pitchFamily="34" charset="0"/>
              <a:buChar char="•"/>
            </a:pPr>
            <a:r>
              <a:rPr lang="en-IN" sz="2000" b="1" dirty="0">
                <a:latin typeface="Cambria" panose="02040503050406030204" pitchFamily="18" charset="0"/>
                <a:ea typeface="Cambria" panose="02040503050406030204" pitchFamily="18" charset="0"/>
              </a:rPr>
              <a:t>Development &amp; Version Control  :  Git</a:t>
            </a:r>
            <a:r>
              <a:rPr lang="en-IN" sz="2000" dirty="0">
                <a:latin typeface="Cambria" panose="02040503050406030204" pitchFamily="18" charset="0"/>
                <a:ea typeface="Cambria" panose="02040503050406030204" pitchFamily="18" charset="0"/>
              </a:rPr>
              <a:t> (v2.x) , </a:t>
            </a:r>
            <a:r>
              <a:rPr lang="en-IN" sz="2000" b="1" dirty="0">
                <a:latin typeface="Cambria" panose="02040503050406030204" pitchFamily="18" charset="0"/>
                <a:ea typeface="Cambria" panose="02040503050406030204" pitchFamily="18" charset="0"/>
              </a:rPr>
              <a:t>GitHub</a:t>
            </a:r>
          </a:p>
          <a:p>
            <a:pPr marL="285750" indent="-285750">
              <a:lnSpc>
                <a:spcPct val="150000"/>
              </a:lnSpc>
              <a:buFont typeface="Arial" panose="020B0604020202020204" pitchFamily="34" charset="0"/>
              <a:buChar char="•"/>
            </a:pPr>
            <a:r>
              <a:rPr lang="en-IN" sz="2000" b="1" dirty="0">
                <a:latin typeface="Cambria" panose="02040503050406030204" pitchFamily="18" charset="0"/>
                <a:ea typeface="Cambria" panose="02040503050406030204" pitchFamily="18" charset="0"/>
              </a:rPr>
              <a:t>CI/CD &amp; DevOps Tools  :  </a:t>
            </a:r>
            <a:r>
              <a:rPr lang="de-DE" sz="2000" b="1" dirty="0">
                <a:latin typeface="Cambria" panose="02040503050406030204" pitchFamily="18" charset="0"/>
                <a:ea typeface="Cambria" panose="02040503050406030204" pitchFamily="18" charset="0"/>
              </a:rPr>
              <a:t>Jenkins </a:t>
            </a:r>
            <a:r>
              <a:rPr lang="de-DE" sz="2000" dirty="0">
                <a:latin typeface="Cambria" panose="02040503050406030204" pitchFamily="18" charset="0"/>
                <a:ea typeface="Cambria" panose="02040503050406030204" pitchFamily="18" charset="0"/>
              </a:rPr>
              <a:t>(LTS version 2.x) , </a:t>
            </a:r>
            <a:r>
              <a:rPr lang="en-US" sz="2000" b="1" dirty="0">
                <a:latin typeface="Cambria" panose="02040503050406030204" pitchFamily="18" charset="0"/>
                <a:ea typeface="Cambria" panose="02040503050406030204" pitchFamily="18" charset="0"/>
              </a:rPr>
              <a:t>Docker </a:t>
            </a:r>
            <a:r>
              <a:rPr lang="en-US" sz="2000" dirty="0">
                <a:latin typeface="Cambria" panose="02040503050406030204" pitchFamily="18" charset="0"/>
                <a:ea typeface="Cambria" panose="02040503050406030204" pitchFamily="18" charset="0"/>
              </a:rPr>
              <a:t>(v24.x or above) ,</a:t>
            </a:r>
            <a:r>
              <a:rPr lang="en-IN" sz="2000" dirty="0">
                <a:latin typeface="Cambria" panose="02040503050406030204" pitchFamily="18" charset="0"/>
                <a:ea typeface="Cambria" panose="02040503050406030204" pitchFamily="18" charset="0"/>
              </a:rPr>
              <a:t> </a:t>
            </a:r>
            <a:r>
              <a:rPr lang="en-IN" sz="2000" b="1" dirty="0">
                <a:latin typeface="Cambria" panose="02040503050406030204" pitchFamily="18" charset="0"/>
                <a:ea typeface="Cambria" panose="02040503050406030204" pitchFamily="18" charset="0"/>
              </a:rPr>
              <a:t>Ansible</a:t>
            </a:r>
            <a:r>
              <a:rPr lang="en-IN" sz="2000" dirty="0">
                <a:latin typeface="Cambria" panose="02040503050406030204" pitchFamily="18" charset="0"/>
                <a:ea typeface="Cambria" panose="02040503050406030204" pitchFamily="18" charset="0"/>
              </a:rPr>
              <a:t> (v2.15+)</a:t>
            </a:r>
          </a:p>
          <a:p>
            <a:pPr marL="285750" indent="-285750">
              <a:lnSpc>
                <a:spcPct val="150000"/>
              </a:lnSpc>
              <a:buFont typeface="Arial" panose="020B0604020202020204" pitchFamily="34" charset="0"/>
              <a:buChar char="•"/>
            </a:pPr>
            <a:r>
              <a:rPr lang="en-US" sz="2000" b="1" dirty="0">
                <a:latin typeface="Cambria" panose="02040503050406030204" pitchFamily="18" charset="0"/>
                <a:ea typeface="Cambria" panose="02040503050406030204" pitchFamily="18" charset="0"/>
              </a:rPr>
              <a:t>Security Tools (Secure CI/CD)  :  SonarQube </a:t>
            </a:r>
            <a:r>
              <a:rPr lang="en-US" sz="2000" dirty="0">
                <a:latin typeface="Cambria" panose="02040503050406030204" pitchFamily="18" charset="0"/>
                <a:ea typeface="Cambria" panose="02040503050406030204" pitchFamily="18" charset="0"/>
              </a:rPr>
              <a:t>(Community Edition v9.9 LTS) </a:t>
            </a:r>
            <a:r>
              <a:rPr lang="en-US" sz="2000" b="1" dirty="0">
                <a:latin typeface="Cambria" panose="02040503050406030204" pitchFamily="18" charset="0"/>
                <a:ea typeface="Cambria" panose="02040503050406030204" pitchFamily="18" charset="0"/>
              </a:rPr>
              <a:t>,</a:t>
            </a:r>
            <a:r>
              <a:rPr lang="en-IN" sz="2000" b="1" dirty="0">
                <a:latin typeface="Cambria" panose="02040503050406030204" pitchFamily="18" charset="0"/>
                <a:ea typeface="Cambria" panose="02040503050406030204" pitchFamily="18" charset="0"/>
              </a:rPr>
              <a:t> OWASP ZAP</a:t>
            </a:r>
            <a:r>
              <a:rPr lang="en-IN" sz="2000" dirty="0">
                <a:latin typeface="Cambria" panose="02040503050406030204" pitchFamily="18" charset="0"/>
                <a:ea typeface="Cambria" panose="02040503050406030204" pitchFamily="18" charset="0"/>
              </a:rPr>
              <a:t> (v2.14.0) </a:t>
            </a:r>
            <a:r>
              <a:rPr lang="en-IN" sz="2000" b="1" dirty="0">
                <a:latin typeface="Cambria" panose="02040503050406030204" pitchFamily="18" charset="0"/>
                <a:ea typeface="Cambria" panose="02040503050406030204" pitchFamily="18" charset="0"/>
              </a:rPr>
              <a:t>, </a:t>
            </a:r>
            <a:r>
              <a:rPr lang="en-IN" sz="2000" b="1" dirty="0" err="1">
                <a:latin typeface="Cambria" panose="02040503050406030204" pitchFamily="18" charset="0"/>
                <a:ea typeface="Cambria" panose="02040503050406030204" pitchFamily="18" charset="0"/>
              </a:rPr>
              <a:t>Trivy</a:t>
            </a:r>
            <a:r>
              <a:rPr lang="en-IN" sz="2000" dirty="0">
                <a:latin typeface="Cambria" panose="02040503050406030204" pitchFamily="18" charset="0"/>
                <a:ea typeface="Cambria" panose="02040503050406030204" pitchFamily="18" charset="0"/>
              </a:rPr>
              <a:t> (v0.49.1)</a:t>
            </a:r>
          </a:p>
          <a:p>
            <a:pPr marL="285750" indent="-285750">
              <a:lnSpc>
                <a:spcPct val="150000"/>
              </a:lnSpc>
              <a:buFont typeface="Arial" panose="020B0604020202020204" pitchFamily="34" charset="0"/>
              <a:buChar char="•"/>
            </a:pPr>
            <a:r>
              <a:rPr lang="en-IN" sz="2000" b="1" dirty="0">
                <a:latin typeface="Cambria" panose="02040503050406030204" pitchFamily="18" charset="0"/>
                <a:ea typeface="Cambria" panose="02040503050406030204" pitchFamily="18" charset="0"/>
              </a:rPr>
              <a:t>Programming &amp; Build Tools  :  Java</a:t>
            </a:r>
            <a:r>
              <a:rPr lang="en-IN" sz="2000" dirty="0">
                <a:latin typeface="Cambria" panose="02040503050406030204" pitchFamily="18" charset="0"/>
                <a:ea typeface="Cambria" panose="02040503050406030204" pitchFamily="18" charset="0"/>
              </a:rPr>
              <a:t> (JDK 17) , </a:t>
            </a:r>
            <a:r>
              <a:rPr lang="en-IN" sz="2000" b="1" dirty="0">
                <a:latin typeface="Cambria" panose="02040503050406030204" pitchFamily="18" charset="0"/>
                <a:ea typeface="Cambria" panose="02040503050406030204" pitchFamily="18" charset="0"/>
              </a:rPr>
              <a:t>Node.js </a:t>
            </a:r>
            <a:r>
              <a:rPr lang="en-IN" sz="2000" dirty="0">
                <a:latin typeface="Cambria" panose="02040503050406030204" pitchFamily="18" charset="0"/>
                <a:ea typeface="Cambria" panose="02040503050406030204" pitchFamily="18" charset="0"/>
              </a:rPr>
              <a:t>(v18+)</a:t>
            </a:r>
            <a:endParaRPr lang="en-US" sz="2000" dirty="0">
              <a:latin typeface="Cambria" panose="02040503050406030204" pitchFamily="18" charset="0"/>
              <a:ea typeface="Cambria" panose="02040503050406030204" pitchFamily="18" charset="0"/>
            </a:endParaRPr>
          </a:p>
          <a:p>
            <a:pPr>
              <a:lnSpc>
                <a:spcPct val="150000"/>
              </a:lnSpc>
            </a:pPr>
            <a:endParaRPr lang="en-US" sz="2400" b="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7169975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3"/>
          </p:nvPr>
        </p:nvSpPr>
        <p:spPr/>
        <p:txBody>
          <a:bodyPr/>
          <a:lstStyle/>
          <a:p>
            <a:r>
              <a:rPr lang="en-US"/>
              <a:t>Dept. of CSE | GAT | 2025-26                                                                                                           CSEP23605</a:t>
            </a:r>
            <a:endParaRPr lang="en-IN" dirty="0"/>
          </a:p>
        </p:txBody>
      </p:sp>
      <p:sp>
        <p:nvSpPr>
          <p:cNvPr id="3" name="Slide Number Placeholder 2"/>
          <p:cNvSpPr>
            <a:spLocks noGrp="1"/>
          </p:cNvSpPr>
          <p:nvPr>
            <p:ph type="sldNum" sz="quarter" idx="4"/>
          </p:nvPr>
        </p:nvSpPr>
        <p:spPr/>
        <p:txBody>
          <a:bodyPr/>
          <a:lstStyle/>
          <a:p>
            <a:fld id="{FFAE6D68-FB99-4243-9CC1-93FAA8C005BC}" type="slidenum">
              <a:rPr lang="en-IN" smtClean="0"/>
              <a:pPr/>
              <a:t>10</a:t>
            </a:fld>
            <a:endParaRPr lang="en-IN"/>
          </a:p>
        </p:txBody>
      </p:sp>
      <p:sp>
        <p:nvSpPr>
          <p:cNvPr id="4" name="TextBox 3">
            <a:extLst>
              <a:ext uri="{FF2B5EF4-FFF2-40B4-BE49-F238E27FC236}">
                <a16:creationId xmlns:a16="http://schemas.microsoft.com/office/drawing/2014/main" id="{A2D65176-27C0-6A9C-1D22-589841C6C443}"/>
              </a:ext>
            </a:extLst>
          </p:cNvPr>
          <p:cNvSpPr txBox="1"/>
          <p:nvPr/>
        </p:nvSpPr>
        <p:spPr>
          <a:xfrm>
            <a:off x="2470246" y="182880"/>
            <a:ext cx="7492620" cy="707886"/>
          </a:xfrm>
          <a:prstGeom prst="rect">
            <a:avLst/>
          </a:prstGeom>
          <a:noFill/>
        </p:spPr>
        <p:txBody>
          <a:bodyPr wrap="square" rtlCol="0">
            <a:spAutoFit/>
          </a:bodyPr>
          <a:lstStyle/>
          <a:p>
            <a:pPr algn="ctr"/>
            <a:r>
              <a:rPr lang="en-US" sz="4000" b="1" dirty="0">
                <a:latin typeface="Cambria" panose="02040503050406030204" pitchFamily="18" charset="0"/>
                <a:ea typeface="Cambria" panose="02040503050406030204" pitchFamily="18" charset="0"/>
              </a:rPr>
              <a:t>Project Plan and Timeline</a:t>
            </a:r>
            <a:endParaRPr lang="en-IN" sz="4000" b="1" dirty="0">
              <a:latin typeface="Cambria" panose="02040503050406030204" pitchFamily="18" charset="0"/>
              <a:ea typeface="Cambria" panose="02040503050406030204" pitchFamily="18" charset="0"/>
            </a:endParaRPr>
          </a:p>
        </p:txBody>
      </p:sp>
      <p:graphicFrame>
        <p:nvGraphicFramePr>
          <p:cNvPr id="5" name="Table 4"/>
          <p:cNvGraphicFramePr>
            <a:graphicFrameLocks noGrp="1"/>
          </p:cNvGraphicFramePr>
          <p:nvPr>
            <p:extLst>
              <p:ext uri="{D42A27DB-BD31-4B8C-83A1-F6EECF244321}">
                <p14:modId xmlns:p14="http://schemas.microsoft.com/office/powerpoint/2010/main" val="1216136473"/>
              </p:ext>
            </p:extLst>
          </p:nvPr>
        </p:nvGraphicFramePr>
        <p:xfrm>
          <a:off x="735461" y="1811487"/>
          <a:ext cx="10687714" cy="2651760"/>
        </p:xfrm>
        <a:graphic>
          <a:graphicData uri="http://schemas.openxmlformats.org/drawingml/2006/table">
            <a:tbl>
              <a:tblPr firstRow="1" bandRow="1">
                <a:tableStyleId>{5940675A-B579-460E-94D1-54222C63F5DA}</a:tableStyleId>
              </a:tblPr>
              <a:tblGrid>
                <a:gridCol w="2062330">
                  <a:extLst>
                    <a:ext uri="{9D8B030D-6E8A-4147-A177-3AD203B41FA5}">
                      <a16:colId xmlns:a16="http://schemas.microsoft.com/office/drawing/2014/main" val="9068388"/>
                    </a:ext>
                  </a:extLst>
                </a:gridCol>
                <a:gridCol w="8625384">
                  <a:extLst>
                    <a:ext uri="{9D8B030D-6E8A-4147-A177-3AD203B41FA5}">
                      <a16:colId xmlns:a16="http://schemas.microsoft.com/office/drawing/2014/main" val="2604140004"/>
                    </a:ext>
                  </a:extLst>
                </a:gridCol>
              </a:tblGrid>
              <a:tr h="370840">
                <a:tc>
                  <a:txBody>
                    <a:bodyPr/>
                    <a:lstStyle/>
                    <a:p>
                      <a:r>
                        <a:rPr lang="en-US" sz="2200" dirty="0">
                          <a:latin typeface="Cambria" panose="02040503050406030204" pitchFamily="18" charset="0"/>
                          <a:ea typeface="Cambria" panose="02040503050406030204" pitchFamily="18" charset="0"/>
                        </a:rPr>
                        <a:t>Week 1-2</a:t>
                      </a:r>
                      <a:endParaRPr lang="en-IN" sz="2200" dirty="0">
                        <a:latin typeface="Cambria" panose="02040503050406030204" pitchFamily="18" charset="0"/>
                        <a:ea typeface="Cambria" panose="02040503050406030204" pitchFamily="18" charset="0"/>
                      </a:endParaRPr>
                    </a:p>
                  </a:txBody>
                  <a:tcPr/>
                </a:tc>
                <a:tc>
                  <a:txBody>
                    <a:bodyPr/>
                    <a:lstStyle/>
                    <a:p>
                      <a:r>
                        <a:rPr lang="en-US" sz="2200" dirty="0">
                          <a:latin typeface="Cambria" panose="02040503050406030204" pitchFamily="18" charset="0"/>
                          <a:ea typeface="Cambria" panose="02040503050406030204" pitchFamily="18" charset="0"/>
                        </a:rPr>
                        <a:t>Project</a:t>
                      </a:r>
                      <a:r>
                        <a:rPr lang="en-US" sz="2200" baseline="0" dirty="0">
                          <a:latin typeface="Cambria" panose="02040503050406030204" pitchFamily="18" charset="0"/>
                          <a:ea typeface="Cambria" panose="02040503050406030204" pitchFamily="18" charset="0"/>
                        </a:rPr>
                        <a:t> Plan</a:t>
                      </a:r>
                      <a:endParaRPr lang="en-IN" sz="2200"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26286776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Week 3-4</a:t>
                      </a:r>
                      <a:endParaRPr kumimoji="0" lang="en-IN" sz="2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endParaRPr>
                    </a:p>
                  </a:txBody>
                  <a:tcPr/>
                </a:tc>
                <a:tc>
                  <a:txBody>
                    <a:bodyPr/>
                    <a:lstStyle/>
                    <a:p>
                      <a:pPr>
                        <a:buNone/>
                      </a:pPr>
                      <a:r>
                        <a:rPr lang="en-US" sz="2200" dirty="0">
                          <a:latin typeface="Cambria" panose="02040503050406030204" pitchFamily="18" charset="0"/>
                          <a:ea typeface="Cambria" panose="02040503050406030204" pitchFamily="18" charset="0"/>
                        </a:rPr>
                        <a:t>Study DevOps and Secure DevOps concepts</a:t>
                      </a:r>
                      <a:endParaRPr lang="en-IN" sz="2200" dirty="0">
                        <a:latin typeface="Cambria" panose="02040503050406030204" pitchFamily="18" charset="0"/>
                        <a:ea typeface="Cambria" panose="02040503050406030204" pitchFamily="18" charset="0"/>
                      </a:endParaRPr>
                    </a:p>
                  </a:txBody>
                  <a:tcPr anchor="ctr"/>
                </a:tc>
                <a:extLst>
                  <a:ext uri="{0D108BD9-81ED-4DB2-BD59-A6C34878D82A}">
                    <a16:rowId xmlns:a16="http://schemas.microsoft.com/office/drawing/2014/main" val="964880903"/>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Week 5-6</a:t>
                      </a:r>
                      <a:endParaRPr kumimoji="0" lang="en-IN" sz="2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endParaRPr>
                    </a:p>
                  </a:txBody>
                  <a:tcPr/>
                </a:tc>
                <a:tc>
                  <a:txBody>
                    <a:bodyPr/>
                    <a:lstStyle/>
                    <a:p>
                      <a:r>
                        <a:rPr lang="en-US" sz="2200" dirty="0">
                          <a:latin typeface="Cambria" panose="02040503050406030204" pitchFamily="18" charset="0"/>
                          <a:ea typeface="Cambria" panose="02040503050406030204" pitchFamily="18" charset="0"/>
                        </a:rPr>
                        <a:t>Study security issues in software projects</a:t>
                      </a:r>
                      <a:endParaRPr lang="en-IN" sz="2200"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127011827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Week 7-8</a:t>
                      </a:r>
                      <a:endParaRPr kumimoji="0" lang="en-IN" sz="2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endParaRPr>
                    </a:p>
                  </a:txBody>
                  <a:tcPr/>
                </a:tc>
                <a:tc>
                  <a:txBody>
                    <a:bodyPr/>
                    <a:lstStyle/>
                    <a:p>
                      <a:r>
                        <a:rPr lang="en-IN" sz="2400" dirty="0">
                          <a:latin typeface="Cambria" panose="02040503050406030204" pitchFamily="18" charset="0"/>
                          <a:ea typeface="Cambria" panose="02040503050406030204" pitchFamily="18" charset="0"/>
                        </a:rPr>
                        <a:t>Design secure workflow (theoretical)</a:t>
                      </a:r>
                      <a:endParaRPr lang="en-IN" sz="2200"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304612740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Week 9-10</a:t>
                      </a:r>
                      <a:endParaRPr kumimoji="0" lang="en-IN" sz="2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endParaRPr>
                    </a:p>
                  </a:txBody>
                  <a:tcPr/>
                </a:tc>
                <a:tc>
                  <a:txBody>
                    <a:bodyPr/>
                    <a:lstStyle/>
                    <a:p>
                      <a:r>
                        <a:rPr lang="en-IN" sz="2400" dirty="0">
                          <a:latin typeface="Cambria" panose="02040503050406030204" pitchFamily="18" charset="0"/>
                          <a:ea typeface="Cambria" panose="02040503050406030204" pitchFamily="18" charset="0"/>
                        </a:rPr>
                        <a:t>Understand automation concepts</a:t>
                      </a:r>
                      <a:endParaRPr lang="en-IN" sz="2200"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205019378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Week 11-12</a:t>
                      </a:r>
                      <a:endParaRPr kumimoji="0" lang="en-IN" sz="2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endParaRPr>
                    </a:p>
                  </a:txBody>
                  <a:tcPr/>
                </a:tc>
                <a:tc>
                  <a:txBody>
                    <a:bodyPr/>
                    <a:lstStyle/>
                    <a:p>
                      <a:r>
                        <a:rPr lang="fr-FR" sz="2400" dirty="0" err="1">
                          <a:latin typeface="Cambria" panose="02040503050406030204" pitchFamily="18" charset="0"/>
                          <a:ea typeface="Cambria" panose="02040503050406030204" pitchFamily="18" charset="0"/>
                        </a:rPr>
                        <a:t>Environment</a:t>
                      </a:r>
                      <a:r>
                        <a:rPr lang="fr-FR" sz="2400" dirty="0">
                          <a:latin typeface="Cambria" panose="02040503050406030204" pitchFamily="18" charset="0"/>
                          <a:ea typeface="Cambria" panose="02040503050406030204" pitchFamily="18" charset="0"/>
                        </a:rPr>
                        <a:t> setup (Git, Jenkins, Docker)</a:t>
                      </a:r>
                      <a:endParaRPr lang="en-IN" sz="2200"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3264778204"/>
                  </a:ext>
                </a:extLst>
              </a:tr>
            </a:tbl>
          </a:graphicData>
        </a:graphic>
      </p:graphicFrame>
    </p:spTree>
    <p:extLst>
      <p:ext uri="{BB962C8B-B14F-4D97-AF65-F5344CB8AC3E}">
        <p14:creationId xmlns:p14="http://schemas.microsoft.com/office/powerpoint/2010/main" val="5938927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3"/>
          </p:nvPr>
        </p:nvSpPr>
        <p:spPr/>
        <p:txBody>
          <a:bodyPr/>
          <a:lstStyle/>
          <a:p>
            <a:r>
              <a:rPr lang="en-US"/>
              <a:t>Dept. of CSE | GAT | 2025-26                                                                                                           CSEP23605</a:t>
            </a:r>
            <a:endParaRPr lang="en-IN" dirty="0"/>
          </a:p>
        </p:txBody>
      </p:sp>
      <p:sp>
        <p:nvSpPr>
          <p:cNvPr id="3" name="Slide Number Placeholder 2"/>
          <p:cNvSpPr>
            <a:spLocks noGrp="1"/>
          </p:cNvSpPr>
          <p:nvPr>
            <p:ph type="sldNum" sz="quarter" idx="4"/>
          </p:nvPr>
        </p:nvSpPr>
        <p:spPr/>
        <p:txBody>
          <a:bodyPr/>
          <a:lstStyle/>
          <a:p>
            <a:fld id="{FFAE6D68-FB99-4243-9CC1-93FAA8C005BC}" type="slidenum">
              <a:rPr lang="en-IN" smtClean="0"/>
              <a:pPr/>
              <a:t>11</a:t>
            </a:fld>
            <a:endParaRPr lang="en-IN"/>
          </a:p>
        </p:txBody>
      </p:sp>
      <p:sp>
        <p:nvSpPr>
          <p:cNvPr id="4" name="TextBox 3">
            <a:extLst>
              <a:ext uri="{FF2B5EF4-FFF2-40B4-BE49-F238E27FC236}">
                <a16:creationId xmlns:a16="http://schemas.microsoft.com/office/drawing/2014/main" id="{A2D65176-27C0-6A9C-1D22-589841C6C443}"/>
              </a:ext>
            </a:extLst>
          </p:cNvPr>
          <p:cNvSpPr txBox="1"/>
          <p:nvPr/>
        </p:nvSpPr>
        <p:spPr>
          <a:xfrm>
            <a:off x="2798445" y="207637"/>
            <a:ext cx="6595110" cy="707886"/>
          </a:xfrm>
          <a:prstGeom prst="rect">
            <a:avLst/>
          </a:prstGeom>
          <a:noFill/>
        </p:spPr>
        <p:txBody>
          <a:bodyPr wrap="square" rtlCol="0">
            <a:spAutoFit/>
          </a:bodyPr>
          <a:lstStyle/>
          <a:p>
            <a:pPr algn="ctr"/>
            <a:r>
              <a:rPr lang="en-US" sz="4000" b="1" dirty="0">
                <a:latin typeface="Cambria" panose="02040503050406030204" pitchFamily="18" charset="0"/>
                <a:ea typeface="Cambria" panose="02040503050406030204" pitchFamily="18" charset="0"/>
              </a:rPr>
              <a:t>References</a:t>
            </a:r>
            <a:endParaRPr lang="en-IN" sz="4000" b="1" dirty="0">
              <a:latin typeface="Cambria" panose="02040503050406030204" pitchFamily="18" charset="0"/>
              <a:ea typeface="Cambria" panose="02040503050406030204" pitchFamily="18" charset="0"/>
            </a:endParaRPr>
          </a:p>
        </p:txBody>
      </p:sp>
      <p:sp>
        <p:nvSpPr>
          <p:cNvPr id="5" name="TextBox 4">
            <a:extLst>
              <a:ext uri="{FF2B5EF4-FFF2-40B4-BE49-F238E27FC236}">
                <a16:creationId xmlns:a16="http://schemas.microsoft.com/office/drawing/2014/main" id="{55BEC630-6F30-942B-AE77-8AB365B0B80F}"/>
              </a:ext>
            </a:extLst>
          </p:cNvPr>
          <p:cNvSpPr txBox="1"/>
          <p:nvPr/>
        </p:nvSpPr>
        <p:spPr>
          <a:xfrm>
            <a:off x="0" y="915523"/>
            <a:ext cx="12029440" cy="5026954"/>
          </a:xfrm>
          <a:prstGeom prst="rect">
            <a:avLst/>
          </a:prstGeom>
          <a:noFill/>
        </p:spPr>
        <p:txBody>
          <a:bodyPr wrap="square">
            <a:spAutoFit/>
          </a:bodyPr>
          <a:lstStyle/>
          <a:p>
            <a:pPr algn="just">
              <a:lnSpc>
                <a:spcPct val="150000"/>
              </a:lnSpc>
            </a:pPr>
            <a:r>
              <a:rPr lang="en-IN" b="1" dirty="0">
                <a:latin typeface="Cambria" panose="02040503050406030204" pitchFamily="18" charset="0"/>
                <a:ea typeface="Cambria" panose="02040503050406030204" pitchFamily="18" charset="0"/>
              </a:rPr>
              <a:t>[1] </a:t>
            </a:r>
            <a:r>
              <a:rPr lang="en-IN" dirty="0">
                <a:latin typeface="Cambria" panose="02040503050406030204" pitchFamily="18" charset="0"/>
                <a:ea typeface="Cambria" panose="02040503050406030204" pitchFamily="18" charset="0"/>
              </a:rPr>
              <a:t>Mohammad A. </a:t>
            </a:r>
            <a:r>
              <a:rPr lang="en-IN" dirty="0" err="1">
                <a:latin typeface="Cambria" panose="02040503050406030204" pitchFamily="18" charset="0"/>
                <a:ea typeface="Cambria" panose="02040503050406030204" pitchFamily="18" charset="0"/>
              </a:rPr>
              <a:t>Aljohani</a:t>
            </a:r>
            <a:r>
              <a:rPr lang="en-IN" dirty="0">
                <a:latin typeface="Cambria" panose="02040503050406030204" pitchFamily="18" charset="0"/>
                <a:ea typeface="Cambria" panose="02040503050406030204" pitchFamily="18" charset="0"/>
              </a:rPr>
              <a:t>, Sultan S. Alqahtani, </a:t>
            </a:r>
            <a:r>
              <a:rPr lang="en-IN" i="1" dirty="0">
                <a:latin typeface="Cambria" panose="02040503050406030204" pitchFamily="18" charset="0"/>
                <a:ea typeface="Cambria" panose="02040503050406030204" pitchFamily="18" charset="0"/>
              </a:rPr>
              <a:t>A Unified Framework for Automating Software Security Analysis in </a:t>
            </a:r>
            <a:r>
              <a:rPr lang="en-IN" i="1" dirty="0" err="1">
                <a:latin typeface="Cambria" panose="02040503050406030204" pitchFamily="18" charset="0"/>
                <a:ea typeface="Cambria" panose="02040503050406030204" pitchFamily="18" charset="0"/>
              </a:rPr>
              <a:t>DevSecOps</a:t>
            </a:r>
            <a:r>
              <a:rPr lang="en-IN" dirty="0">
                <a:latin typeface="Cambria" panose="02040503050406030204" pitchFamily="18" charset="0"/>
                <a:ea typeface="Cambria" panose="02040503050406030204" pitchFamily="18" charset="0"/>
              </a:rPr>
              <a:t>, 2023 International Conference on Smart Computing and Application (ICSCA 2023), DOI: 10.1109/ICSCA57840.2023.10087568, ISBN: 979-8-3503-4705-0, 2023.</a:t>
            </a:r>
          </a:p>
          <a:p>
            <a:pPr algn="just">
              <a:lnSpc>
                <a:spcPct val="150000"/>
              </a:lnSpc>
            </a:pPr>
            <a:r>
              <a:rPr lang="en-IN" b="1" dirty="0">
                <a:latin typeface="Cambria" panose="02040503050406030204" pitchFamily="18" charset="0"/>
                <a:ea typeface="Cambria" panose="02040503050406030204" pitchFamily="18" charset="0"/>
              </a:rPr>
              <a:t>[2]</a:t>
            </a:r>
            <a:r>
              <a:rPr lang="en-IN" dirty="0">
                <a:latin typeface="Cambria" panose="02040503050406030204" pitchFamily="18" charset="0"/>
                <a:ea typeface="Cambria" panose="02040503050406030204" pitchFamily="18" charset="0"/>
              </a:rPr>
              <a:t>  Lyuben Asenov Nikolov, Adelina </a:t>
            </a:r>
            <a:r>
              <a:rPr lang="en-IN" dirty="0" err="1">
                <a:latin typeface="Cambria" panose="02040503050406030204" pitchFamily="18" charset="0"/>
                <a:ea typeface="Cambria" panose="02040503050406030204" pitchFamily="18" charset="0"/>
              </a:rPr>
              <a:t>Plamenova</a:t>
            </a:r>
            <a:r>
              <a:rPr lang="en-IN" dirty="0">
                <a:latin typeface="Cambria" panose="02040503050406030204" pitchFamily="18" charset="0"/>
                <a:ea typeface="Cambria" panose="02040503050406030204" pitchFamily="18" charset="0"/>
              </a:rPr>
              <a:t> </a:t>
            </a:r>
            <a:r>
              <a:rPr lang="en-IN" dirty="0" err="1">
                <a:latin typeface="Cambria" panose="02040503050406030204" pitchFamily="18" charset="0"/>
                <a:ea typeface="Cambria" panose="02040503050406030204" pitchFamily="18" charset="0"/>
              </a:rPr>
              <a:t>Aleksieva</a:t>
            </a:r>
            <a:r>
              <a:rPr lang="en-IN" dirty="0">
                <a:latin typeface="Cambria" panose="02040503050406030204" pitchFamily="18" charset="0"/>
                <a:ea typeface="Cambria" panose="02040503050406030204" pitchFamily="18" charset="0"/>
              </a:rPr>
              <a:t>-Petrova, </a:t>
            </a:r>
            <a:r>
              <a:rPr lang="en-IN" i="1" dirty="0">
                <a:latin typeface="Cambria" panose="02040503050406030204" pitchFamily="18" charset="0"/>
                <a:ea typeface="Cambria" panose="02040503050406030204" pitchFamily="18" charset="0"/>
              </a:rPr>
              <a:t>Action Research on the </a:t>
            </a:r>
            <a:r>
              <a:rPr lang="en-IN" i="1" dirty="0" err="1">
                <a:latin typeface="Cambria" panose="02040503050406030204" pitchFamily="18" charset="0"/>
                <a:ea typeface="Cambria" panose="02040503050406030204" pitchFamily="18" charset="0"/>
              </a:rPr>
              <a:t>DevSecOps</a:t>
            </a:r>
            <a:r>
              <a:rPr lang="en-IN" i="1" dirty="0">
                <a:latin typeface="Cambria" panose="02040503050406030204" pitchFamily="18" charset="0"/>
                <a:ea typeface="Cambria" panose="02040503050406030204" pitchFamily="18" charset="0"/>
              </a:rPr>
              <a:t> Pipeline</a:t>
            </a:r>
            <a:r>
              <a:rPr lang="en-IN" dirty="0">
                <a:latin typeface="Cambria" panose="02040503050406030204" pitchFamily="18" charset="0"/>
                <a:ea typeface="Cambria" panose="02040503050406030204" pitchFamily="18" charset="0"/>
              </a:rPr>
              <a:t>, 2023 International Scientific Conference on Computer Science (COMSCI 2023), DOI: 10.1109/COMSCI59259.2023.10315920, ISBN: 979-8-3503-2525-6, 2023.</a:t>
            </a:r>
          </a:p>
          <a:p>
            <a:pPr algn="just">
              <a:lnSpc>
                <a:spcPct val="150000"/>
              </a:lnSpc>
            </a:pPr>
            <a:r>
              <a:rPr lang="en-IN" b="1" dirty="0">
                <a:latin typeface="Cambria" panose="02040503050406030204" pitchFamily="18" charset="0"/>
                <a:ea typeface="Cambria" panose="02040503050406030204" pitchFamily="18" charset="0"/>
              </a:rPr>
              <a:t>[3]</a:t>
            </a:r>
            <a:r>
              <a:rPr lang="en-IN" dirty="0">
                <a:latin typeface="Cambria" panose="02040503050406030204" pitchFamily="18" charset="0"/>
                <a:ea typeface="Cambria" panose="02040503050406030204" pitchFamily="18" charset="0"/>
              </a:rPr>
              <a:t>  Manohar Marandi, A. Bertia, </a:t>
            </a:r>
            <a:r>
              <a:rPr lang="en-IN" dirty="0" err="1">
                <a:latin typeface="Cambria" panose="02040503050406030204" pitchFamily="18" charset="0"/>
                <a:ea typeface="Cambria" panose="02040503050406030204" pitchFamily="18" charset="0"/>
              </a:rPr>
              <a:t>Salaja</a:t>
            </a:r>
            <a:r>
              <a:rPr lang="en-IN" dirty="0">
                <a:latin typeface="Cambria" panose="02040503050406030204" pitchFamily="18" charset="0"/>
                <a:ea typeface="Cambria" panose="02040503050406030204" pitchFamily="18" charset="0"/>
              </a:rPr>
              <a:t> Silas, </a:t>
            </a:r>
            <a:r>
              <a:rPr lang="en-IN" i="1" dirty="0">
                <a:latin typeface="Cambria" panose="02040503050406030204" pitchFamily="18" charset="0"/>
                <a:ea typeface="Cambria" panose="02040503050406030204" pitchFamily="18" charset="0"/>
              </a:rPr>
              <a:t>Implementing and Automating Security Scanning to a </a:t>
            </a:r>
            <a:r>
              <a:rPr lang="en-IN" i="1" dirty="0" err="1">
                <a:latin typeface="Cambria" panose="02040503050406030204" pitchFamily="18" charset="0"/>
                <a:ea typeface="Cambria" panose="02040503050406030204" pitchFamily="18" charset="0"/>
              </a:rPr>
              <a:t>DevSecOps</a:t>
            </a:r>
            <a:r>
              <a:rPr lang="en-IN" i="1" dirty="0">
                <a:latin typeface="Cambria" panose="02040503050406030204" pitchFamily="18" charset="0"/>
                <a:ea typeface="Cambria" panose="02040503050406030204" pitchFamily="18" charset="0"/>
              </a:rPr>
              <a:t> CI/CD Pipeline</a:t>
            </a:r>
            <a:r>
              <a:rPr lang="en-IN" dirty="0">
                <a:latin typeface="Cambria" panose="02040503050406030204" pitchFamily="18" charset="0"/>
                <a:ea typeface="Cambria" panose="02040503050406030204" pitchFamily="18" charset="0"/>
              </a:rPr>
              <a:t>, 2023 World Conference on Communication &amp; Computing (WCONF 2023), Raipur, India, DOI: 10.1109/WCONF58270.2023.10235015, ISBN: 979-8-3503-1120-4, July 2023. </a:t>
            </a:r>
          </a:p>
          <a:p>
            <a:pPr algn="just">
              <a:lnSpc>
                <a:spcPct val="150000"/>
              </a:lnSpc>
            </a:pPr>
            <a:r>
              <a:rPr lang="en-IN" b="1" dirty="0">
                <a:latin typeface="Cambria" panose="02040503050406030204" pitchFamily="18" charset="0"/>
                <a:ea typeface="Cambria" panose="02040503050406030204" pitchFamily="18" charset="0"/>
              </a:rPr>
              <a:t>[4]</a:t>
            </a:r>
            <a:r>
              <a:rPr lang="en-IN" dirty="0">
                <a:latin typeface="Cambria" panose="02040503050406030204" pitchFamily="18" charset="0"/>
                <a:ea typeface="Cambria" panose="02040503050406030204" pitchFamily="18" charset="0"/>
              </a:rPr>
              <a:t> Nalini M. K., Mahalakshmi B. S., </a:t>
            </a:r>
            <a:r>
              <a:rPr lang="en-IN" dirty="0" err="1">
                <a:latin typeface="Cambria" panose="02040503050406030204" pitchFamily="18" charset="0"/>
                <a:ea typeface="Cambria" panose="02040503050406030204" pitchFamily="18" charset="0"/>
              </a:rPr>
              <a:t>Nevya</a:t>
            </a:r>
            <a:r>
              <a:rPr lang="en-IN" dirty="0">
                <a:latin typeface="Cambria" panose="02040503050406030204" pitchFamily="18" charset="0"/>
                <a:ea typeface="Cambria" panose="02040503050406030204" pitchFamily="18" charset="0"/>
              </a:rPr>
              <a:t> Khandelwal, Nandan Pai, Sharan L., </a:t>
            </a:r>
            <a:r>
              <a:rPr lang="en-IN" i="1" dirty="0">
                <a:latin typeface="Cambria" panose="02040503050406030204" pitchFamily="18" charset="0"/>
                <a:ea typeface="Cambria" panose="02040503050406030204" pitchFamily="18" charset="0"/>
              </a:rPr>
              <a:t>CI/CD Pipeline with Vulnerability Mitigation</a:t>
            </a:r>
            <a:r>
              <a:rPr lang="en-IN" dirty="0">
                <a:latin typeface="Cambria" panose="02040503050406030204" pitchFamily="18" charset="0"/>
                <a:ea typeface="Cambria" panose="02040503050406030204" pitchFamily="18" charset="0"/>
              </a:rPr>
              <a:t>, 2023 International Conference on Recent Advances in Science and Engineering Technology (ICRASET 2023), DOI: 10.1109/ICRASET59632.2023.10419921, ISBN: 979-8-3503-0692-7, 2023.</a:t>
            </a: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2120037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317C19-72BC-C65D-4DE5-CDC404FCE160}"/>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4F1989D5-040C-48FF-3583-A035723D05DA}"/>
              </a:ext>
            </a:extLst>
          </p:cNvPr>
          <p:cNvSpPr>
            <a:spLocks noGrp="1"/>
          </p:cNvSpPr>
          <p:nvPr>
            <p:ph type="ftr" sz="quarter" idx="3"/>
          </p:nvPr>
        </p:nvSpPr>
        <p:spPr/>
        <p:txBody>
          <a:bodyPr/>
          <a:lstStyle/>
          <a:p>
            <a:r>
              <a:rPr lang="en-US"/>
              <a:t>Dept. of CSE | GAT | 2025-26                                                                                                           CSEP23605</a:t>
            </a:r>
            <a:endParaRPr lang="en-IN" dirty="0"/>
          </a:p>
        </p:txBody>
      </p:sp>
      <p:sp>
        <p:nvSpPr>
          <p:cNvPr id="3" name="Slide Number Placeholder 2">
            <a:extLst>
              <a:ext uri="{FF2B5EF4-FFF2-40B4-BE49-F238E27FC236}">
                <a16:creationId xmlns:a16="http://schemas.microsoft.com/office/drawing/2014/main" id="{9C7C27A8-04EB-FC69-3366-E2553ABD677B}"/>
              </a:ext>
            </a:extLst>
          </p:cNvPr>
          <p:cNvSpPr>
            <a:spLocks noGrp="1"/>
          </p:cNvSpPr>
          <p:nvPr>
            <p:ph type="sldNum" sz="quarter" idx="4"/>
          </p:nvPr>
        </p:nvSpPr>
        <p:spPr/>
        <p:txBody>
          <a:bodyPr/>
          <a:lstStyle/>
          <a:p>
            <a:fld id="{FFAE6D68-FB99-4243-9CC1-93FAA8C005BC}" type="slidenum">
              <a:rPr lang="en-IN" smtClean="0"/>
              <a:pPr/>
              <a:t>12</a:t>
            </a:fld>
            <a:endParaRPr lang="en-IN"/>
          </a:p>
        </p:txBody>
      </p:sp>
      <p:sp>
        <p:nvSpPr>
          <p:cNvPr id="4" name="TextBox 3">
            <a:extLst>
              <a:ext uri="{FF2B5EF4-FFF2-40B4-BE49-F238E27FC236}">
                <a16:creationId xmlns:a16="http://schemas.microsoft.com/office/drawing/2014/main" id="{3566918C-DFE7-E4B3-10EA-7B81A123BEDF}"/>
              </a:ext>
            </a:extLst>
          </p:cNvPr>
          <p:cNvSpPr txBox="1"/>
          <p:nvPr/>
        </p:nvSpPr>
        <p:spPr>
          <a:xfrm>
            <a:off x="2580264" y="300881"/>
            <a:ext cx="6595110" cy="707886"/>
          </a:xfrm>
          <a:prstGeom prst="rect">
            <a:avLst/>
          </a:prstGeom>
          <a:noFill/>
        </p:spPr>
        <p:txBody>
          <a:bodyPr wrap="square" rtlCol="0">
            <a:spAutoFit/>
          </a:bodyPr>
          <a:lstStyle/>
          <a:p>
            <a:pPr algn="ctr"/>
            <a:r>
              <a:rPr lang="en-US" sz="4000" b="1" dirty="0">
                <a:latin typeface="Cambria" panose="02040503050406030204" pitchFamily="18" charset="0"/>
                <a:ea typeface="Cambria" panose="02040503050406030204" pitchFamily="18" charset="0"/>
              </a:rPr>
              <a:t>References</a:t>
            </a:r>
            <a:endParaRPr lang="en-IN" sz="4000" b="1" dirty="0">
              <a:latin typeface="Cambria" panose="02040503050406030204" pitchFamily="18" charset="0"/>
              <a:ea typeface="Cambria" panose="02040503050406030204" pitchFamily="18" charset="0"/>
            </a:endParaRPr>
          </a:p>
        </p:txBody>
      </p:sp>
      <p:sp>
        <p:nvSpPr>
          <p:cNvPr id="5" name="TextBox 4">
            <a:extLst>
              <a:ext uri="{FF2B5EF4-FFF2-40B4-BE49-F238E27FC236}">
                <a16:creationId xmlns:a16="http://schemas.microsoft.com/office/drawing/2014/main" id="{77FC6673-52C9-6728-7FF9-80114038DB00}"/>
              </a:ext>
            </a:extLst>
          </p:cNvPr>
          <p:cNvSpPr txBox="1"/>
          <p:nvPr/>
        </p:nvSpPr>
        <p:spPr>
          <a:xfrm>
            <a:off x="81280" y="1008979"/>
            <a:ext cx="12029440" cy="5033557"/>
          </a:xfrm>
          <a:prstGeom prst="rect">
            <a:avLst/>
          </a:prstGeom>
          <a:noFill/>
        </p:spPr>
        <p:txBody>
          <a:bodyPr wrap="square">
            <a:spAutoFit/>
          </a:bodyPr>
          <a:lstStyle/>
          <a:p>
            <a:pPr algn="just">
              <a:lnSpc>
                <a:spcPct val="150000"/>
              </a:lnSpc>
            </a:pPr>
            <a:r>
              <a:rPr lang="en-IN" b="1" dirty="0">
                <a:latin typeface="Cambria" panose="02040503050406030204" pitchFamily="18" charset="0"/>
                <a:ea typeface="Cambria" panose="02040503050406030204" pitchFamily="18" charset="0"/>
              </a:rPr>
              <a:t>[5]</a:t>
            </a:r>
            <a:r>
              <a:rPr lang="en-IN" dirty="0">
                <a:latin typeface="Cambria" panose="02040503050406030204" pitchFamily="18" charset="0"/>
                <a:ea typeface="Cambria" panose="02040503050406030204" pitchFamily="18" charset="0"/>
              </a:rPr>
              <a:t> Markus </a:t>
            </a:r>
            <a:r>
              <a:rPr lang="en-IN" dirty="0" err="1">
                <a:latin typeface="Cambria" panose="02040503050406030204" pitchFamily="18" charset="0"/>
                <a:ea typeface="Cambria" panose="02040503050406030204" pitchFamily="18" charset="0"/>
              </a:rPr>
              <a:t>Voggenreiter</a:t>
            </a:r>
            <a:r>
              <a:rPr lang="en-IN" dirty="0">
                <a:latin typeface="Cambria" panose="02040503050406030204" pitchFamily="18" charset="0"/>
                <a:ea typeface="Cambria" panose="02040503050406030204" pitchFamily="18" charset="0"/>
              </a:rPr>
              <a:t>, Florian </a:t>
            </a:r>
            <a:r>
              <a:rPr lang="en-IN" dirty="0" err="1">
                <a:latin typeface="Cambria" panose="02040503050406030204" pitchFamily="18" charset="0"/>
                <a:ea typeface="Cambria" panose="02040503050406030204" pitchFamily="18" charset="0"/>
              </a:rPr>
              <a:t>Angermeir</a:t>
            </a:r>
            <a:r>
              <a:rPr lang="en-IN" dirty="0">
                <a:latin typeface="Cambria" panose="02040503050406030204" pitchFamily="18" charset="0"/>
                <a:ea typeface="Cambria" panose="02040503050406030204" pitchFamily="18" charset="0"/>
              </a:rPr>
              <a:t>, Fabiola </a:t>
            </a:r>
            <a:r>
              <a:rPr lang="en-IN" dirty="0" err="1">
                <a:latin typeface="Cambria" panose="02040503050406030204" pitchFamily="18" charset="0"/>
                <a:ea typeface="Cambria" panose="02040503050406030204" pitchFamily="18" charset="0"/>
              </a:rPr>
              <a:t>Moyón</a:t>
            </a:r>
            <a:r>
              <a:rPr lang="en-IN" dirty="0">
                <a:latin typeface="Cambria" panose="02040503050406030204" pitchFamily="18" charset="0"/>
                <a:ea typeface="Cambria" panose="02040503050406030204" pitchFamily="18" charset="0"/>
              </a:rPr>
              <a:t>, Ulrich </a:t>
            </a:r>
            <a:r>
              <a:rPr lang="en-IN" dirty="0" err="1">
                <a:latin typeface="Cambria" panose="02040503050406030204" pitchFamily="18" charset="0"/>
                <a:ea typeface="Cambria" panose="02040503050406030204" pitchFamily="18" charset="0"/>
              </a:rPr>
              <a:t>Schöpp</a:t>
            </a:r>
            <a:r>
              <a:rPr lang="en-IN" dirty="0">
                <a:latin typeface="Cambria" panose="02040503050406030204" pitchFamily="18" charset="0"/>
                <a:ea typeface="Cambria" panose="02040503050406030204" pitchFamily="18" charset="0"/>
              </a:rPr>
              <a:t>, Pierre </a:t>
            </a:r>
            <a:r>
              <a:rPr lang="en-IN" dirty="0" err="1">
                <a:latin typeface="Cambria" panose="02040503050406030204" pitchFamily="18" charset="0"/>
                <a:ea typeface="Cambria" panose="02040503050406030204" pitchFamily="18" charset="0"/>
              </a:rPr>
              <a:t>Bonvin</a:t>
            </a:r>
            <a:r>
              <a:rPr lang="en-IN" dirty="0">
                <a:latin typeface="Cambria" panose="02040503050406030204" pitchFamily="18" charset="0"/>
                <a:ea typeface="Cambria" panose="02040503050406030204" pitchFamily="18" charset="0"/>
              </a:rPr>
              <a:t>, </a:t>
            </a:r>
            <a:r>
              <a:rPr lang="en-IN" i="1" dirty="0">
                <a:latin typeface="Cambria" panose="02040503050406030204" pitchFamily="18" charset="0"/>
                <a:ea typeface="Cambria" panose="02040503050406030204" pitchFamily="18" charset="0"/>
              </a:rPr>
              <a:t>Automated Security Findings Management: A Case Study in Industrial DevOps</a:t>
            </a:r>
            <a:r>
              <a:rPr lang="en-IN" dirty="0">
                <a:latin typeface="Cambria" panose="02040503050406030204" pitchFamily="18" charset="0"/>
                <a:ea typeface="Cambria" panose="02040503050406030204" pitchFamily="18" charset="0"/>
              </a:rPr>
              <a:t>, 46th International Conference on Software Engineering: Software Engineering in Practice (ICSE-SEIP 2024), DOI: 10.1145/3639477.3639744, ISBN: 979-8-4007-0501-4, April 2024.</a:t>
            </a:r>
          </a:p>
          <a:p>
            <a:pPr algn="just">
              <a:lnSpc>
                <a:spcPct val="150000"/>
              </a:lnSpc>
            </a:pPr>
            <a:r>
              <a:rPr lang="en-IN" b="1" dirty="0">
                <a:latin typeface="Cambria" panose="02040503050406030204" pitchFamily="18" charset="0"/>
                <a:ea typeface="Cambria" panose="02040503050406030204" pitchFamily="18" charset="0"/>
              </a:rPr>
              <a:t>[6]</a:t>
            </a:r>
            <a:r>
              <a:rPr lang="en-IN" dirty="0">
                <a:latin typeface="Cambria" panose="02040503050406030204" pitchFamily="18" charset="0"/>
                <a:ea typeface="Cambria" panose="02040503050406030204" pitchFamily="18" charset="0"/>
              </a:rPr>
              <a:t> Akalanka </a:t>
            </a:r>
            <a:r>
              <a:rPr lang="en-IN" dirty="0" err="1">
                <a:latin typeface="Cambria" panose="02040503050406030204" pitchFamily="18" charset="0"/>
                <a:ea typeface="Cambria" panose="02040503050406030204" pitchFamily="18" charset="0"/>
              </a:rPr>
              <a:t>Nayanajith</a:t>
            </a:r>
            <a:r>
              <a:rPr lang="en-IN" dirty="0">
                <a:latin typeface="Cambria" panose="02040503050406030204" pitchFamily="18" charset="0"/>
                <a:ea typeface="Cambria" panose="02040503050406030204" pitchFamily="18" charset="0"/>
              </a:rPr>
              <a:t>, Ruwan Wickramarachchi, </a:t>
            </a:r>
            <a:r>
              <a:rPr lang="en-IN" i="1" dirty="0">
                <a:latin typeface="Cambria" panose="02040503050406030204" pitchFamily="18" charset="0"/>
                <a:ea typeface="Cambria" panose="02040503050406030204" pitchFamily="18" charset="0"/>
              </a:rPr>
              <a:t>Challenges Affecting the Successful Adoption of DevOps Practices: A Systematic Literature Review</a:t>
            </a:r>
            <a:r>
              <a:rPr lang="en-IN" dirty="0">
                <a:latin typeface="Cambria" panose="02040503050406030204" pitchFamily="18" charset="0"/>
                <a:ea typeface="Cambria" panose="02040503050406030204" pitchFamily="18" charset="0"/>
              </a:rPr>
              <a:t>, 4th International Conference on Advanced Research in Computing (ICARC 2024), DOI: 10.1109/ICARC61713.2024.10499735, ISBN: 979-8-3503-8486-4, 2024.</a:t>
            </a:r>
          </a:p>
          <a:p>
            <a:pPr algn="just">
              <a:lnSpc>
                <a:spcPct val="150000"/>
              </a:lnSpc>
            </a:pPr>
            <a:r>
              <a:rPr lang="en-IN" b="1" dirty="0">
                <a:latin typeface="Cambria" panose="02040503050406030204" pitchFamily="18" charset="0"/>
                <a:ea typeface="Cambria" panose="02040503050406030204" pitchFamily="18" charset="0"/>
              </a:rPr>
              <a:t>[7]</a:t>
            </a:r>
            <a:r>
              <a:rPr lang="en-IN" dirty="0">
                <a:latin typeface="Cambria" panose="02040503050406030204" pitchFamily="18" charset="0"/>
                <a:ea typeface="Cambria" panose="02040503050406030204" pitchFamily="18" charset="0"/>
              </a:rPr>
              <a:t> Samridhi Jain, Puneet Kumar, </a:t>
            </a:r>
            <a:r>
              <a:rPr lang="en-IN" i="1" dirty="0">
                <a:latin typeface="Cambria" panose="02040503050406030204" pitchFamily="18" charset="0"/>
                <a:ea typeface="Cambria" panose="02040503050406030204" pitchFamily="18" charset="0"/>
              </a:rPr>
              <a:t>DevOps Practices into Machine Learning</a:t>
            </a:r>
            <a:r>
              <a:rPr lang="en-IN" dirty="0">
                <a:latin typeface="Cambria" panose="02040503050406030204" pitchFamily="18" charset="0"/>
                <a:ea typeface="Cambria" panose="02040503050406030204" pitchFamily="18" charset="0"/>
              </a:rPr>
              <a:t>, 2024 IEEE International Conference on Intelligent Systems, Smart and Green Technologies (ICISSGT 2024), DOI: 10.1109/ICISSGT58904.2024.00029, ISBN: 979-8-3503-0432-9, 2024.</a:t>
            </a:r>
          </a:p>
          <a:p>
            <a:pPr algn="just">
              <a:lnSpc>
                <a:spcPct val="150000"/>
              </a:lnSpc>
            </a:pPr>
            <a:r>
              <a:rPr lang="en-IN" b="1" dirty="0">
                <a:latin typeface="Cambria" panose="02040503050406030204" pitchFamily="18" charset="0"/>
                <a:ea typeface="Cambria" panose="02040503050406030204" pitchFamily="18" charset="0"/>
              </a:rPr>
              <a:t>[8]</a:t>
            </a:r>
            <a:r>
              <a:rPr lang="en-IN" dirty="0">
                <a:latin typeface="Cambria" panose="02040503050406030204" pitchFamily="18" charset="0"/>
                <a:ea typeface="Cambria" panose="02040503050406030204" pitchFamily="18" charset="0"/>
              </a:rPr>
              <a:t> Semi Yulianto, Gerard Nathaniel </a:t>
            </a:r>
            <a:r>
              <a:rPr lang="en-IN" dirty="0" err="1">
                <a:latin typeface="Cambria" panose="02040503050406030204" pitchFamily="18" charset="0"/>
                <a:ea typeface="Cambria" panose="02040503050406030204" pitchFamily="18" charset="0"/>
              </a:rPr>
              <a:t>Cac</a:t>
            </a:r>
            <a:r>
              <a:rPr lang="en-IN" dirty="0">
                <a:latin typeface="Cambria" panose="02040503050406030204" pitchFamily="18" charset="0"/>
                <a:ea typeface="Cambria" panose="02040503050406030204" pitchFamily="18" charset="0"/>
              </a:rPr>
              <a:t> Ngo, </a:t>
            </a:r>
            <a:r>
              <a:rPr lang="en-IN" i="1" dirty="0">
                <a:latin typeface="Cambria" panose="02040503050406030204" pitchFamily="18" charset="0"/>
                <a:ea typeface="Cambria" panose="02040503050406030204" pitchFamily="18" charset="0"/>
              </a:rPr>
              <a:t>Enhancing </a:t>
            </a:r>
            <a:r>
              <a:rPr lang="en-IN" i="1" dirty="0" err="1">
                <a:latin typeface="Cambria" panose="02040503050406030204" pitchFamily="18" charset="0"/>
                <a:ea typeface="Cambria" panose="02040503050406030204" pitchFamily="18" charset="0"/>
              </a:rPr>
              <a:t>DevSecOps</a:t>
            </a:r>
            <a:r>
              <a:rPr lang="en-IN" i="1" dirty="0">
                <a:latin typeface="Cambria" panose="02040503050406030204" pitchFamily="18" charset="0"/>
                <a:ea typeface="Cambria" panose="02040503050406030204" pitchFamily="18" charset="0"/>
              </a:rPr>
              <a:t> Pipelines with AI-Driven Threat Detection and Response</a:t>
            </a:r>
            <a:r>
              <a:rPr lang="en-IN" dirty="0">
                <a:latin typeface="Cambria" panose="02040503050406030204" pitchFamily="18" charset="0"/>
                <a:ea typeface="Cambria" panose="02040503050406030204" pitchFamily="18" charset="0"/>
              </a:rPr>
              <a:t>, 2024 International Conference on ICT for Smart Society (ICISS 2024), DOI: 10.1109/ICISS62896.2024.10751269, ISBN: 979-8-3503-8965-4, 2024. </a:t>
            </a: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7194179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2E31D-6A68-EC41-3769-3FA475E73571}"/>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65F5CE51-A00A-EB78-BB3D-E8C3F156EB3B}"/>
              </a:ext>
            </a:extLst>
          </p:cNvPr>
          <p:cNvSpPr>
            <a:spLocks noGrp="1"/>
          </p:cNvSpPr>
          <p:nvPr>
            <p:ph type="ftr" sz="quarter" idx="3"/>
          </p:nvPr>
        </p:nvSpPr>
        <p:spPr/>
        <p:txBody>
          <a:bodyPr/>
          <a:lstStyle/>
          <a:p>
            <a:r>
              <a:rPr lang="en-US"/>
              <a:t>Dept. of CSE | GAT | 2025-26                                                                                                           CSEP23605</a:t>
            </a:r>
            <a:endParaRPr lang="en-IN" dirty="0"/>
          </a:p>
        </p:txBody>
      </p:sp>
      <p:sp>
        <p:nvSpPr>
          <p:cNvPr id="3" name="Slide Number Placeholder 2">
            <a:extLst>
              <a:ext uri="{FF2B5EF4-FFF2-40B4-BE49-F238E27FC236}">
                <a16:creationId xmlns:a16="http://schemas.microsoft.com/office/drawing/2014/main" id="{2E51823F-7493-E248-900D-96BCEEA7069C}"/>
              </a:ext>
            </a:extLst>
          </p:cNvPr>
          <p:cNvSpPr>
            <a:spLocks noGrp="1"/>
          </p:cNvSpPr>
          <p:nvPr>
            <p:ph type="sldNum" sz="quarter" idx="4"/>
          </p:nvPr>
        </p:nvSpPr>
        <p:spPr/>
        <p:txBody>
          <a:bodyPr/>
          <a:lstStyle/>
          <a:p>
            <a:fld id="{FFAE6D68-FB99-4243-9CC1-93FAA8C005BC}" type="slidenum">
              <a:rPr lang="en-IN" smtClean="0"/>
              <a:pPr/>
              <a:t>13</a:t>
            </a:fld>
            <a:endParaRPr lang="en-IN"/>
          </a:p>
        </p:txBody>
      </p:sp>
      <p:sp>
        <p:nvSpPr>
          <p:cNvPr id="4" name="TextBox 3">
            <a:extLst>
              <a:ext uri="{FF2B5EF4-FFF2-40B4-BE49-F238E27FC236}">
                <a16:creationId xmlns:a16="http://schemas.microsoft.com/office/drawing/2014/main" id="{28722679-9A7D-692A-02FF-A960B30F2E29}"/>
              </a:ext>
            </a:extLst>
          </p:cNvPr>
          <p:cNvSpPr txBox="1"/>
          <p:nvPr/>
        </p:nvSpPr>
        <p:spPr>
          <a:xfrm>
            <a:off x="2798445" y="207637"/>
            <a:ext cx="6595110" cy="707886"/>
          </a:xfrm>
          <a:prstGeom prst="rect">
            <a:avLst/>
          </a:prstGeom>
          <a:noFill/>
        </p:spPr>
        <p:txBody>
          <a:bodyPr wrap="square" rtlCol="0">
            <a:spAutoFit/>
          </a:bodyPr>
          <a:lstStyle/>
          <a:p>
            <a:pPr algn="ctr"/>
            <a:r>
              <a:rPr lang="en-US" sz="4000" b="1" dirty="0">
                <a:latin typeface="Cambria" panose="02040503050406030204" pitchFamily="18" charset="0"/>
                <a:ea typeface="Cambria" panose="02040503050406030204" pitchFamily="18" charset="0"/>
              </a:rPr>
              <a:t>References</a:t>
            </a:r>
            <a:endParaRPr lang="en-IN" sz="4000" b="1" dirty="0">
              <a:latin typeface="Cambria" panose="02040503050406030204" pitchFamily="18" charset="0"/>
              <a:ea typeface="Cambria" panose="02040503050406030204" pitchFamily="18" charset="0"/>
            </a:endParaRPr>
          </a:p>
        </p:txBody>
      </p:sp>
      <p:sp>
        <p:nvSpPr>
          <p:cNvPr id="5" name="TextBox 4">
            <a:extLst>
              <a:ext uri="{FF2B5EF4-FFF2-40B4-BE49-F238E27FC236}">
                <a16:creationId xmlns:a16="http://schemas.microsoft.com/office/drawing/2014/main" id="{251B1A3A-D9E3-8CB3-E3A3-08D526BC564A}"/>
              </a:ext>
            </a:extLst>
          </p:cNvPr>
          <p:cNvSpPr txBox="1"/>
          <p:nvPr/>
        </p:nvSpPr>
        <p:spPr>
          <a:xfrm>
            <a:off x="81280" y="915523"/>
            <a:ext cx="12029440" cy="5026954"/>
          </a:xfrm>
          <a:prstGeom prst="rect">
            <a:avLst/>
          </a:prstGeom>
          <a:noFill/>
        </p:spPr>
        <p:txBody>
          <a:bodyPr wrap="square">
            <a:spAutoFit/>
          </a:bodyPr>
          <a:lstStyle/>
          <a:p>
            <a:pPr algn="just">
              <a:lnSpc>
                <a:spcPct val="150000"/>
              </a:lnSpc>
            </a:pPr>
            <a:r>
              <a:rPr lang="en-IN" b="1" dirty="0">
                <a:latin typeface="Cambria" panose="02040503050406030204" pitchFamily="18" charset="0"/>
                <a:ea typeface="Cambria" panose="02040503050406030204" pitchFamily="18" charset="0"/>
              </a:rPr>
              <a:t>[9]</a:t>
            </a:r>
            <a:r>
              <a:rPr lang="en-IN" dirty="0">
                <a:latin typeface="Cambria" panose="02040503050406030204" pitchFamily="18" charset="0"/>
                <a:ea typeface="Cambria" panose="02040503050406030204" pitchFamily="18" charset="0"/>
              </a:rPr>
              <a:t> Fabiola </a:t>
            </a:r>
            <a:r>
              <a:rPr lang="en-IN" dirty="0" err="1">
                <a:latin typeface="Cambria" panose="02040503050406030204" pitchFamily="18" charset="0"/>
                <a:ea typeface="Cambria" panose="02040503050406030204" pitchFamily="18" charset="0"/>
              </a:rPr>
              <a:t>Moyón</a:t>
            </a:r>
            <a:r>
              <a:rPr lang="en-IN" dirty="0">
                <a:latin typeface="Cambria" panose="02040503050406030204" pitchFamily="18" charset="0"/>
                <a:ea typeface="Cambria" panose="02040503050406030204" pitchFamily="18" charset="0"/>
              </a:rPr>
              <a:t>, Florian </a:t>
            </a:r>
            <a:r>
              <a:rPr lang="en-IN" dirty="0" err="1">
                <a:latin typeface="Cambria" panose="02040503050406030204" pitchFamily="18" charset="0"/>
                <a:ea typeface="Cambria" panose="02040503050406030204" pitchFamily="18" charset="0"/>
              </a:rPr>
              <a:t>Angermeir</a:t>
            </a:r>
            <a:r>
              <a:rPr lang="en-IN" dirty="0">
                <a:latin typeface="Cambria" panose="02040503050406030204" pitchFamily="18" charset="0"/>
                <a:ea typeface="Cambria" panose="02040503050406030204" pitchFamily="18" charset="0"/>
              </a:rPr>
              <a:t>, Daniel Mendez, </a:t>
            </a:r>
            <a:r>
              <a:rPr lang="en-IN" i="1" dirty="0">
                <a:latin typeface="Cambria" panose="02040503050406030204" pitchFamily="18" charset="0"/>
                <a:ea typeface="Cambria" panose="02040503050406030204" pitchFamily="18" charset="0"/>
              </a:rPr>
              <a:t>Industrial Challenges in Secure Continuous Development</a:t>
            </a:r>
            <a:r>
              <a:rPr lang="en-IN" dirty="0">
                <a:latin typeface="Cambria" panose="02040503050406030204" pitchFamily="18" charset="0"/>
                <a:ea typeface="Cambria" panose="02040503050406030204" pitchFamily="18" charset="0"/>
              </a:rPr>
              <a:t>, 46th International Conference on Software Engineering: Software Engineering in Practice (ICSE-SEIP 2024), Lisbon, Portugal, April 2024, DOI: 10.1145/3639477.3639736, ISBN: 979-8-4007-0501-4. </a:t>
            </a:r>
          </a:p>
          <a:p>
            <a:pPr algn="just">
              <a:lnSpc>
                <a:spcPct val="150000"/>
              </a:lnSpc>
            </a:pPr>
            <a:r>
              <a:rPr lang="en-IN" b="1" dirty="0">
                <a:latin typeface="Cambria" panose="02040503050406030204" pitchFamily="18" charset="0"/>
                <a:ea typeface="Cambria" panose="02040503050406030204" pitchFamily="18" charset="0"/>
              </a:rPr>
              <a:t>[10]</a:t>
            </a:r>
            <a:r>
              <a:rPr lang="en-IN" dirty="0">
                <a:latin typeface="Cambria" panose="02040503050406030204" pitchFamily="18" charset="0"/>
                <a:ea typeface="Cambria" panose="02040503050406030204" pitchFamily="18" charset="0"/>
              </a:rPr>
              <a:t> Muhammad Zohaib, Ahmed </a:t>
            </a:r>
            <a:r>
              <a:rPr lang="en-IN" dirty="0" err="1">
                <a:latin typeface="Cambria" panose="02040503050406030204" pitchFamily="18" charset="0"/>
                <a:ea typeface="Cambria" panose="02040503050406030204" pitchFamily="18" charset="0"/>
              </a:rPr>
              <a:t>Alsanad</a:t>
            </a:r>
            <a:r>
              <a:rPr lang="en-IN" dirty="0">
                <a:latin typeface="Cambria" panose="02040503050406030204" pitchFamily="18" charset="0"/>
                <a:ea typeface="Cambria" panose="02040503050406030204" pitchFamily="18" charset="0"/>
              </a:rPr>
              <a:t>, Areej Abdullah </a:t>
            </a:r>
            <a:r>
              <a:rPr lang="en-IN" dirty="0" err="1">
                <a:latin typeface="Cambria" panose="02040503050406030204" pitchFamily="18" charset="0"/>
                <a:ea typeface="Cambria" panose="02040503050406030204" pitchFamily="18" charset="0"/>
              </a:rPr>
              <a:t>Alhogail</a:t>
            </a:r>
            <a:r>
              <a:rPr lang="en-IN" dirty="0">
                <a:latin typeface="Cambria" panose="02040503050406030204" pitchFamily="18" charset="0"/>
                <a:ea typeface="Cambria" panose="02040503050406030204" pitchFamily="18" charset="0"/>
              </a:rPr>
              <a:t>, </a:t>
            </a:r>
            <a:r>
              <a:rPr lang="en-IN" i="1" dirty="0">
                <a:latin typeface="Cambria" panose="02040503050406030204" pitchFamily="18" charset="0"/>
                <a:ea typeface="Cambria" panose="02040503050406030204" pitchFamily="18" charset="0"/>
              </a:rPr>
              <a:t>Prioritizing DevOps Implementation Guidelines for Sustainable Software Projects</a:t>
            </a:r>
            <a:r>
              <a:rPr lang="en-IN" dirty="0">
                <a:latin typeface="Cambria" panose="02040503050406030204" pitchFamily="18" charset="0"/>
                <a:ea typeface="Cambria" panose="02040503050406030204" pitchFamily="18" charset="0"/>
              </a:rPr>
              <a:t>, IEEE Access, vol. 12, pp. 71109–71130, 2024, DOI: 10.1109/ACCESS.2024.3402832.</a:t>
            </a:r>
          </a:p>
          <a:p>
            <a:pPr algn="just">
              <a:lnSpc>
                <a:spcPct val="150000"/>
              </a:lnSpc>
            </a:pPr>
            <a:r>
              <a:rPr lang="en-IN" b="1" dirty="0">
                <a:latin typeface="Cambria" panose="02040503050406030204" pitchFamily="18" charset="0"/>
                <a:ea typeface="Cambria" panose="02040503050406030204" pitchFamily="18" charset="0"/>
              </a:rPr>
              <a:t>[11] Nghia Dinh, Vinh Truong Hoang, Bay Nguyen Van, Thien Ho Huong, Ha Duong </a:t>
            </a:r>
            <a:r>
              <a:rPr lang="en-IN" b="1" dirty="0" err="1">
                <a:latin typeface="Cambria" panose="02040503050406030204" pitchFamily="18" charset="0"/>
                <a:ea typeface="Cambria" panose="02040503050406030204" pitchFamily="18" charset="0"/>
              </a:rPr>
              <a:t>Thi</a:t>
            </a:r>
            <a:r>
              <a:rPr lang="en-IN" b="1" dirty="0">
                <a:latin typeface="Cambria" panose="02040503050406030204" pitchFamily="18" charset="0"/>
                <a:ea typeface="Cambria" panose="02040503050406030204" pitchFamily="18" charset="0"/>
              </a:rPr>
              <a:t> Hong, Hau Nguyen Trung, Kiet Tran Trung, </a:t>
            </a:r>
            <a:r>
              <a:rPr lang="en-IN" b="1" i="1" dirty="0">
                <a:latin typeface="Cambria" panose="02040503050406030204" pitchFamily="18" charset="0"/>
                <a:ea typeface="Cambria" panose="02040503050406030204" pitchFamily="18" charset="0"/>
              </a:rPr>
              <a:t>Enhancing Smart Contract Security Through </a:t>
            </a:r>
            <a:r>
              <a:rPr lang="en-IN" b="1" i="1" dirty="0" err="1">
                <a:latin typeface="Cambria" panose="02040503050406030204" pitchFamily="18" charset="0"/>
                <a:ea typeface="Cambria" panose="02040503050406030204" pitchFamily="18" charset="0"/>
              </a:rPr>
              <a:t>DevSecOps</a:t>
            </a:r>
            <a:r>
              <a:rPr lang="en-IN" b="1" i="1" dirty="0">
                <a:latin typeface="Cambria" panose="02040503050406030204" pitchFamily="18" charset="0"/>
                <a:ea typeface="Cambria" panose="02040503050406030204" pitchFamily="18" charset="0"/>
              </a:rPr>
              <a:t>: An Adaptive Approach for Vulnerability Detection</a:t>
            </a:r>
            <a:r>
              <a:rPr lang="en-IN" b="1" dirty="0">
                <a:latin typeface="Cambria" panose="02040503050406030204" pitchFamily="18" charset="0"/>
                <a:ea typeface="Cambria" panose="02040503050406030204" pitchFamily="18" charset="0"/>
              </a:rPr>
              <a:t>, IEEE Access, vol. 13, pp. 159454–159520, 2025, DOI: 10.1109/ACCESS.2025.3606572. </a:t>
            </a:r>
          </a:p>
          <a:p>
            <a:pPr algn="just">
              <a:lnSpc>
                <a:spcPct val="150000"/>
              </a:lnSpc>
            </a:pPr>
            <a:r>
              <a:rPr lang="en-IN" b="1" dirty="0">
                <a:latin typeface="Cambria" panose="02040503050406030204" pitchFamily="18" charset="0"/>
                <a:ea typeface="Cambria" panose="02040503050406030204" pitchFamily="18" charset="0"/>
              </a:rPr>
              <a:t>[12]</a:t>
            </a:r>
            <a:r>
              <a:rPr lang="en-IN" dirty="0">
                <a:latin typeface="Cambria" panose="02040503050406030204" pitchFamily="18" charset="0"/>
                <a:ea typeface="Cambria" panose="02040503050406030204" pitchFamily="18" charset="0"/>
              </a:rPr>
              <a:t> Rashmi </a:t>
            </a:r>
            <a:r>
              <a:rPr lang="en-IN" dirty="0" err="1">
                <a:latin typeface="Cambria" panose="02040503050406030204" pitchFamily="18" charset="0"/>
                <a:ea typeface="Cambria" panose="02040503050406030204" pitchFamily="18" charset="0"/>
              </a:rPr>
              <a:t>Ashtagi</a:t>
            </a:r>
            <a:r>
              <a:rPr lang="en-IN" dirty="0">
                <a:latin typeface="Cambria" panose="02040503050406030204" pitchFamily="18" charset="0"/>
                <a:ea typeface="Cambria" panose="02040503050406030204" pitchFamily="18" charset="0"/>
              </a:rPr>
              <a:t>, Yash Bhalerao, Chirag Belani, Prasanna Bhalerao, Atharva </a:t>
            </a:r>
            <a:r>
              <a:rPr lang="en-IN" dirty="0" err="1">
                <a:latin typeface="Cambria" panose="02040503050406030204" pitchFamily="18" charset="0"/>
                <a:ea typeface="Cambria" panose="02040503050406030204" pitchFamily="18" charset="0"/>
              </a:rPr>
              <a:t>Chawle</a:t>
            </a:r>
            <a:r>
              <a:rPr lang="en-IN" dirty="0">
                <a:latin typeface="Cambria" panose="02040503050406030204" pitchFamily="18" charset="0"/>
                <a:ea typeface="Cambria" panose="02040503050406030204" pitchFamily="18" charset="0"/>
              </a:rPr>
              <a:t>, </a:t>
            </a:r>
            <a:r>
              <a:rPr lang="en-IN" i="1" dirty="0">
                <a:latin typeface="Cambria" panose="02040503050406030204" pitchFamily="18" charset="0"/>
                <a:ea typeface="Cambria" panose="02040503050406030204" pitchFamily="18" charset="0"/>
              </a:rPr>
              <a:t>Building Resilient CICD Pipelines: A DevOps Security-First Framework</a:t>
            </a:r>
            <a:r>
              <a:rPr lang="en-IN" dirty="0">
                <a:latin typeface="Cambria" panose="02040503050406030204" pitchFamily="18" charset="0"/>
                <a:ea typeface="Cambria" panose="02040503050406030204" pitchFamily="18" charset="0"/>
              </a:rPr>
              <a:t>, 2025 International Conference on Computational, Communication and Information Technology (ICCCIT 2025), DOI: 10.1109/ICCCIT62592.2025.10927871, ISBN: 979-8-3315-1296-5, 2025.</a:t>
            </a:r>
            <a:endParaRPr lang="en-IN" b="1" dirty="0">
              <a:latin typeface="Cambria" panose="02040503050406030204" pitchFamily="18" charset="0"/>
              <a:ea typeface="Cambria" panose="02040503050406030204" pitchFamily="18" charset="0"/>
            </a:endParaRPr>
          </a:p>
          <a:p>
            <a:pPr algn="just">
              <a:lnSpc>
                <a:spcPct val="150000"/>
              </a:lnSpc>
            </a:pPr>
            <a:endParaRPr lang="en-IN"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6468225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8420F-0B4F-1C06-D058-3DC1FD60C62D}"/>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2E607595-07EB-C05E-75FC-789F522BB295}"/>
              </a:ext>
            </a:extLst>
          </p:cNvPr>
          <p:cNvSpPr>
            <a:spLocks noGrp="1"/>
          </p:cNvSpPr>
          <p:nvPr>
            <p:ph type="ftr" sz="quarter" idx="3"/>
          </p:nvPr>
        </p:nvSpPr>
        <p:spPr/>
        <p:txBody>
          <a:bodyPr/>
          <a:lstStyle/>
          <a:p>
            <a:r>
              <a:rPr lang="en-US"/>
              <a:t>Dept. of CSE | GAT | 2025-26                                                                                                           CSEP23605</a:t>
            </a:r>
            <a:endParaRPr lang="en-IN" dirty="0"/>
          </a:p>
        </p:txBody>
      </p:sp>
      <p:sp>
        <p:nvSpPr>
          <p:cNvPr id="3" name="Slide Number Placeholder 2">
            <a:extLst>
              <a:ext uri="{FF2B5EF4-FFF2-40B4-BE49-F238E27FC236}">
                <a16:creationId xmlns:a16="http://schemas.microsoft.com/office/drawing/2014/main" id="{775D3CA2-6FB1-A895-A041-3C080DBF2814}"/>
              </a:ext>
            </a:extLst>
          </p:cNvPr>
          <p:cNvSpPr>
            <a:spLocks noGrp="1"/>
          </p:cNvSpPr>
          <p:nvPr>
            <p:ph type="sldNum" sz="quarter" idx="4"/>
          </p:nvPr>
        </p:nvSpPr>
        <p:spPr/>
        <p:txBody>
          <a:bodyPr/>
          <a:lstStyle/>
          <a:p>
            <a:fld id="{FFAE6D68-FB99-4243-9CC1-93FAA8C005BC}" type="slidenum">
              <a:rPr lang="en-IN" smtClean="0"/>
              <a:pPr/>
              <a:t>14</a:t>
            </a:fld>
            <a:endParaRPr lang="en-IN"/>
          </a:p>
        </p:txBody>
      </p:sp>
      <p:sp>
        <p:nvSpPr>
          <p:cNvPr id="4" name="TextBox 3">
            <a:extLst>
              <a:ext uri="{FF2B5EF4-FFF2-40B4-BE49-F238E27FC236}">
                <a16:creationId xmlns:a16="http://schemas.microsoft.com/office/drawing/2014/main" id="{0243B8F3-B67E-9B13-E35D-2B786B831C5F}"/>
              </a:ext>
            </a:extLst>
          </p:cNvPr>
          <p:cNvSpPr txBox="1"/>
          <p:nvPr/>
        </p:nvSpPr>
        <p:spPr>
          <a:xfrm>
            <a:off x="3021965" y="207637"/>
            <a:ext cx="6595110" cy="707886"/>
          </a:xfrm>
          <a:prstGeom prst="rect">
            <a:avLst/>
          </a:prstGeom>
          <a:noFill/>
        </p:spPr>
        <p:txBody>
          <a:bodyPr wrap="square" rtlCol="0">
            <a:spAutoFit/>
          </a:bodyPr>
          <a:lstStyle/>
          <a:p>
            <a:pPr algn="ctr"/>
            <a:r>
              <a:rPr lang="en-US" sz="4000" b="1" dirty="0">
                <a:latin typeface="Cambria" panose="02040503050406030204" pitchFamily="18" charset="0"/>
                <a:ea typeface="Cambria" panose="02040503050406030204" pitchFamily="18" charset="0"/>
              </a:rPr>
              <a:t>References</a:t>
            </a:r>
            <a:endParaRPr lang="en-IN" sz="4000" b="1" dirty="0">
              <a:latin typeface="Cambria" panose="02040503050406030204" pitchFamily="18" charset="0"/>
              <a:ea typeface="Cambria" panose="02040503050406030204" pitchFamily="18" charset="0"/>
            </a:endParaRPr>
          </a:p>
        </p:txBody>
      </p:sp>
      <p:sp>
        <p:nvSpPr>
          <p:cNvPr id="5" name="TextBox 4">
            <a:extLst>
              <a:ext uri="{FF2B5EF4-FFF2-40B4-BE49-F238E27FC236}">
                <a16:creationId xmlns:a16="http://schemas.microsoft.com/office/drawing/2014/main" id="{2FE47139-41B6-2381-B163-0C613E00DB3A}"/>
              </a:ext>
            </a:extLst>
          </p:cNvPr>
          <p:cNvSpPr txBox="1"/>
          <p:nvPr/>
        </p:nvSpPr>
        <p:spPr>
          <a:xfrm>
            <a:off x="162560" y="915523"/>
            <a:ext cx="12029440" cy="5026954"/>
          </a:xfrm>
          <a:prstGeom prst="rect">
            <a:avLst/>
          </a:prstGeom>
          <a:noFill/>
        </p:spPr>
        <p:txBody>
          <a:bodyPr wrap="square">
            <a:spAutoFit/>
          </a:bodyPr>
          <a:lstStyle/>
          <a:p>
            <a:pPr algn="just">
              <a:lnSpc>
                <a:spcPct val="150000"/>
              </a:lnSpc>
            </a:pPr>
            <a:r>
              <a:rPr lang="en-IN" b="1" dirty="0">
                <a:latin typeface="Cambria" panose="02040503050406030204" pitchFamily="18" charset="0"/>
                <a:ea typeface="Cambria" panose="02040503050406030204" pitchFamily="18" charset="0"/>
              </a:rPr>
              <a:t>[13]</a:t>
            </a:r>
            <a:r>
              <a:rPr lang="en-IN" dirty="0">
                <a:latin typeface="Cambria" panose="02040503050406030204" pitchFamily="18" charset="0"/>
                <a:ea typeface="Cambria" panose="02040503050406030204" pitchFamily="18" charset="0"/>
              </a:rPr>
              <a:t> Roberto Carlos Bautista Ramos, Sang </a:t>
            </a:r>
            <a:r>
              <a:rPr lang="en-IN" dirty="0" err="1">
                <a:latin typeface="Cambria" panose="02040503050406030204" pitchFamily="18" charset="0"/>
                <a:ea typeface="Cambria" panose="02040503050406030204" pitchFamily="18" charset="0"/>
              </a:rPr>
              <a:t>Guun</a:t>
            </a:r>
            <a:r>
              <a:rPr lang="en-IN" dirty="0">
                <a:latin typeface="Cambria" panose="02040503050406030204" pitchFamily="18" charset="0"/>
                <a:ea typeface="Cambria" panose="02040503050406030204" pitchFamily="18" charset="0"/>
              </a:rPr>
              <a:t> Yoo, </a:t>
            </a:r>
            <a:r>
              <a:rPr lang="en-IN" i="1" dirty="0">
                <a:latin typeface="Cambria" panose="02040503050406030204" pitchFamily="18" charset="0"/>
                <a:ea typeface="Cambria" panose="02040503050406030204" pitchFamily="18" charset="0"/>
              </a:rPr>
              <a:t>Cybersecurity in DevOps Environments: A Systematic Literature Review</a:t>
            </a:r>
            <a:r>
              <a:rPr lang="en-IN" dirty="0">
                <a:latin typeface="Cambria" panose="02040503050406030204" pitchFamily="18" charset="0"/>
                <a:ea typeface="Cambria" panose="02040503050406030204" pitchFamily="18" charset="0"/>
              </a:rPr>
              <a:t>, IEEE Access, vol. 13, pp. 191959–191980, 2025, DOI: 10.1109/ACCESS.2025.3582892. </a:t>
            </a:r>
          </a:p>
          <a:p>
            <a:pPr algn="just">
              <a:lnSpc>
                <a:spcPct val="150000"/>
              </a:lnSpc>
            </a:pPr>
            <a:r>
              <a:rPr lang="en-IN" b="1" dirty="0">
                <a:latin typeface="Cambria" panose="02040503050406030204" pitchFamily="18" charset="0"/>
                <a:ea typeface="Cambria" panose="02040503050406030204" pitchFamily="18" charset="0"/>
              </a:rPr>
              <a:t>[14] </a:t>
            </a:r>
            <a:r>
              <a:rPr lang="en-IN" dirty="0">
                <a:latin typeface="Cambria" panose="02040503050406030204" pitchFamily="18" charset="0"/>
                <a:ea typeface="Cambria" panose="02040503050406030204" pitchFamily="18" charset="0"/>
              </a:rPr>
              <a:t>Rania Rajab, Mouhib </a:t>
            </a:r>
            <a:r>
              <a:rPr lang="en-IN" dirty="0" err="1">
                <a:latin typeface="Cambria" panose="02040503050406030204" pitchFamily="18" charset="0"/>
                <a:ea typeface="Cambria" panose="02040503050406030204" pitchFamily="18" charset="0"/>
              </a:rPr>
              <a:t>Alnoukari</a:t>
            </a:r>
            <a:r>
              <a:rPr lang="en-IN" dirty="0">
                <a:latin typeface="Cambria" panose="02040503050406030204" pitchFamily="18" charset="0"/>
                <a:ea typeface="Cambria" panose="02040503050406030204" pitchFamily="18" charset="0"/>
              </a:rPr>
              <a:t>, DevOps Integration With Capability Model Maturity Integration: A Systematic Mapping Review, IEEE Access, vol. 13, pp. 31829–31840, 2025, DOI: 10.1109/ACCESS.2025.3542630. </a:t>
            </a:r>
          </a:p>
          <a:p>
            <a:pPr algn="just">
              <a:lnSpc>
                <a:spcPct val="150000"/>
              </a:lnSpc>
            </a:pPr>
            <a:r>
              <a:rPr lang="en-IN" b="1" dirty="0">
                <a:latin typeface="Cambria" panose="02040503050406030204" pitchFamily="18" charset="0"/>
                <a:ea typeface="Cambria" panose="02040503050406030204" pitchFamily="18" charset="0"/>
              </a:rPr>
              <a:t>[15] </a:t>
            </a:r>
            <a:r>
              <a:rPr lang="en-IN" dirty="0" err="1">
                <a:latin typeface="Cambria" panose="02040503050406030204" pitchFamily="18" charset="0"/>
                <a:ea typeface="Cambria" panose="02040503050406030204" pitchFamily="18" charset="0"/>
              </a:rPr>
              <a:t>Sadaquat</a:t>
            </a:r>
            <a:r>
              <a:rPr lang="en-IN" dirty="0">
                <a:latin typeface="Cambria" panose="02040503050406030204" pitchFamily="18" charset="0"/>
                <a:ea typeface="Cambria" panose="02040503050406030204" pitchFamily="18" charset="0"/>
              </a:rPr>
              <a:t> Ali Ruk, Yasir Mahmood, Azri Azmi, </a:t>
            </a:r>
            <a:r>
              <a:rPr lang="en-IN" dirty="0" err="1">
                <a:latin typeface="Cambria" panose="02040503050406030204" pitchFamily="18" charset="0"/>
                <a:ea typeface="Cambria" panose="02040503050406030204" pitchFamily="18" charset="0"/>
              </a:rPr>
              <a:t>Nurulhuda</a:t>
            </a:r>
            <a:r>
              <a:rPr lang="en-IN" dirty="0">
                <a:latin typeface="Cambria" panose="02040503050406030204" pitchFamily="18" charset="0"/>
                <a:ea typeface="Cambria" panose="02040503050406030204" pitchFamily="18" charset="0"/>
              </a:rPr>
              <a:t> Firdaus Mohd Azmi, Sehar Gul, Effort Estimation in Agile and DevOps: A Systematic Literature Review of Stakeholder Dissatisfaction, IEEE Access, vol. 13, pp. 167925–167960, 2025, DOI: 10.1109/ACCESS.2025.3600321. </a:t>
            </a:r>
          </a:p>
          <a:p>
            <a:pPr algn="just">
              <a:lnSpc>
                <a:spcPct val="150000"/>
              </a:lnSpc>
            </a:pPr>
            <a:r>
              <a:rPr lang="en-IN" b="1" dirty="0">
                <a:latin typeface="Cambria" panose="02040503050406030204" pitchFamily="18" charset="0"/>
                <a:ea typeface="Cambria" panose="02040503050406030204" pitchFamily="18" charset="0"/>
              </a:rPr>
              <a:t>[16]</a:t>
            </a:r>
            <a:r>
              <a:rPr lang="en-IN" dirty="0">
                <a:latin typeface="Cambria" panose="02040503050406030204" pitchFamily="18" charset="0"/>
                <a:ea typeface="Cambria" panose="02040503050406030204" pitchFamily="18" charset="0"/>
              </a:rPr>
              <a:t> Muhammad Azeem Akbar, Abeer Abdulaziz </a:t>
            </a:r>
            <a:r>
              <a:rPr lang="en-IN" dirty="0" err="1">
                <a:latin typeface="Cambria" panose="02040503050406030204" pitchFamily="18" charset="0"/>
                <a:ea typeface="Cambria" panose="02040503050406030204" pitchFamily="18" charset="0"/>
              </a:rPr>
              <a:t>Alsanad</a:t>
            </a:r>
            <a:r>
              <a:rPr lang="en-IN" dirty="0">
                <a:latin typeface="Cambria" panose="02040503050406030204" pitchFamily="18" charset="0"/>
                <a:ea typeface="Cambria" panose="02040503050406030204" pitchFamily="18" charset="0"/>
              </a:rPr>
              <a:t>, </a:t>
            </a:r>
            <a:r>
              <a:rPr lang="en-IN" i="1" dirty="0">
                <a:latin typeface="Cambria" panose="02040503050406030204" pitchFamily="18" charset="0"/>
                <a:ea typeface="Cambria" panose="02040503050406030204" pitchFamily="18" charset="0"/>
              </a:rPr>
              <a:t>Empirical Investigation of Key Enablers for Secure DevOps Practices</a:t>
            </a:r>
            <a:r>
              <a:rPr lang="en-IN" dirty="0">
                <a:latin typeface="Cambria" panose="02040503050406030204" pitchFamily="18" charset="0"/>
                <a:ea typeface="Cambria" panose="02040503050406030204" pitchFamily="18" charset="0"/>
              </a:rPr>
              <a:t>, IEEE Access, vol. 13, pp. 43698–43710, 2025, DOI: 10.1109/ACCESS.2025.3549183.</a:t>
            </a:r>
          </a:p>
          <a:p>
            <a:pPr algn="just">
              <a:lnSpc>
                <a:spcPct val="150000"/>
              </a:lnSpc>
            </a:pPr>
            <a:r>
              <a:rPr lang="en-IN" b="1" dirty="0">
                <a:latin typeface="Cambria" panose="02040503050406030204" pitchFamily="18" charset="0"/>
                <a:ea typeface="Cambria" panose="02040503050406030204" pitchFamily="18" charset="0"/>
              </a:rPr>
              <a:t>[17] </a:t>
            </a:r>
            <a:r>
              <a:rPr lang="en-IN" dirty="0">
                <a:latin typeface="Cambria" panose="02040503050406030204" pitchFamily="18" charset="0"/>
                <a:ea typeface="Cambria" panose="02040503050406030204" pitchFamily="18" charset="0"/>
              </a:rPr>
              <a:t>Junaid Nasir Qureshi, Muhammad Shoaib Farooq, Usman Ali, Adel Khelifi, Zabihullah Atal, Exploring the Integration of Blockchain and Distributed DevOps for Secure, Transparent, and Traceable Software Development, IEEE Access, vol. 13, pp. 15489–15500, 2025, DOI: 10.1109/ACCESS.2024.3509036. </a:t>
            </a:r>
          </a:p>
        </p:txBody>
      </p:sp>
    </p:spTree>
    <p:extLst>
      <p:ext uri="{BB962C8B-B14F-4D97-AF65-F5344CB8AC3E}">
        <p14:creationId xmlns:p14="http://schemas.microsoft.com/office/powerpoint/2010/main" val="9069541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27D20-7005-0819-0C79-88760924DDE3}"/>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A7F88FF0-F558-D0C5-2D88-A64AF38A77B6}"/>
              </a:ext>
            </a:extLst>
          </p:cNvPr>
          <p:cNvSpPr>
            <a:spLocks noGrp="1"/>
          </p:cNvSpPr>
          <p:nvPr>
            <p:ph type="ftr" sz="quarter" idx="3"/>
          </p:nvPr>
        </p:nvSpPr>
        <p:spPr/>
        <p:txBody>
          <a:bodyPr/>
          <a:lstStyle/>
          <a:p>
            <a:r>
              <a:rPr lang="en-US"/>
              <a:t>Dept. of CSE | GAT | 2025-26                                                                                                           CSEP23605</a:t>
            </a:r>
            <a:endParaRPr lang="en-IN" dirty="0"/>
          </a:p>
        </p:txBody>
      </p:sp>
      <p:sp>
        <p:nvSpPr>
          <p:cNvPr id="3" name="Slide Number Placeholder 2">
            <a:extLst>
              <a:ext uri="{FF2B5EF4-FFF2-40B4-BE49-F238E27FC236}">
                <a16:creationId xmlns:a16="http://schemas.microsoft.com/office/drawing/2014/main" id="{D9E393CE-B698-0251-D608-806ABF621E63}"/>
              </a:ext>
            </a:extLst>
          </p:cNvPr>
          <p:cNvSpPr>
            <a:spLocks noGrp="1"/>
          </p:cNvSpPr>
          <p:nvPr>
            <p:ph type="sldNum" sz="quarter" idx="4"/>
          </p:nvPr>
        </p:nvSpPr>
        <p:spPr/>
        <p:txBody>
          <a:bodyPr/>
          <a:lstStyle/>
          <a:p>
            <a:fld id="{FFAE6D68-FB99-4243-9CC1-93FAA8C005BC}" type="slidenum">
              <a:rPr lang="en-IN" smtClean="0"/>
              <a:pPr/>
              <a:t>15</a:t>
            </a:fld>
            <a:endParaRPr lang="en-IN"/>
          </a:p>
        </p:txBody>
      </p:sp>
      <p:sp>
        <p:nvSpPr>
          <p:cNvPr id="4" name="TextBox 3">
            <a:extLst>
              <a:ext uri="{FF2B5EF4-FFF2-40B4-BE49-F238E27FC236}">
                <a16:creationId xmlns:a16="http://schemas.microsoft.com/office/drawing/2014/main" id="{89FA5180-8AA2-57F5-F7C7-980816CEC6D8}"/>
              </a:ext>
            </a:extLst>
          </p:cNvPr>
          <p:cNvSpPr txBox="1"/>
          <p:nvPr/>
        </p:nvSpPr>
        <p:spPr>
          <a:xfrm>
            <a:off x="2798445" y="487802"/>
            <a:ext cx="6595110" cy="707886"/>
          </a:xfrm>
          <a:prstGeom prst="rect">
            <a:avLst/>
          </a:prstGeom>
          <a:noFill/>
        </p:spPr>
        <p:txBody>
          <a:bodyPr wrap="square" rtlCol="0">
            <a:spAutoFit/>
          </a:bodyPr>
          <a:lstStyle/>
          <a:p>
            <a:pPr algn="ctr"/>
            <a:r>
              <a:rPr lang="en-US" sz="4000" b="1" dirty="0">
                <a:latin typeface="Cambria" panose="02040503050406030204" pitchFamily="18" charset="0"/>
                <a:ea typeface="Cambria" panose="02040503050406030204" pitchFamily="18" charset="0"/>
              </a:rPr>
              <a:t>References</a:t>
            </a:r>
            <a:endParaRPr lang="en-IN" sz="4000" b="1" dirty="0">
              <a:latin typeface="Cambria" panose="02040503050406030204" pitchFamily="18" charset="0"/>
              <a:ea typeface="Cambria" panose="02040503050406030204" pitchFamily="18" charset="0"/>
            </a:endParaRPr>
          </a:p>
        </p:txBody>
      </p:sp>
      <p:sp>
        <p:nvSpPr>
          <p:cNvPr id="5" name="TextBox 4">
            <a:extLst>
              <a:ext uri="{FF2B5EF4-FFF2-40B4-BE49-F238E27FC236}">
                <a16:creationId xmlns:a16="http://schemas.microsoft.com/office/drawing/2014/main" id="{E574BC18-E414-67B4-6133-AD7CFCE406A9}"/>
              </a:ext>
            </a:extLst>
          </p:cNvPr>
          <p:cNvSpPr txBox="1"/>
          <p:nvPr/>
        </p:nvSpPr>
        <p:spPr>
          <a:xfrm>
            <a:off x="81280" y="1754488"/>
            <a:ext cx="12029440" cy="2949462"/>
          </a:xfrm>
          <a:prstGeom prst="rect">
            <a:avLst/>
          </a:prstGeom>
          <a:noFill/>
        </p:spPr>
        <p:txBody>
          <a:bodyPr wrap="square">
            <a:spAutoFit/>
          </a:bodyPr>
          <a:lstStyle/>
          <a:p>
            <a:pPr algn="just">
              <a:lnSpc>
                <a:spcPct val="150000"/>
              </a:lnSpc>
            </a:pPr>
            <a:r>
              <a:rPr lang="en-IN" b="1" dirty="0">
                <a:latin typeface="Cambria" panose="02040503050406030204" pitchFamily="18" charset="0"/>
                <a:ea typeface="Cambria" panose="02040503050406030204" pitchFamily="18" charset="0"/>
              </a:rPr>
              <a:t>[18] </a:t>
            </a:r>
            <a:r>
              <a:rPr lang="en-IN" dirty="0" err="1">
                <a:latin typeface="Cambria" panose="02040503050406030204" pitchFamily="18" charset="0"/>
                <a:ea typeface="Cambria" panose="02040503050406030204" pitchFamily="18" charset="0"/>
              </a:rPr>
              <a:t>Nagasundari</a:t>
            </a:r>
            <a:r>
              <a:rPr lang="en-IN" dirty="0">
                <a:latin typeface="Cambria" panose="02040503050406030204" pitchFamily="18" charset="0"/>
                <a:ea typeface="Cambria" panose="02040503050406030204" pitchFamily="18" charset="0"/>
              </a:rPr>
              <a:t> S, Pratham Manja, Priyansh Mathur, Prasad B. </a:t>
            </a:r>
            <a:r>
              <a:rPr lang="en-IN" dirty="0" err="1">
                <a:latin typeface="Cambria" panose="02040503050406030204" pitchFamily="18" charset="0"/>
                <a:ea typeface="Cambria" panose="02040503050406030204" pitchFamily="18" charset="0"/>
              </a:rPr>
              <a:t>Honnavalli</a:t>
            </a:r>
            <a:r>
              <a:rPr lang="en-IN" dirty="0">
                <a:latin typeface="Cambria" panose="02040503050406030204" pitchFamily="18" charset="0"/>
                <a:ea typeface="Cambria" panose="02040503050406030204" pitchFamily="18" charset="0"/>
              </a:rPr>
              <a:t>, Extensive Review of Threat Models for </a:t>
            </a:r>
            <a:r>
              <a:rPr lang="en-IN" dirty="0" err="1">
                <a:latin typeface="Cambria" panose="02040503050406030204" pitchFamily="18" charset="0"/>
                <a:ea typeface="Cambria" panose="02040503050406030204" pitchFamily="18" charset="0"/>
              </a:rPr>
              <a:t>DevSecOps</a:t>
            </a:r>
            <a:r>
              <a:rPr lang="en-IN" dirty="0">
                <a:latin typeface="Cambria" panose="02040503050406030204" pitchFamily="18" charset="0"/>
                <a:ea typeface="Cambria" panose="02040503050406030204" pitchFamily="18" charset="0"/>
              </a:rPr>
              <a:t>, IEEE Access, vol. 13, pp. 45252–45274, 2025, DOI: 10.1109/ACCESS.2025.3547932, 2025. </a:t>
            </a:r>
          </a:p>
          <a:p>
            <a:pPr algn="just">
              <a:lnSpc>
                <a:spcPct val="150000"/>
              </a:lnSpc>
            </a:pPr>
            <a:r>
              <a:rPr lang="en-IN" b="1" dirty="0">
                <a:latin typeface="Cambria" panose="02040503050406030204" pitchFamily="18" charset="0"/>
                <a:ea typeface="Cambria" panose="02040503050406030204" pitchFamily="18" charset="0"/>
              </a:rPr>
              <a:t>[19]</a:t>
            </a:r>
            <a:r>
              <a:rPr lang="en-IN" dirty="0">
                <a:latin typeface="Cambria" panose="02040503050406030204" pitchFamily="18" charset="0"/>
                <a:ea typeface="Cambria" panose="02040503050406030204" pitchFamily="18" charset="0"/>
              </a:rPr>
              <a:t> Jafar Ababneh, Esam Y. A. Al-</a:t>
            </a:r>
            <a:r>
              <a:rPr lang="en-IN" dirty="0" err="1">
                <a:latin typeface="Cambria" panose="02040503050406030204" pitchFamily="18" charset="0"/>
                <a:ea typeface="Cambria" panose="02040503050406030204" pitchFamily="18" charset="0"/>
              </a:rPr>
              <a:t>Nsour</a:t>
            </a:r>
            <a:r>
              <a:rPr lang="en-IN" dirty="0">
                <a:latin typeface="Cambria" panose="02040503050406030204" pitchFamily="18" charset="0"/>
                <a:ea typeface="Cambria" panose="02040503050406030204" pitchFamily="18" charset="0"/>
              </a:rPr>
              <a:t>, </a:t>
            </a:r>
            <a:r>
              <a:rPr lang="en-IN" dirty="0" err="1">
                <a:latin typeface="Cambria" panose="02040503050406030204" pitchFamily="18" charset="0"/>
                <a:ea typeface="Cambria" panose="02040503050406030204" pitchFamily="18" charset="0"/>
              </a:rPr>
              <a:t>Alaa’a</a:t>
            </a:r>
            <a:r>
              <a:rPr lang="en-IN" dirty="0">
                <a:latin typeface="Cambria" panose="02040503050406030204" pitchFamily="18" charset="0"/>
                <a:ea typeface="Cambria" panose="02040503050406030204" pitchFamily="18" charset="0"/>
              </a:rPr>
              <a:t> Al-Shaikh, Mohammad Rasmi Al-Mousa, Ahmad Al-Zabin, Mahmoud </a:t>
            </a:r>
            <a:r>
              <a:rPr lang="en-IN" dirty="0" err="1">
                <a:latin typeface="Cambria" panose="02040503050406030204" pitchFamily="18" charset="0"/>
                <a:ea typeface="Cambria" panose="02040503050406030204" pitchFamily="18" charset="0"/>
              </a:rPr>
              <a:t>Asassfeh</a:t>
            </a:r>
            <a:r>
              <a:rPr lang="en-IN" dirty="0">
                <a:latin typeface="Cambria" panose="02040503050406030204" pitchFamily="18" charset="0"/>
                <a:ea typeface="Cambria" panose="02040503050406030204" pitchFamily="18" charset="0"/>
              </a:rPr>
              <a:t>, Hasan </a:t>
            </a:r>
            <a:r>
              <a:rPr lang="en-IN" dirty="0" err="1">
                <a:latin typeface="Cambria" panose="02040503050406030204" pitchFamily="18" charset="0"/>
                <a:ea typeface="Cambria" panose="02040503050406030204" pitchFamily="18" charset="0"/>
              </a:rPr>
              <a:t>Abualese</a:t>
            </a:r>
            <a:r>
              <a:rPr lang="en-IN" dirty="0">
                <a:latin typeface="Cambria" panose="02040503050406030204" pitchFamily="18" charset="0"/>
                <a:ea typeface="Cambria" panose="02040503050406030204" pitchFamily="18" charset="0"/>
              </a:rPr>
              <a:t>, </a:t>
            </a:r>
            <a:r>
              <a:rPr lang="en-IN" i="1" dirty="0">
                <a:latin typeface="Cambria" panose="02040503050406030204" pitchFamily="18" charset="0"/>
                <a:ea typeface="Cambria" panose="02040503050406030204" pitchFamily="18" charset="0"/>
              </a:rPr>
              <a:t>Enhancing DevOps Continuous Monitoring Phase: Hybrid Intrusion Detection and Ensemble Learning System (HIDELS)</a:t>
            </a:r>
            <a:r>
              <a:rPr lang="en-IN" dirty="0">
                <a:latin typeface="Cambria" panose="02040503050406030204" pitchFamily="18" charset="0"/>
                <a:ea typeface="Cambria" panose="02040503050406030204" pitchFamily="18" charset="0"/>
              </a:rPr>
              <a:t>, IEEE Access, vol. 14, pp. 4733–4755, 2026, DOI: 10.1109/ACCESS.2026.3650793.</a:t>
            </a:r>
          </a:p>
          <a:p>
            <a:pPr algn="just">
              <a:lnSpc>
                <a:spcPct val="150000"/>
              </a:lnSpc>
            </a:pPr>
            <a:r>
              <a:rPr lang="en-US" b="1" dirty="0">
                <a:latin typeface="Cambria" panose="02040503050406030204" pitchFamily="18" charset="0"/>
                <a:ea typeface="Cambria" panose="02040503050406030204" pitchFamily="18" charset="0"/>
              </a:rPr>
              <a:t>[20]</a:t>
            </a:r>
            <a:r>
              <a:rPr lang="en-US" dirty="0">
                <a:latin typeface="Cambria" panose="02040503050406030204" pitchFamily="18" charset="0"/>
                <a:ea typeface="Cambria" panose="02040503050406030204" pitchFamily="18" charset="0"/>
              </a:rPr>
              <a:t> Ahmad </a:t>
            </a:r>
            <a:r>
              <a:rPr lang="en-US" dirty="0" err="1">
                <a:latin typeface="Cambria" panose="02040503050406030204" pitchFamily="18" charset="0"/>
                <a:ea typeface="Cambria" panose="02040503050406030204" pitchFamily="18" charset="0"/>
              </a:rPr>
              <a:t>Alnafessah</a:t>
            </a:r>
            <a:r>
              <a:rPr lang="en-US" dirty="0">
                <a:latin typeface="Cambria" panose="02040503050406030204" pitchFamily="18" charset="0"/>
                <a:ea typeface="Cambria" panose="02040503050406030204" pitchFamily="18" charset="0"/>
              </a:rPr>
              <a:t>, Alim Ul </a:t>
            </a:r>
            <a:r>
              <a:rPr lang="en-US" dirty="0" err="1">
                <a:latin typeface="Cambria" panose="02040503050406030204" pitchFamily="18" charset="0"/>
                <a:ea typeface="Cambria" panose="02040503050406030204" pitchFamily="18" charset="0"/>
              </a:rPr>
              <a:t>Gias</a:t>
            </a:r>
            <a:r>
              <a:rPr lang="en-US" dirty="0">
                <a:latin typeface="Cambria" panose="02040503050406030204" pitchFamily="18" charset="0"/>
                <a:ea typeface="Cambria" panose="02040503050406030204" pitchFamily="18" charset="0"/>
              </a:rPr>
              <a:t>, Runan Wang, Lulai Zhu, Giuliano Casale, Antonio </a:t>
            </a:r>
            <a:r>
              <a:rPr lang="en-US" dirty="0" err="1">
                <a:latin typeface="Cambria" panose="02040503050406030204" pitchFamily="18" charset="0"/>
                <a:ea typeface="Cambria" panose="02040503050406030204" pitchFamily="18" charset="0"/>
              </a:rPr>
              <a:t>Filieri</a:t>
            </a:r>
            <a:r>
              <a:rPr lang="en-US" dirty="0">
                <a:latin typeface="Cambria" panose="02040503050406030204" pitchFamily="18" charset="0"/>
                <a:ea typeface="Cambria" panose="02040503050406030204" pitchFamily="18" charset="0"/>
              </a:rPr>
              <a:t>, </a:t>
            </a:r>
            <a:r>
              <a:rPr lang="en-US" i="1" dirty="0">
                <a:latin typeface="Cambria" panose="02040503050406030204" pitchFamily="18" charset="0"/>
                <a:ea typeface="Cambria" panose="02040503050406030204" pitchFamily="18" charset="0"/>
              </a:rPr>
              <a:t>Quality-Aware DevOps Research: Where Do We Stand?</a:t>
            </a:r>
            <a:r>
              <a:rPr lang="en-US" dirty="0">
                <a:latin typeface="Cambria" panose="02040503050406030204" pitchFamily="18" charset="0"/>
                <a:ea typeface="Cambria" panose="02040503050406030204" pitchFamily="18" charset="0"/>
              </a:rPr>
              <a:t>, IEEE Access, vol. 9, pp. 44476–44489, 2021, DOI: 10.1109/ACCESS.2021.3064867.</a:t>
            </a:r>
            <a:endParaRPr lang="en-IN"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7230002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3"/>
          </p:nvPr>
        </p:nvSpPr>
        <p:spPr/>
        <p:txBody>
          <a:bodyPr/>
          <a:lstStyle/>
          <a:p>
            <a:r>
              <a:rPr lang="en-US"/>
              <a:t>Dept. of CSE | GAT | 2025-26                                                                                                           CSEP23605</a:t>
            </a:r>
            <a:endParaRPr lang="en-IN" dirty="0"/>
          </a:p>
        </p:txBody>
      </p:sp>
      <p:sp>
        <p:nvSpPr>
          <p:cNvPr id="3" name="Slide Number Placeholder 2"/>
          <p:cNvSpPr>
            <a:spLocks noGrp="1"/>
          </p:cNvSpPr>
          <p:nvPr>
            <p:ph type="sldNum" sz="quarter" idx="4"/>
          </p:nvPr>
        </p:nvSpPr>
        <p:spPr/>
        <p:txBody>
          <a:bodyPr/>
          <a:lstStyle/>
          <a:p>
            <a:fld id="{FFAE6D68-FB99-4243-9CC1-93FAA8C005BC}" type="slidenum">
              <a:rPr lang="en-IN" smtClean="0"/>
              <a:pPr/>
              <a:t>16</a:t>
            </a:fld>
            <a:endParaRPr lang="en-IN"/>
          </a:p>
        </p:txBody>
      </p:sp>
      <p:sp>
        <p:nvSpPr>
          <p:cNvPr id="4" name="TextBox 3">
            <a:extLst>
              <a:ext uri="{FF2B5EF4-FFF2-40B4-BE49-F238E27FC236}">
                <a16:creationId xmlns:a16="http://schemas.microsoft.com/office/drawing/2014/main" id="{A2D65176-27C0-6A9C-1D22-589841C6C443}"/>
              </a:ext>
            </a:extLst>
          </p:cNvPr>
          <p:cNvSpPr txBox="1"/>
          <p:nvPr/>
        </p:nvSpPr>
        <p:spPr>
          <a:xfrm>
            <a:off x="2730389" y="2775955"/>
            <a:ext cx="6595110" cy="707886"/>
          </a:xfrm>
          <a:prstGeom prst="rect">
            <a:avLst/>
          </a:prstGeom>
          <a:noFill/>
        </p:spPr>
        <p:txBody>
          <a:bodyPr wrap="square" rtlCol="0">
            <a:spAutoFit/>
          </a:bodyPr>
          <a:lstStyle/>
          <a:p>
            <a:pPr algn="ctr"/>
            <a:r>
              <a:rPr lang="en-US" sz="4000" b="1" dirty="0">
                <a:latin typeface="Cambria" panose="02040503050406030204" pitchFamily="18" charset="0"/>
                <a:ea typeface="Cambria" panose="02040503050406030204" pitchFamily="18" charset="0"/>
              </a:rPr>
              <a:t>Questions and Answers</a:t>
            </a:r>
            <a:endParaRPr lang="en-IN" sz="4000" b="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4850230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3"/>
          </p:nvPr>
        </p:nvSpPr>
        <p:spPr/>
        <p:txBody>
          <a:bodyPr/>
          <a:lstStyle/>
          <a:p>
            <a:r>
              <a:rPr lang="en-US"/>
              <a:t>Dept. of CSE | GAT | 2025-26                                                                                                           CSEP23605</a:t>
            </a:r>
            <a:endParaRPr lang="en-IN" dirty="0"/>
          </a:p>
        </p:txBody>
      </p:sp>
      <p:sp>
        <p:nvSpPr>
          <p:cNvPr id="3" name="Slide Number Placeholder 2"/>
          <p:cNvSpPr>
            <a:spLocks noGrp="1"/>
          </p:cNvSpPr>
          <p:nvPr>
            <p:ph type="sldNum" sz="quarter" idx="4"/>
          </p:nvPr>
        </p:nvSpPr>
        <p:spPr/>
        <p:txBody>
          <a:bodyPr/>
          <a:lstStyle/>
          <a:p>
            <a:fld id="{FFAE6D68-FB99-4243-9CC1-93FAA8C005BC}" type="slidenum">
              <a:rPr lang="en-IN" smtClean="0"/>
              <a:pPr/>
              <a:t>17</a:t>
            </a:fld>
            <a:endParaRPr lang="en-IN"/>
          </a:p>
        </p:txBody>
      </p:sp>
      <p:sp>
        <p:nvSpPr>
          <p:cNvPr id="4" name="TextBox 3">
            <a:extLst>
              <a:ext uri="{FF2B5EF4-FFF2-40B4-BE49-F238E27FC236}">
                <a16:creationId xmlns:a16="http://schemas.microsoft.com/office/drawing/2014/main" id="{A2D65176-27C0-6A9C-1D22-589841C6C443}"/>
              </a:ext>
            </a:extLst>
          </p:cNvPr>
          <p:cNvSpPr txBox="1"/>
          <p:nvPr/>
        </p:nvSpPr>
        <p:spPr>
          <a:xfrm>
            <a:off x="2580264" y="2735011"/>
            <a:ext cx="6595110" cy="707886"/>
          </a:xfrm>
          <a:prstGeom prst="rect">
            <a:avLst/>
          </a:prstGeom>
          <a:noFill/>
        </p:spPr>
        <p:txBody>
          <a:bodyPr wrap="square" rtlCol="0">
            <a:spAutoFit/>
          </a:bodyPr>
          <a:lstStyle/>
          <a:p>
            <a:pPr algn="ctr"/>
            <a:r>
              <a:rPr lang="en-US" sz="4000" b="1" dirty="0">
                <a:latin typeface="Cambria" panose="02040503050406030204" pitchFamily="18" charset="0"/>
                <a:ea typeface="Cambria" panose="02040503050406030204" pitchFamily="18" charset="0"/>
              </a:rPr>
              <a:t>Thank You</a:t>
            </a:r>
            <a:endParaRPr lang="en-IN" sz="4000" b="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9384833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260</TotalTime>
  <Words>1967</Words>
  <Application>Microsoft Office PowerPoint</Application>
  <PresentationFormat>Widescreen</PresentationFormat>
  <Paragraphs>202</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Calibri Light</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Shakthivel K</cp:lastModifiedBy>
  <cp:revision>37</cp:revision>
  <dcterms:created xsi:type="dcterms:W3CDTF">2026-02-18T04:52:12Z</dcterms:created>
  <dcterms:modified xsi:type="dcterms:W3CDTF">2026-02-27T07:34:28Z</dcterms:modified>
</cp:coreProperties>
</file>