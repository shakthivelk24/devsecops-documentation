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3891200" cy="21945600"/>
  <p:notesSz cx="30275213" cy="213883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9E4F"/>
    <a:srgbClr val="D00068"/>
    <a:srgbClr val="0066FF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0" d="100"/>
          <a:sy n="20" d="100"/>
        </p:scale>
        <p:origin x="49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803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12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/>
          <p:nvPr/>
        </p:nvSpPr>
        <p:spPr>
          <a:xfrm>
            <a:off x="0" y="0"/>
            <a:ext cx="43891200" cy="4754880"/>
          </a:xfrm>
          <a:prstGeom prst="rect">
            <a:avLst/>
          </a:prstGeom>
          <a:gradFill rotWithShape="1">
            <a:gsLst>
              <a:gs pos="0">
                <a:srgbClr val="0B2A6F"/>
              </a:gs>
              <a:gs pos="100000">
                <a:srgbClr val="0A8FA8"/>
              </a:gs>
            </a:gsLst>
            <a:lin ang="0" scaled="0"/>
          </a:gradFill>
          <a:ln w="12700">
            <a:noFill/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College name"/>
          <p:cNvSpPr txBox="1"/>
          <p:nvPr/>
        </p:nvSpPr>
        <p:spPr>
          <a:xfrm>
            <a:off x="10972800" y="354002"/>
            <a:ext cx="21945600" cy="16629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6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GLOBAL ACADEMY OF TECHNOLOGY</a:t>
            </a:r>
          </a:p>
          <a:p>
            <a:pPr algn="ctr"/>
            <a:r>
              <a:rPr lang="en-US" sz="2400" b="1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An Autonomous Institute, Approved by AICTE, New Delhi, Affiliated to VTU </a:t>
            </a:r>
            <a:endParaRPr lang="en-IN" sz="24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4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Ideal Homes Township, </a:t>
            </a:r>
            <a:r>
              <a:rPr lang="en-US" sz="2400" dirty="0" err="1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Rajarajeshwari</a:t>
            </a:r>
            <a:r>
              <a:rPr lang="en-US" sz="24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 Nagar, Bengaluru – 560 098</a:t>
            </a:r>
            <a:endParaRPr lang="en-IN" sz="24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endParaRPr lang="en-IN" sz="1800" dirty="0">
              <a:solidFill>
                <a:schemeClr val="bg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Department"/>
          <p:cNvSpPr txBox="1"/>
          <p:nvPr/>
        </p:nvSpPr>
        <p:spPr>
          <a:xfrm>
            <a:off x="10972800" y="2326495"/>
            <a:ext cx="2194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E082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Department of Computer Science and Engineering</a:t>
            </a:r>
          </a:p>
        </p:txBody>
      </p:sp>
      <p:sp>
        <p:nvSpPr>
          <p:cNvPr id="10" name="Project title"/>
          <p:cNvSpPr txBox="1"/>
          <p:nvPr/>
        </p:nvSpPr>
        <p:spPr>
          <a:xfrm>
            <a:off x="11732913" y="3278773"/>
            <a:ext cx="2194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52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Secure CI/CD Pipeline with Integrated Security Testing </a:t>
            </a:r>
            <a:endParaRPr lang="en-US"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1" name="Group name"/>
          <p:cNvSpPr txBox="1"/>
          <p:nvPr/>
        </p:nvSpPr>
        <p:spPr>
          <a:xfrm>
            <a:off x="38535428" y="3776472"/>
            <a:ext cx="3831771" cy="8869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Group No.: G14</a:t>
            </a:r>
            <a:endParaRPr lang="en-US" sz="3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303520"/>
            <a:ext cx="12070080" cy="731520"/>
          </a:xfrm>
          <a:prstGeom prst="rect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005840" y="5303520"/>
            <a:ext cx="11612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OBJECTIVES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Objectives text"/>
          <p:cNvSpPr txBox="1"/>
          <p:nvPr/>
        </p:nvSpPr>
        <p:spPr>
          <a:xfrm>
            <a:off x="548640" y="6126480"/>
            <a:ext cx="12070080" cy="5029200"/>
          </a:xfrm>
          <a:prstGeom prst="rect">
            <a:avLst/>
          </a:prstGeom>
          <a:solidFill>
            <a:srgbClr val="FFF3E0"/>
          </a:solidFill>
          <a:ln w="31750">
            <a:solidFill>
              <a:srgbClr val="F57C00"/>
            </a:solidFill>
          </a:ln>
        </p:spPr>
        <p:txBody>
          <a:bodyPr wrap="square" lIns="152400" tIns="203200" rIns="203200" bIns="152400" rtlCol="0" anchor="t"/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design and implement a secure CI/CD pipeline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integrate security testing tools into DevOps workflows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identify and mitigate vulnerabilities at early stages of development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reduce security risks and remediation costs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200" dirty="0">
                <a:latin typeface="Cambria" panose="02040503050406030204" pitchFamily="18" charset="0"/>
                <a:ea typeface="Cambria" panose="02040503050406030204" pitchFamily="18" charset="0"/>
              </a:rPr>
              <a:t>To ensure faster and secure software delivery </a:t>
            </a:r>
            <a:endParaRPr lang="en-IN" sz="32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>
              <a:spcAft>
                <a:spcPts val="1200"/>
              </a:spcAft>
              <a:buSzPct val="100000"/>
            </a:pPr>
            <a:endParaRPr lang="en-US" sz="2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3167360" y="5303520"/>
            <a:ext cx="18653760" cy="7315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1316736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3624560" y="5303520"/>
            <a:ext cx="1819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SYSTEM  Overview 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9" name="Architecture placeholder"/>
          <p:cNvSpPr/>
          <p:nvPr/>
        </p:nvSpPr>
        <p:spPr>
          <a:xfrm>
            <a:off x="13167360" y="6126480"/>
            <a:ext cx="18653760" cy="15179040"/>
          </a:xfrm>
          <a:prstGeom prst="rect">
            <a:avLst/>
          </a:prstGeom>
          <a:solidFill>
            <a:srgbClr val="E3F0FF"/>
          </a:solidFill>
          <a:ln w="31750">
            <a:solidFill>
              <a:srgbClr val="1565C0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13167360" y="6126480"/>
            <a:ext cx="18653760" cy="1517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2369760" y="5303520"/>
            <a:ext cx="10972800" cy="731520"/>
          </a:xfrm>
          <a:prstGeom prst="rect">
            <a:avLst/>
          </a:prstGeom>
          <a:solidFill>
            <a:srgbClr val="2E9E4F"/>
          </a:solidFill>
          <a:ln w="12700">
            <a:solidFill>
              <a:srgbClr val="2E9E4F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32369760" y="530352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32826960" y="5303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RESULTS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Result 1 placeholder"/>
          <p:cNvSpPr/>
          <p:nvPr/>
        </p:nvSpPr>
        <p:spPr>
          <a:xfrm>
            <a:off x="32369760" y="6126480"/>
            <a:ext cx="10972800" cy="4389120"/>
          </a:xfrm>
          <a:prstGeom prst="rect">
            <a:avLst/>
          </a:prstGeom>
          <a:solidFill>
            <a:srgbClr val="E8F5E9"/>
          </a:solidFill>
          <a:ln w="31750">
            <a:solidFill>
              <a:srgbClr val="2E9E4F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32369760" y="612648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2369760" y="105613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1: 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Jenkins </a:t>
            </a:r>
            <a:r>
              <a:rPr lang="en-IN" b="1" i="1" dirty="0" err="1">
                <a:latin typeface="Cambria" panose="02040503050406030204" pitchFamily="18" charset="0"/>
                <a:ea typeface="Cambria" panose="02040503050406030204" pitchFamily="18" charset="0"/>
              </a:rPr>
              <a:t>DevSecOps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 Pipeline showing successful execution of CI/CD stages</a:t>
            </a:r>
            <a:endParaRPr lang="en-US" sz="1800" b="1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7" name="Result 2 placeholder"/>
          <p:cNvSpPr/>
          <p:nvPr/>
        </p:nvSpPr>
        <p:spPr>
          <a:xfrm>
            <a:off x="32369760" y="11292840"/>
            <a:ext cx="10972800" cy="4389120"/>
          </a:xfrm>
          <a:prstGeom prst="rect">
            <a:avLst/>
          </a:prstGeom>
          <a:solidFill>
            <a:srgbClr val="E0F7FA"/>
          </a:solidFill>
          <a:ln w="31750">
            <a:solidFill>
              <a:srgbClr val="0A8FA8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32369760" y="1129284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32402417" y="15760337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2: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SonarQube dashboard showing a passed Quality Gate with no new issues or security hotspots.</a:t>
            </a:r>
            <a:endParaRPr lang="en-US" sz="1800" b="1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0" name="Result 3 placeholder"/>
          <p:cNvSpPr/>
          <p:nvPr/>
        </p:nvSpPr>
        <p:spPr>
          <a:xfrm>
            <a:off x="32369760" y="16459200"/>
            <a:ext cx="10972800" cy="4389120"/>
          </a:xfrm>
          <a:prstGeom prst="rect">
            <a:avLst/>
          </a:prstGeom>
          <a:solidFill>
            <a:srgbClr val="F1F8E9"/>
          </a:solidFill>
          <a:ln w="31750">
            <a:solidFill>
              <a:srgbClr val="7CB342"/>
            </a:solidFill>
            <a:prstDash val="dash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2369760" y="16459200"/>
            <a:ext cx="1097280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32369760" y="20894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800" b="1" i="1" dirty="0"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Fig 3: </a:t>
            </a:r>
            <a:r>
              <a:rPr lang="en-IN" b="1" i="1" dirty="0">
                <a:latin typeface="Cambria" panose="02040503050406030204" pitchFamily="18" charset="0"/>
                <a:ea typeface="Cambria" panose="02040503050406030204" pitchFamily="18" charset="0"/>
              </a:rPr>
              <a:t>Grafana dashboard showing application requests, response time, and server error metrics.</a:t>
            </a:r>
            <a:endParaRPr lang="en-IN" i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11521440"/>
            <a:ext cx="12070080" cy="731520"/>
          </a:xfrm>
          <a:prstGeom prst="rect">
            <a:avLst/>
          </a:prstGeom>
          <a:solidFill>
            <a:srgbClr val="7B2CBF"/>
          </a:solidFill>
          <a:ln w="12700">
            <a:solidFill>
              <a:srgbClr val="7B2CBF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548640" y="11521440"/>
            <a:ext cx="320040" cy="731520"/>
          </a:xfrm>
          <a:prstGeom prst="rect">
            <a:avLst/>
          </a:prstGeom>
          <a:solidFill>
            <a:srgbClr val="FFC845"/>
          </a:solidFill>
          <a:ln w="12700">
            <a:solidFill>
              <a:srgbClr val="FFC845"/>
            </a:solidFill>
            <a:prstDash val="solid"/>
          </a:ln>
        </p:spPr>
        <p:txBody>
          <a:bodyPr/>
          <a:lstStyle/>
          <a:p>
            <a:endParaRPr lang="en-IN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1005840" y="11521440"/>
            <a:ext cx="11612880" cy="731520"/>
          </a:xfrm>
          <a:prstGeom prst="rect">
            <a:avLst/>
          </a:prstGeom>
          <a:solidFill>
            <a:srgbClr val="D00068"/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PROJECT TEAM</a:t>
            </a:r>
            <a:endParaRPr lang="en-US" sz="3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aphicFrame>
        <p:nvGraphicFramePr>
          <p:cNvPr id="36" name="Stud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0639522"/>
              </p:ext>
            </p:extLst>
          </p:nvPr>
        </p:nvGraphicFramePr>
        <p:xfrm>
          <a:off x="548640" y="12344400"/>
          <a:ext cx="12070080" cy="566928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40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USN</a:t>
                      </a: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chemeClr val="bg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Student Name</a:t>
                      </a:r>
                      <a:endParaRPr lang="en-US" sz="2400" dirty="0">
                        <a:solidFill>
                          <a:schemeClr val="bg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006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1GA23CS137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Revanth Kumar T  S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1GA23CS148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Sanket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1GA23CS151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libri" charset="0"/>
                        </a:rPr>
                        <a:t>Shakthi Vel K</a:t>
                      </a: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8016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4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1GA23CS193</a:t>
                      </a:r>
                      <a:endParaRPr kumimoji="0" lang="en-US" sz="2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Vignesh P</a:t>
                      </a:r>
                      <a:endParaRPr lang="en-US" sz="2400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7" name="Faculty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1520044"/>
              </p:ext>
            </p:extLst>
          </p:nvPr>
        </p:nvGraphicFramePr>
        <p:xfrm>
          <a:off x="548641" y="18242280"/>
          <a:ext cx="12070079" cy="2395728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42878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821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Role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2E9E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Name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>
                    <a:solidFill>
                      <a:srgbClr val="2E9E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Project Guide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Prof. </a:t>
                      </a:r>
                      <a:r>
                        <a:rPr lang="en-GB" sz="2400" kern="1200" dirty="0">
                          <a:solidFill>
                            <a:schemeClr val="dk1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+mn-cs"/>
                        </a:rPr>
                        <a:t>Sameena H S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Project Coordinator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IN" sz="2400" dirty="0"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Dr. Shruthi G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89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b="1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Head of Department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400" dirty="0">
                          <a:solidFill>
                            <a:srgbClr val="1A1A1A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</a:rPr>
                        <a:t>Dr. R Rajkumar</a:t>
                      </a:r>
                      <a:endParaRPr lang="en-US" sz="2400" dirty="0">
                        <a:latin typeface="Cambria" panose="02040503050406030204" pitchFamily="18" charset="0"/>
                        <a:ea typeface="Cambria" panose="02040503050406030204" pitchFamily="18" charset="0"/>
                        <a:cs typeface="Calibri" charset="0"/>
                      </a:endParaRPr>
                    </a:p>
                  </a:txBody>
                  <a:tcPr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8" name="Text 34"/>
          <p:cNvSpPr txBox="1"/>
          <p:nvPr/>
        </p:nvSpPr>
        <p:spPr>
          <a:xfrm>
            <a:off x="548640" y="20912328"/>
            <a:ext cx="1207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400" b="1" dirty="0">
                <a:solidFill>
                  <a:srgbClr val="7B2CBF"/>
                </a:solidFill>
                <a:latin typeface="Cambria" panose="02040503050406030204" pitchFamily="18" charset="0"/>
                <a:ea typeface="Cambria" panose="02040503050406030204" pitchFamily="18" charset="0"/>
                <a:cs typeface="Calibri" pitchFamily="34" charset="-120"/>
              </a:rPr>
              <a:t>Academic Year: 2026–2027</a:t>
            </a:r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39" name="Picture 38" descr="VAIMAANIK 2025 | Aero Fest">
            <a:extLst>
              <a:ext uri="{FF2B5EF4-FFF2-40B4-BE49-F238E27FC236}">
                <a16:creationId xmlns:a16="http://schemas.microsoft.com/office/drawing/2014/main" id="{24913A80-46AA-67F0-E5F1-D12644551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720710"/>
            <a:ext cx="3694176" cy="2633472"/>
          </a:xfrm>
          <a:prstGeom prst="rect">
            <a:avLst/>
          </a:prstGeom>
        </p:spPr>
      </p:pic>
      <p:pic>
        <p:nvPicPr>
          <p:cNvPr id="41" name="Picture 40" descr="Visvesvaraya Technological University - Wikipedia">
            <a:extLst>
              <a:ext uri="{FF2B5EF4-FFF2-40B4-BE49-F238E27FC236}">
                <a16:creationId xmlns:a16="http://schemas.microsoft.com/office/drawing/2014/main" id="{B0354F43-126F-621C-F39F-2FA9867E1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60800" y="535199"/>
            <a:ext cx="2642616" cy="2642616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0" y="4754880"/>
            <a:ext cx="7315200" cy="201168"/>
          </a:xfrm>
          <a:prstGeom prst="rect">
            <a:avLst/>
          </a:prstGeom>
          <a:solidFill>
            <a:srgbClr val="FFC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7315200" y="4754880"/>
            <a:ext cx="7315200" cy="201168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14630400" y="4754880"/>
            <a:ext cx="7315200" cy="201168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1945600" y="4754880"/>
            <a:ext cx="7315200" cy="201168"/>
          </a:xfrm>
          <a:prstGeom prst="rect">
            <a:avLst/>
          </a:prstGeom>
          <a:solidFill>
            <a:srgbClr val="7B2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29260800" y="4754880"/>
            <a:ext cx="7315200" cy="201168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6576000" y="4754880"/>
            <a:ext cx="7315200" cy="201168"/>
          </a:xfrm>
          <a:prstGeom prst="rect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0" y="21771864"/>
            <a:ext cx="7315200" cy="173736"/>
          </a:xfrm>
          <a:prstGeom prst="rect">
            <a:avLst/>
          </a:prstGeom>
          <a:solidFill>
            <a:srgbClr val="FFC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7315200" y="21771864"/>
            <a:ext cx="7315200" cy="173736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14630400" y="21771864"/>
            <a:ext cx="7315200" cy="173736"/>
          </a:xfrm>
          <a:prstGeom prst="rect">
            <a:avLst/>
          </a:prstGeom>
          <a:solidFill>
            <a:srgbClr val="E91E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21945600" y="21771864"/>
            <a:ext cx="7315200" cy="173736"/>
          </a:xfrm>
          <a:prstGeom prst="rect">
            <a:avLst/>
          </a:prstGeom>
          <a:solidFill>
            <a:srgbClr val="7B2C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29260800" y="21771864"/>
            <a:ext cx="7315200" cy="173736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36576000" y="21771864"/>
            <a:ext cx="7315200" cy="173736"/>
          </a:xfrm>
          <a:prstGeom prst="rect">
            <a:avLst/>
          </a:prstGeom>
          <a:solidFill>
            <a:srgbClr val="2E9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8D4C07-988A-AC02-892C-7FCDE8AA2534}"/>
              </a:ext>
            </a:extLst>
          </p:cNvPr>
          <p:cNvSpPr/>
          <p:nvPr/>
        </p:nvSpPr>
        <p:spPr>
          <a:xfrm>
            <a:off x="38535429" y="690315"/>
            <a:ext cx="3831771" cy="274782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SDG Logo</a:t>
            </a:r>
            <a:endParaRPr lang="en-IN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65AA85D1-4306-49BE-B8FF-AC3604FF115F}"/>
              </a:ext>
            </a:extLst>
          </p:cNvPr>
          <p:cNvGrpSpPr/>
          <p:nvPr/>
        </p:nvGrpSpPr>
        <p:grpSpPr>
          <a:xfrm>
            <a:off x="-152400" y="801846"/>
            <a:ext cx="9311205" cy="3821269"/>
            <a:chOff x="350520" y="793185"/>
            <a:chExt cx="9311205" cy="3821269"/>
          </a:xfrm>
        </p:grpSpPr>
        <p:sp>
          <p:nvSpPr>
            <p:cNvPr id="61" name="Expo title"/>
            <p:cNvSpPr txBox="1"/>
            <p:nvPr/>
          </p:nvSpPr>
          <p:spPr>
            <a:xfrm>
              <a:off x="609165" y="2532281"/>
              <a:ext cx="9052560" cy="1503101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ctr"/>
              <a:r>
                <a:rPr lang="en-US" sz="5400" b="1" dirty="0">
                  <a:solidFill>
                    <a:srgbClr val="FFFFFF"/>
                  </a:solidFill>
                  <a:latin typeface="Cambria"/>
                  <a:ea typeface="Cambria"/>
                </a:rPr>
                <a:t>ANVESHANAM – 2026</a:t>
              </a:r>
            </a:p>
            <a:p>
              <a:pPr algn="ctr"/>
              <a:r>
                <a:rPr lang="en-US" sz="2400" dirty="0">
                  <a:solidFill>
                    <a:srgbClr val="FFFFFF"/>
                  </a:solidFill>
                  <a:latin typeface="Cambria"/>
                  <a:ea typeface="Cambria"/>
                </a:rPr>
                <a:t>                                                                            </a:t>
              </a:r>
              <a:r>
                <a:rPr lang="en-US" sz="2000" b="1" dirty="0">
                  <a:solidFill>
                    <a:srgbClr val="FFFFFF"/>
                  </a:solidFill>
                  <a:latin typeface="Cambria"/>
                  <a:ea typeface="Cambria"/>
                </a:rPr>
                <a:t>A Capstone Project Exhibition</a:t>
              </a:r>
              <a:endParaRPr lang="en-US" sz="2400" b="1" dirty="0">
                <a:solidFill>
                  <a:srgbClr val="FFFFFF"/>
                </a:solidFill>
                <a:latin typeface="Cambria"/>
                <a:ea typeface="Cambria"/>
              </a:endParaRPr>
            </a:p>
          </p:txBody>
        </p:sp>
        <p:sp>
          <p:nvSpPr>
            <p:cNvPr id="62" name="Expo tagline"/>
            <p:cNvSpPr txBox="1"/>
            <p:nvPr/>
          </p:nvSpPr>
          <p:spPr>
            <a:xfrm>
              <a:off x="350520" y="4020094"/>
              <a:ext cx="9052560" cy="594360"/>
            </a:xfrm>
            <a:prstGeom prst="rect">
              <a:avLst/>
            </a:prstGeom>
            <a:noFill/>
          </p:spPr>
          <p:txBody>
            <a:bodyPr wrap="square" rtlCol="0" anchor="ctr"/>
            <a:lstStyle/>
            <a:p>
              <a:pPr algn="ctr"/>
              <a:r>
                <a:rPr lang="en-US" sz="2400" b="1" dirty="0">
                  <a:solidFill>
                    <a:srgbClr val="FFE08A"/>
                  </a:solidFill>
                  <a:latin typeface="Cambria"/>
                  <a:ea typeface="Cambria"/>
                </a:rPr>
                <a:t>Innovate  •  Build  •  Showcase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1A45570-88C0-455C-9543-A0759360FD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24000" y="793185"/>
              <a:ext cx="6966567" cy="1804292"/>
            </a:xfrm>
            <a:prstGeom prst="rect">
              <a:avLst/>
            </a:prstGeom>
          </p:spPr>
        </p:pic>
      </p:grpSp>
      <p:sp>
        <p:nvSpPr>
          <p:cNvPr id="70" name="Student photo 1" descr="Placeholder for student 1 photo"/>
          <p:cNvSpPr/>
          <p:nvPr/>
        </p:nvSpPr>
        <p:spPr>
          <a:xfrm>
            <a:off x="665923" y="12938760"/>
            <a:ext cx="1610138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sp>
        <p:nvSpPr>
          <p:cNvPr id="71" name="Student photo 2" descr="Placeholder for student 2 photo"/>
          <p:cNvSpPr/>
          <p:nvPr/>
        </p:nvSpPr>
        <p:spPr>
          <a:xfrm>
            <a:off x="665923" y="14218920"/>
            <a:ext cx="1610137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sp>
        <p:nvSpPr>
          <p:cNvPr id="72" name="Student photo 3" descr="Placeholder for student 3 photo"/>
          <p:cNvSpPr/>
          <p:nvPr/>
        </p:nvSpPr>
        <p:spPr>
          <a:xfrm>
            <a:off x="665923" y="15499080"/>
            <a:ext cx="1610135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sp>
        <p:nvSpPr>
          <p:cNvPr id="73" name="Student photo 4" descr="Placeholder for student 4 photo"/>
          <p:cNvSpPr/>
          <p:nvPr/>
        </p:nvSpPr>
        <p:spPr>
          <a:xfrm>
            <a:off x="665923" y="16779240"/>
            <a:ext cx="1610137" cy="1188720"/>
          </a:xfrm>
          <a:prstGeom prst="rect">
            <a:avLst/>
          </a:prstGeom>
          <a:solidFill>
            <a:srgbClr val="FFFFFF"/>
          </a:solidFill>
          <a:ln w="19050">
            <a:solidFill>
              <a:srgbClr val="7F7F7F"/>
            </a:solidFill>
            <a:prstDash val="dash"/>
          </a:ln>
        </p:spPr>
        <p:txBody>
          <a:bodyPr lIns="0" tIns="0" rIns="0" bIns="0" anchor="ctr"/>
          <a:lstStyle/>
          <a:p>
            <a:pPr algn="ctr"/>
            <a:r>
              <a:rPr lang="en-US" sz="1400" dirty="0">
                <a:solidFill>
                  <a:srgbClr val="7F7F7F"/>
                </a:solidFill>
                <a:latin typeface="Cambria"/>
                <a:ea typeface="Cambria"/>
              </a:rPr>
              <a:t>Photo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C99BD857-3971-FF60-5050-962BBF5311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535429" y="582244"/>
            <a:ext cx="3984172" cy="2891302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A06B882E-E76A-EFDA-2707-A6A07E33D1E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91457" y="6945459"/>
            <a:ext cx="12427008" cy="6309705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70172DFB-BFAB-6555-0B27-901E5392D357}"/>
              </a:ext>
            </a:extLst>
          </p:cNvPr>
          <p:cNvSpPr txBox="1"/>
          <p:nvPr/>
        </p:nvSpPr>
        <p:spPr>
          <a:xfrm>
            <a:off x="18165592" y="6090124"/>
            <a:ext cx="974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TRADITIONAL DEVOPS  vs SECURE DEVOPS 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3011E2-17FE-AB8C-7A30-01893437DC6E}"/>
              </a:ext>
            </a:extLst>
          </p:cNvPr>
          <p:cNvSpPr txBox="1"/>
          <p:nvPr/>
        </p:nvSpPr>
        <p:spPr>
          <a:xfrm>
            <a:off x="17779273" y="13956577"/>
            <a:ext cx="97434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SYSTEM</a:t>
            </a:r>
            <a:r>
              <a:rPr lang="en-IN" sz="3200" b="1" dirty="0">
                <a:latin typeface="+mj-lt"/>
              </a:rPr>
              <a:t> </a:t>
            </a:r>
            <a:r>
              <a:rPr lang="en-IN" sz="3200" b="1" dirty="0">
                <a:latin typeface="Cambria" panose="02040503050406030204" pitchFamily="18" charset="0"/>
                <a:ea typeface="Cambria" panose="02040503050406030204" pitchFamily="18" charset="0"/>
              </a:rPr>
              <a:t>ARCHITECTURE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0BDCC574-CC7A-0DC2-3CFE-D48DF14B4F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353506" y="14901578"/>
            <a:ext cx="12311743" cy="570430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DC9B1112-387B-6CE5-23C5-F271253BF369}"/>
              </a:ext>
            </a:extLst>
          </p:cNvPr>
          <p:cNvSpPr txBox="1"/>
          <p:nvPr/>
        </p:nvSpPr>
        <p:spPr>
          <a:xfrm>
            <a:off x="25718465" y="14857594"/>
            <a:ext cx="6102656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The system architecture represents the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end-to-end Secure DevOps pipeline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. A developer pushes code to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GitHub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, which triggers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Jenkins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to automate the pipeline;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SonarQube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performs code analysis,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Docker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builds the container, </a:t>
            </a:r>
            <a:r>
              <a:rPr lang="en-IN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Trivy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scans it for vulnerabilities,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Kubernetes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deploys the application,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OWASP ZAP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performs dynamic security testing, and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Prometheus + Grafana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provide continuous monitoring and visualization.</a:t>
            </a:r>
          </a:p>
          <a:p>
            <a:pPr algn="just"/>
            <a:endParaRPr lang="en-IN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GitHub → Jenkins → SonarQube → Docker → </a:t>
            </a:r>
            <a:r>
              <a:rPr lang="en-IN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Trivy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 → Kubernetes → OWASP ZAP → Prometheus → Grafana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4E339B3-71D7-E559-E0A8-4CB4587278FF}"/>
              </a:ext>
            </a:extLst>
          </p:cNvPr>
          <p:cNvSpPr txBox="1"/>
          <p:nvPr/>
        </p:nvSpPr>
        <p:spPr>
          <a:xfrm>
            <a:off x="25718465" y="6965197"/>
            <a:ext cx="5978558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Traditional DevOps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focuses mainly on rapid development and deployment, with security checks performed late or separately. This can lead to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late vulnerability detection, rework, deployment delays, and higher security risks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algn="just"/>
            <a:endParaRPr lang="en-IN" sz="24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Secure DevOps (</a:t>
            </a:r>
            <a:r>
              <a:rPr lang="en-IN" sz="2400" b="1" dirty="0" err="1">
                <a:latin typeface="Cambria" panose="02040503050406030204" pitchFamily="18" charset="0"/>
                <a:ea typeface="Cambria" panose="02040503050406030204" pitchFamily="18" charset="0"/>
              </a:rPr>
              <a:t>DevSecOps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)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 integrates security throughout the CI/CD pipeline using automated security checks. This enables </a:t>
            </a:r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early vulnerability detection, fewer production issues, smoother deployments, and more secure applications</a:t>
            </a:r>
            <a:r>
              <a:rPr lang="en-IN" sz="24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algn="just"/>
            <a:endParaRPr lang="en-IN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81A7D7F3-A912-8C4F-ECE5-99E4ED7F8C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63229" y="6102640"/>
            <a:ext cx="10972800" cy="4412960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4E29395-930B-9D67-3DF2-1DC4CDB1F61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363229" y="11323101"/>
            <a:ext cx="10972800" cy="4392551"/>
          </a:xfrm>
          <a:prstGeom prst="rect">
            <a:avLst/>
          </a:prstGeom>
        </p:spPr>
      </p:pic>
      <p:pic>
        <p:nvPicPr>
          <p:cNvPr id="81" name="Picture 80">
            <a:extLst>
              <a:ext uri="{FF2B5EF4-FFF2-40B4-BE49-F238E27FC236}">
                <a16:creationId xmlns:a16="http://schemas.microsoft.com/office/drawing/2014/main" id="{EACAA6EA-DFFE-2679-BC56-4E4934B6F47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405447" y="16459200"/>
            <a:ext cx="10969769" cy="43876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70511EF-5094-35C7-4783-94A7D131DB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7281" y="14173200"/>
            <a:ext cx="1727417" cy="128015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369</Words>
  <Application>Microsoft Office PowerPoint</Application>
  <PresentationFormat>Custom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 Light</vt:lpstr>
      <vt:lpstr>Cambria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Template</dc:title>
  <dc:subject>PptxGenJS Presentation</dc:subject>
  <dc:creator>PptxGenJS</dc:creator>
  <cp:lastModifiedBy>sanketh kulkarni</cp:lastModifiedBy>
  <cp:revision>19</cp:revision>
  <dcterms:created xsi:type="dcterms:W3CDTF">2026-10-03T01:49:47Z</dcterms:created>
  <dcterms:modified xsi:type="dcterms:W3CDTF">2026-10-08T06:11:32Z</dcterms:modified>
</cp:coreProperties>
</file>