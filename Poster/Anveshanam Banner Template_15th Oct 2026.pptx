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3891200" cy="21945600"/>
  <p:notesSz cx="30275213" cy="213883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4F"/>
    <a:srgbClr val="D00068"/>
    <a:srgbClr val="0066FF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" d="100"/>
          <a:sy n="20" d="100"/>
        </p:scale>
        <p:origin x="4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80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43891200" cy="4754880"/>
          </a:xfrm>
          <a:prstGeom prst="rect">
            <a:avLst/>
          </a:prstGeom>
          <a:gradFill rotWithShape="1">
            <a:gsLst>
              <a:gs pos="0">
                <a:srgbClr val="0B2A6F"/>
              </a:gs>
              <a:gs pos="100000">
                <a:srgbClr val="0A8FA8"/>
              </a:gs>
            </a:gsLst>
            <a:lin ang="0" scaled="0"/>
          </a:gradFill>
          <a:ln w="12700">
            <a:noFill/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College name"/>
          <p:cNvSpPr txBox="1"/>
          <p:nvPr/>
        </p:nvSpPr>
        <p:spPr>
          <a:xfrm>
            <a:off x="10972800" y="354002"/>
            <a:ext cx="21945600" cy="16629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GLOBAL ACADEMY OF TECHNOLOGY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An Autonomous Institute, Approved by AICTE, New Delhi, Affiliated to VTU </a:t>
            </a:r>
            <a:endParaRPr lang="en-IN" sz="24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4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Ideal Homes Township, </a:t>
            </a:r>
            <a:r>
              <a:rPr lang="en-US" sz="2400" dirty="0" err="1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Rajarajeshwari</a:t>
            </a:r>
            <a:r>
              <a:rPr lang="en-US" sz="24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Nagar, Bengaluru – 560 098</a:t>
            </a:r>
            <a:endParaRPr lang="en-IN" sz="24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endParaRPr lang="en-IN" sz="18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Department"/>
          <p:cNvSpPr txBox="1"/>
          <p:nvPr/>
        </p:nvSpPr>
        <p:spPr>
          <a:xfrm>
            <a:off x="10972800" y="2326495"/>
            <a:ext cx="2194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E082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Department of Computer Science and Engineering</a:t>
            </a:r>
          </a:p>
        </p:txBody>
      </p:sp>
      <p:sp>
        <p:nvSpPr>
          <p:cNvPr id="10" name="Project title"/>
          <p:cNvSpPr txBox="1"/>
          <p:nvPr/>
        </p:nvSpPr>
        <p:spPr>
          <a:xfrm>
            <a:off x="11732913" y="3278773"/>
            <a:ext cx="2194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Secure CI/CD Pipeline with Integrated Security Testing </a:t>
            </a:r>
            <a:endParaRPr lang="en-US"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Group name"/>
          <p:cNvSpPr txBox="1"/>
          <p:nvPr/>
        </p:nvSpPr>
        <p:spPr>
          <a:xfrm>
            <a:off x="38535428" y="3776472"/>
            <a:ext cx="3831771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Group No.: G14</a:t>
            </a:r>
            <a:endParaRPr lang="en-US" sz="3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12070080" cy="7315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005840" y="5303520"/>
            <a:ext cx="1161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OBJECTIVES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Objectives text"/>
          <p:cNvSpPr txBox="1"/>
          <p:nvPr/>
        </p:nvSpPr>
        <p:spPr>
          <a:xfrm>
            <a:off x="548640" y="6126480"/>
            <a:ext cx="12070080" cy="5029200"/>
          </a:xfrm>
          <a:prstGeom prst="rect">
            <a:avLst/>
          </a:prstGeom>
          <a:solidFill>
            <a:srgbClr val="FFF3E0"/>
          </a:solidFill>
          <a:ln w="31750">
            <a:solidFill>
              <a:srgbClr val="F57C00"/>
            </a:solidFill>
          </a:ln>
        </p:spPr>
        <p:txBody>
          <a:bodyPr wrap="square" lIns="152400" tIns="203200" rIns="203200" bIns="152400" rtlCol="0" anchor="t"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design and implement a secure CI/CD pipeline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integrate security testing tools into DevOps workflows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identify and mitigate vulnerabilities at early stages of development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reduce security risks and remediation costs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ensure faster and secure software delivery </a:t>
            </a:r>
            <a:endParaRPr lang="en-IN" sz="3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spcAft>
                <a:spcPts val="1200"/>
              </a:spcAft>
              <a:buSzPct val="100000"/>
            </a:pPr>
            <a:endParaRPr lang="en-US" sz="2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3167360" y="5303520"/>
            <a:ext cx="18653760" cy="7315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316736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3624560" y="5303520"/>
            <a:ext cx="1819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SYSTEM  Overview 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Architecture placeholder"/>
          <p:cNvSpPr/>
          <p:nvPr/>
        </p:nvSpPr>
        <p:spPr>
          <a:xfrm>
            <a:off x="13167360" y="6126480"/>
            <a:ext cx="18653760" cy="15179040"/>
          </a:xfrm>
          <a:prstGeom prst="rect">
            <a:avLst/>
          </a:prstGeom>
          <a:solidFill>
            <a:srgbClr val="E3F0FF"/>
          </a:solidFill>
          <a:ln w="31750">
            <a:noFill/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3167360" y="6126480"/>
            <a:ext cx="18653760" cy="15179040"/>
          </a:xfrm>
          <a:prstGeom prst="rect">
            <a:avLst/>
          </a:prstGeom>
          <a:noFill/>
          <a:ln>
            <a:noFill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 anchor="ctr"/>
          <a:lstStyle/>
          <a:p>
            <a:pPr marL="0" indent="0" algn="just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0" y="5303520"/>
            <a:ext cx="10972800" cy="731520"/>
          </a:xfrm>
          <a:prstGeom prst="rect">
            <a:avLst/>
          </a:prstGeom>
          <a:solidFill>
            <a:srgbClr val="2E9E4F"/>
          </a:solidFill>
          <a:ln w="12700">
            <a:solidFill>
              <a:srgbClr val="2E9E4F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36976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32826960" y="5303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RESULTS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Result 1 placeholder"/>
          <p:cNvSpPr/>
          <p:nvPr/>
        </p:nvSpPr>
        <p:spPr>
          <a:xfrm>
            <a:off x="32369760" y="6126480"/>
            <a:ext cx="10972800" cy="438912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0">
            <a:noFill/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31302960" y="7627870"/>
            <a:ext cx="10972800" cy="4389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2369760" y="10561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1: 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Jenkins </a:t>
            </a:r>
            <a:r>
              <a:rPr lang="en-IN" b="1" i="1" dirty="0" err="1">
                <a:latin typeface="Cambria" panose="02040503050406030204" pitchFamily="18" charset="0"/>
                <a:ea typeface="Cambria" panose="02040503050406030204" pitchFamily="18" charset="0"/>
              </a:rPr>
              <a:t>DevSecOps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 Pipeline showing successful execution of CI/CD stages</a:t>
            </a:r>
            <a:endParaRPr lang="en-US" sz="1800" b="1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Result 2 placeholder"/>
          <p:cNvSpPr/>
          <p:nvPr/>
        </p:nvSpPr>
        <p:spPr>
          <a:xfrm>
            <a:off x="32369760" y="11292840"/>
            <a:ext cx="10972800" cy="438912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0">
            <a:noFill/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31821120" y="14337792"/>
            <a:ext cx="10972800" cy="4389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32402417" y="15760337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2: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SonarQube dashboard showing a passed Quality Gate with no new issues or security hotspots.</a:t>
            </a:r>
            <a:endParaRPr lang="en-US" sz="1800" b="1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Result 3 placeholder"/>
          <p:cNvSpPr/>
          <p:nvPr/>
        </p:nvSpPr>
        <p:spPr>
          <a:xfrm>
            <a:off x="32369760" y="16459200"/>
            <a:ext cx="10972800" cy="4389120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0">
            <a:noFill/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0521916" y="16572847"/>
            <a:ext cx="10972800" cy="4389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2369760" y="20894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3: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Grafana dashboard showing application requests, response time, and server error metrics.</a:t>
            </a:r>
            <a:endParaRPr lang="en-IN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11521440"/>
            <a:ext cx="12070080" cy="731520"/>
          </a:xfrm>
          <a:prstGeom prst="rect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1152144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005840" y="11521440"/>
            <a:ext cx="11612880" cy="731520"/>
          </a:xfrm>
          <a:prstGeom prst="rect">
            <a:avLst/>
          </a:prstGeom>
          <a:solidFill>
            <a:srgbClr val="D00068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PROJECT TEAM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36" name="Stud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639522"/>
              </p:ext>
            </p:extLst>
          </p:nvPr>
        </p:nvGraphicFramePr>
        <p:xfrm>
          <a:off x="548640" y="12344400"/>
          <a:ext cx="12070080" cy="566928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USN</a:t>
                      </a: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Student Name</a:t>
                      </a: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1GA23CS137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Revanth Kumar T  S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1GA23CS148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Sanket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1GA23CS151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libri" charset="0"/>
                        </a:rPr>
                        <a:t>Shakthi Vel K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1GA23CS193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Vignesh P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" name="Facult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520044"/>
              </p:ext>
            </p:extLst>
          </p:nvPr>
        </p:nvGraphicFramePr>
        <p:xfrm>
          <a:off x="548641" y="18242280"/>
          <a:ext cx="12070079" cy="2395728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4287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82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Role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2E9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Name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2E9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Project Guide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Prof. </a:t>
                      </a: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Sameena H S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Project Coordinator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24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Dr. Shruthi G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Head of Department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Dr. R Rajkumar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" name="Text 34"/>
          <p:cNvSpPr txBox="1"/>
          <p:nvPr/>
        </p:nvSpPr>
        <p:spPr>
          <a:xfrm>
            <a:off x="548640" y="20912328"/>
            <a:ext cx="1207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7B2CB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Academic Year: 2026–2027</a:t>
            </a:r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9" name="Picture 38" descr="VAIMAANIK 2025 | Aero Fest">
            <a:extLst>
              <a:ext uri="{FF2B5EF4-FFF2-40B4-BE49-F238E27FC236}">
                <a16:creationId xmlns:a16="http://schemas.microsoft.com/office/drawing/2014/main" id="{24913A80-46AA-67F0-E5F1-D12644551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720710"/>
            <a:ext cx="3694176" cy="2633472"/>
          </a:xfrm>
          <a:prstGeom prst="rect">
            <a:avLst/>
          </a:prstGeom>
        </p:spPr>
      </p:pic>
      <p:pic>
        <p:nvPicPr>
          <p:cNvPr id="41" name="Picture 40" descr="Visvesvaraya Technological University - Wikipedia">
            <a:extLst>
              <a:ext uri="{FF2B5EF4-FFF2-40B4-BE49-F238E27FC236}">
                <a16:creationId xmlns:a16="http://schemas.microsoft.com/office/drawing/2014/main" id="{B0354F43-126F-621C-F39F-2FA9867E1E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0" y="535199"/>
            <a:ext cx="2642616" cy="2642616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0" y="4754880"/>
            <a:ext cx="7315200" cy="201168"/>
          </a:xfrm>
          <a:prstGeom prst="rect">
            <a:avLst/>
          </a:prstGeom>
          <a:solidFill>
            <a:srgbClr val="FFC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0" y="4754880"/>
            <a:ext cx="7315200" cy="20116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4630400" y="4754880"/>
            <a:ext cx="7315200" cy="201168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1945600" y="4754880"/>
            <a:ext cx="7315200" cy="201168"/>
          </a:xfrm>
          <a:prstGeom prst="rect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9260800" y="4754880"/>
            <a:ext cx="7315200" cy="2011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6576000" y="4754880"/>
            <a:ext cx="7315200" cy="201168"/>
          </a:xfrm>
          <a:prstGeom prst="rect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0" y="21771864"/>
            <a:ext cx="7315200" cy="173736"/>
          </a:xfrm>
          <a:prstGeom prst="rect">
            <a:avLst/>
          </a:prstGeom>
          <a:solidFill>
            <a:srgbClr val="FFC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315200" y="21771864"/>
            <a:ext cx="7315200" cy="173736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4630400" y="21771864"/>
            <a:ext cx="7315200" cy="173736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1945600" y="21771864"/>
            <a:ext cx="7315200" cy="173736"/>
          </a:xfrm>
          <a:prstGeom prst="rect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9260800" y="21771864"/>
            <a:ext cx="7315200" cy="17373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576000" y="21771864"/>
            <a:ext cx="7315200" cy="173736"/>
          </a:xfrm>
          <a:prstGeom prst="rect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8D4C07-988A-AC02-892C-7FCDE8AA2534}"/>
              </a:ext>
            </a:extLst>
          </p:cNvPr>
          <p:cNvSpPr/>
          <p:nvPr/>
        </p:nvSpPr>
        <p:spPr>
          <a:xfrm>
            <a:off x="38535429" y="690315"/>
            <a:ext cx="3831771" cy="2747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SDG Logo</a:t>
            </a:r>
            <a:endParaRPr lang="en-IN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5AA85D1-4306-49BE-B8FF-AC3604FF115F}"/>
              </a:ext>
            </a:extLst>
          </p:cNvPr>
          <p:cNvGrpSpPr/>
          <p:nvPr/>
        </p:nvGrpSpPr>
        <p:grpSpPr>
          <a:xfrm>
            <a:off x="-152400" y="801846"/>
            <a:ext cx="9311205" cy="3821269"/>
            <a:chOff x="350520" y="793185"/>
            <a:chExt cx="9311205" cy="3821269"/>
          </a:xfrm>
        </p:grpSpPr>
        <p:sp>
          <p:nvSpPr>
            <p:cNvPr id="61" name="Expo title"/>
            <p:cNvSpPr txBox="1"/>
            <p:nvPr/>
          </p:nvSpPr>
          <p:spPr>
            <a:xfrm>
              <a:off x="609165" y="2532281"/>
              <a:ext cx="9052560" cy="1503101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ctr"/>
              <a:r>
                <a:rPr lang="en-US" sz="5400" b="1" dirty="0">
                  <a:solidFill>
                    <a:srgbClr val="FFFFFF"/>
                  </a:solidFill>
                  <a:latin typeface="Cambria"/>
                  <a:ea typeface="Cambria"/>
                </a:rPr>
                <a:t>ANVESHANAM – 2026</a:t>
              </a:r>
            </a:p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"/>
                  <a:ea typeface="Cambria"/>
                </a:rPr>
                <a:t>                                                                            </a:t>
              </a:r>
              <a:r>
                <a:rPr lang="en-US" sz="2000" b="1" dirty="0">
                  <a:solidFill>
                    <a:srgbClr val="FFFFFF"/>
                  </a:solidFill>
                  <a:latin typeface="Cambria"/>
                  <a:ea typeface="Cambria"/>
                </a:rPr>
                <a:t>A Capstone Project Exhibition</a:t>
              </a:r>
              <a:endParaRPr lang="en-US" sz="2400" b="1" dirty="0">
                <a:solidFill>
                  <a:srgbClr val="FFFFFF"/>
                </a:solidFill>
                <a:latin typeface="Cambria"/>
                <a:ea typeface="Cambria"/>
              </a:endParaRPr>
            </a:p>
          </p:txBody>
        </p:sp>
        <p:sp>
          <p:nvSpPr>
            <p:cNvPr id="62" name="Expo tagline"/>
            <p:cNvSpPr txBox="1"/>
            <p:nvPr/>
          </p:nvSpPr>
          <p:spPr>
            <a:xfrm>
              <a:off x="350520" y="4020094"/>
              <a:ext cx="9052560" cy="594360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ctr"/>
              <a:r>
                <a:rPr lang="en-US" sz="2400" b="1" dirty="0">
                  <a:solidFill>
                    <a:srgbClr val="FFE08A"/>
                  </a:solidFill>
                  <a:latin typeface="Cambria"/>
                  <a:ea typeface="Cambria"/>
                </a:rPr>
                <a:t>Innovate  •  Build  •  Showcase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1A45570-88C0-455C-9543-A0759360F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24000" y="793185"/>
              <a:ext cx="6966567" cy="1804292"/>
            </a:xfrm>
            <a:prstGeom prst="rect">
              <a:avLst/>
            </a:prstGeom>
          </p:spPr>
        </p:pic>
      </p:grpSp>
      <p:sp>
        <p:nvSpPr>
          <p:cNvPr id="70" name="Student photo 1" descr="Placeholder for student 1 photo"/>
          <p:cNvSpPr/>
          <p:nvPr/>
        </p:nvSpPr>
        <p:spPr>
          <a:xfrm>
            <a:off x="665923" y="12938760"/>
            <a:ext cx="1610138" cy="1188720"/>
          </a:xfrm>
          <a:prstGeom prst="rect">
            <a:avLst/>
          </a:prstGeom>
          <a:blipFill dpi="0"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prstDash val="dash"/>
          </a:ln>
        </p:spPr>
        <p:txBody>
          <a:bodyPr lIns="0" tIns="0" rIns="0" bIns="0" anchor="ctr"/>
          <a:lstStyle/>
          <a:p>
            <a:pPr algn="ctr"/>
            <a:endParaRPr lang="en-US" sz="1400" dirty="0">
              <a:solidFill>
                <a:srgbClr val="7F7F7F"/>
              </a:solidFill>
              <a:latin typeface="Cambria"/>
              <a:ea typeface="Cambria"/>
            </a:endParaRPr>
          </a:p>
        </p:txBody>
      </p:sp>
      <p:sp>
        <p:nvSpPr>
          <p:cNvPr id="71" name="Student photo 2" descr="Placeholder for student 2 photo"/>
          <p:cNvSpPr/>
          <p:nvPr/>
        </p:nvSpPr>
        <p:spPr>
          <a:xfrm>
            <a:off x="665923" y="14218920"/>
            <a:ext cx="1610138" cy="1188720"/>
          </a:xfrm>
          <a:prstGeom prst="rect">
            <a:avLst/>
          </a:prstGeom>
          <a:blipFill dpi="0"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prstDash val="dash"/>
          </a:ln>
        </p:spPr>
        <p:txBody>
          <a:bodyPr lIns="0" tIns="0" rIns="0" bIns="0" anchor="ctr"/>
          <a:lstStyle/>
          <a:p>
            <a:pPr algn="ctr"/>
            <a:endParaRPr lang="en-US" sz="1400" dirty="0">
              <a:solidFill>
                <a:srgbClr val="7F7F7F"/>
              </a:solidFill>
              <a:latin typeface="Cambria"/>
              <a:ea typeface="Cambria"/>
            </a:endParaRPr>
          </a:p>
        </p:txBody>
      </p:sp>
      <p:sp>
        <p:nvSpPr>
          <p:cNvPr id="72" name="Student photo 3" descr="Placeholder for student 3 photo"/>
          <p:cNvSpPr/>
          <p:nvPr/>
        </p:nvSpPr>
        <p:spPr>
          <a:xfrm>
            <a:off x="665923" y="15499080"/>
            <a:ext cx="1610135" cy="1188720"/>
          </a:xfrm>
          <a:prstGeom prst="rect">
            <a:avLst/>
          </a:prstGeom>
          <a:blipFill dpi="0"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prstDash val="dash"/>
          </a:ln>
        </p:spPr>
        <p:txBody>
          <a:bodyPr lIns="0" tIns="0" rIns="0" bIns="0" anchor="ctr"/>
          <a:lstStyle/>
          <a:p>
            <a:pPr algn="ctr"/>
            <a:endParaRPr lang="en-US" sz="1400" dirty="0">
              <a:solidFill>
                <a:srgbClr val="7F7F7F"/>
              </a:solidFill>
              <a:latin typeface="Cambria"/>
              <a:ea typeface="Cambria"/>
            </a:endParaRPr>
          </a:p>
        </p:txBody>
      </p:sp>
      <p:sp>
        <p:nvSpPr>
          <p:cNvPr id="73" name="Student photo 4" descr="Placeholder for student 4 photo"/>
          <p:cNvSpPr/>
          <p:nvPr/>
        </p:nvSpPr>
        <p:spPr>
          <a:xfrm>
            <a:off x="665923" y="16779240"/>
            <a:ext cx="1610137" cy="1188720"/>
          </a:xfrm>
          <a:prstGeom prst="rect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prstDash val="dash"/>
          </a:ln>
        </p:spPr>
        <p:txBody>
          <a:bodyPr lIns="0" tIns="0" rIns="0" bIns="0" anchor="ctr"/>
          <a:lstStyle/>
          <a:p>
            <a:pPr algn="ctr"/>
            <a:endParaRPr lang="en-US" sz="1400" dirty="0">
              <a:solidFill>
                <a:srgbClr val="7F7F7F"/>
              </a:solidFill>
              <a:latin typeface="Cambria"/>
              <a:ea typeface="Cambria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C99BD857-3971-FF60-5050-962BBF53116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535429" y="582244"/>
            <a:ext cx="3984172" cy="2891302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A06B882E-E76A-EFDA-2707-A6A07E33D1E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285837" y="6906328"/>
            <a:ext cx="12834929" cy="6743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0172DFB-BFAB-6555-0B27-901E5392D357}"/>
              </a:ext>
            </a:extLst>
          </p:cNvPr>
          <p:cNvSpPr txBox="1"/>
          <p:nvPr/>
        </p:nvSpPr>
        <p:spPr>
          <a:xfrm>
            <a:off x="18571992" y="6190336"/>
            <a:ext cx="974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Evolution of DevOps: From Speed to Security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3011E2-17FE-AB8C-7A30-01893437DC6E}"/>
              </a:ext>
            </a:extLst>
          </p:cNvPr>
          <p:cNvSpPr txBox="1"/>
          <p:nvPr/>
        </p:nvSpPr>
        <p:spPr>
          <a:xfrm>
            <a:off x="17744804" y="13822547"/>
            <a:ext cx="974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SYSTEM</a:t>
            </a:r>
            <a:r>
              <a:rPr lang="en-IN" sz="3200" b="1" dirty="0">
                <a:latin typeface="+mj-lt"/>
              </a:rPr>
              <a:t> </a:t>
            </a:r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ARCHITECTURE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0BDCC574-CC7A-0DC2-3CFE-D48DF14B4F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350893" y="14434079"/>
            <a:ext cx="18324547" cy="674253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C5C56309-F83E-C116-10D6-6F29C90BDD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496331" y="6552127"/>
            <a:ext cx="5171307" cy="361646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5939349D-022A-1C48-649D-07B9E40A937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297259" y="10171342"/>
            <a:ext cx="5347368" cy="35649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215</Words>
  <Application>Microsoft Office PowerPoint</Application>
  <PresentationFormat>Custom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 Light</vt:lpstr>
      <vt:lpstr>Cambria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Template</dc:title>
  <dc:subject>PptxGenJS Presentation</dc:subject>
  <dc:creator>PptxGenJS</dc:creator>
  <cp:lastModifiedBy>Shakthivel K</cp:lastModifiedBy>
  <cp:revision>23</cp:revision>
  <dcterms:created xsi:type="dcterms:W3CDTF">2026-10-03T01:49:47Z</dcterms:created>
  <dcterms:modified xsi:type="dcterms:W3CDTF">2026-10-09T01:18:05Z</dcterms:modified>
</cp:coreProperties>
</file>