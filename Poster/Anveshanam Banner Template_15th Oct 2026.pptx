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43891200" cy="21945600"/>
  <p:notesSz cx="30275213" cy="213883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9E4F"/>
    <a:srgbClr val="D00068"/>
    <a:srgbClr val="0066FF"/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934" autoAdjust="0"/>
    <p:restoredTop sz="94610"/>
  </p:normalViewPr>
  <p:slideViewPr>
    <p:cSldViewPr snapToGrid="0" snapToObjects="1">
      <p:cViewPr>
        <p:scale>
          <a:sx n="33" d="100"/>
          <a:sy n="33" d="100"/>
        </p:scale>
        <p:origin x="-2172" y="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2803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/>
          <p:nvPr/>
        </p:nvSpPr>
        <p:spPr>
          <a:xfrm>
            <a:off x="0" y="0"/>
            <a:ext cx="43891200" cy="4754880"/>
          </a:xfrm>
          <a:prstGeom prst="rect">
            <a:avLst/>
          </a:prstGeom>
          <a:gradFill rotWithShape="1">
            <a:gsLst>
              <a:gs pos="0">
                <a:srgbClr val="0B2A6F"/>
              </a:gs>
              <a:gs pos="100000">
                <a:srgbClr val="0A8FA8"/>
              </a:gs>
            </a:gsLst>
            <a:lin ang="0" scaled="0"/>
          </a:gradFill>
          <a:ln w="12700">
            <a:noFill/>
            <a:prstDash val="solid"/>
          </a:ln>
        </p:spPr>
        <p:txBody>
          <a:bodyPr/>
          <a:lstStyle/>
          <a:p>
            <a:endParaRPr lang="en-IN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College name"/>
          <p:cNvSpPr txBox="1"/>
          <p:nvPr/>
        </p:nvSpPr>
        <p:spPr>
          <a:xfrm>
            <a:off x="10972800" y="354002"/>
            <a:ext cx="21945600" cy="16629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GLOBAL ACADEMY OF TECHNOLOGY</a:t>
            </a:r>
          </a:p>
          <a:p>
            <a:pPr algn="ctr"/>
            <a:r>
              <a:rPr lang="en-US" sz="2400" b="1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An Autonomous Institute, Approved by AICTE, New Delhi, Affiliated to VTU </a:t>
            </a:r>
            <a:endParaRPr lang="en-IN" sz="2400" dirty="0">
              <a:solidFill>
                <a:schemeClr val="bg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24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Ideal Homes Township, </a:t>
            </a:r>
            <a:r>
              <a:rPr lang="en-US" sz="24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Rajarajeshwari</a:t>
            </a:r>
            <a:r>
              <a:rPr lang="en-US" sz="24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Nagar, Bengaluru – 560 098</a:t>
            </a:r>
            <a:endParaRPr lang="en-IN" sz="2400" dirty="0">
              <a:solidFill>
                <a:schemeClr val="bg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18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endParaRPr lang="en-IN" sz="1800" dirty="0">
              <a:solidFill>
                <a:schemeClr val="bg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Department"/>
          <p:cNvSpPr txBox="1"/>
          <p:nvPr/>
        </p:nvSpPr>
        <p:spPr>
          <a:xfrm>
            <a:off x="10972800" y="2326495"/>
            <a:ext cx="2194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E08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Department of Computer Science and Engineering</a:t>
            </a:r>
          </a:p>
        </p:txBody>
      </p:sp>
      <p:sp>
        <p:nvSpPr>
          <p:cNvPr id="10" name="Project title"/>
          <p:cNvSpPr txBox="1"/>
          <p:nvPr/>
        </p:nvSpPr>
        <p:spPr>
          <a:xfrm>
            <a:off x="11732913" y="3278773"/>
            <a:ext cx="2194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52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Secure CI/CD Pipeline with Integrated Security Testing </a:t>
            </a:r>
            <a:endParaRPr lang="en-US" sz="4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Group name"/>
          <p:cNvSpPr txBox="1"/>
          <p:nvPr/>
        </p:nvSpPr>
        <p:spPr>
          <a:xfrm>
            <a:off x="38535428" y="3776472"/>
            <a:ext cx="3831771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Group No.: G14</a:t>
            </a:r>
            <a:endParaRPr lang="en-US" sz="3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8640" y="5303520"/>
            <a:ext cx="12070080" cy="73152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n-IN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8640" y="5303520"/>
            <a:ext cx="320040" cy="731520"/>
          </a:xfrm>
          <a:prstGeom prst="rect">
            <a:avLst/>
          </a:prstGeom>
          <a:solidFill>
            <a:srgbClr val="FFC845"/>
          </a:solidFill>
          <a:ln w="12700">
            <a:solidFill>
              <a:srgbClr val="FFC845"/>
            </a:solidFill>
            <a:prstDash val="solid"/>
          </a:ln>
        </p:spPr>
        <p:txBody>
          <a:bodyPr/>
          <a:lstStyle/>
          <a:p>
            <a:endParaRPr lang="en-IN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1005840" y="5303520"/>
            <a:ext cx="11612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OBJECTIVES</a:t>
            </a:r>
            <a:endParaRPr lang="en-US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Objectives text"/>
          <p:cNvSpPr txBox="1"/>
          <p:nvPr/>
        </p:nvSpPr>
        <p:spPr>
          <a:xfrm>
            <a:off x="548640" y="6126480"/>
            <a:ext cx="12070080" cy="5029200"/>
          </a:xfrm>
          <a:prstGeom prst="rect">
            <a:avLst/>
          </a:prstGeom>
          <a:solidFill>
            <a:srgbClr val="FFF3E0"/>
          </a:solidFill>
          <a:ln w="31750">
            <a:solidFill>
              <a:srgbClr val="F57C00"/>
            </a:solidFill>
          </a:ln>
        </p:spPr>
        <p:txBody>
          <a:bodyPr wrap="square" lIns="152400" tIns="203200" rIns="203200" bIns="152400" rtlCol="0" anchor="t"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To design and implement a secure CI/CD pipeline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To integrate security testing tools into DevOps workflows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To identify and mitigate vulnerabilities at early stages of development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To reduce security risks and remediation costs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To ensure faster and secure software delivery </a:t>
            </a:r>
            <a:endParaRPr lang="en-IN" sz="3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spcAft>
                <a:spcPts val="1200"/>
              </a:spcAft>
              <a:buSzPct val="100000"/>
            </a:pPr>
            <a:endParaRPr lang="en-US" sz="2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3167360" y="5303520"/>
            <a:ext cx="18653760" cy="7315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3167360" y="5303520"/>
            <a:ext cx="320040" cy="731520"/>
          </a:xfrm>
          <a:prstGeom prst="rect">
            <a:avLst/>
          </a:prstGeom>
          <a:solidFill>
            <a:srgbClr val="FFC845"/>
          </a:solidFill>
          <a:ln w="12700">
            <a:solidFill>
              <a:srgbClr val="FFC845"/>
            </a:solidFill>
            <a:prstDash val="solid"/>
          </a:ln>
        </p:spPr>
        <p:txBody>
          <a:bodyPr/>
          <a:lstStyle/>
          <a:p>
            <a:endParaRPr lang="en-IN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13624560" y="5303520"/>
            <a:ext cx="1819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SYSTEM  Overview </a:t>
            </a:r>
            <a:endParaRPr lang="en-US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Architecture placeholder"/>
          <p:cNvSpPr/>
          <p:nvPr/>
        </p:nvSpPr>
        <p:spPr>
          <a:xfrm>
            <a:off x="13167360" y="6126480"/>
            <a:ext cx="18653760" cy="15179040"/>
          </a:xfrm>
          <a:prstGeom prst="rect">
            <a:avLst/>
          </a:prstGeom>
          <a:solidFill>
            <a:srgbClr val="E3F0FF"/>
          </a:solidFill>
          <a:ln w="31750">
            <a:noFill/>
            <a:prstDash val="dash"/>
          </a:ln>
        </p:spPr>
        <p:txBody>
          <a:bodyPr/>
          <a:lstStyle/>
          <a:p>
            <a:endParaRPr lang="en-IN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13167360" y="6126480"/>
            <a:ext cx="18653760" cy="15179040"/>
          </a:xfrm>
          <a:prstGeom prst="rect">
            <a:avLst/>
          </a:prstGeom>
          <a:noFill/>
          <a:ln>
            <a:noFill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 anchor="ctr"/>
          <a:lstStyle/>
          <a:p>
            <a:pPr marL="0" indent="0" algn="just">
              <a:buNone/>
            </a:pPr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2369760" y="5303520"/>
            <a:ext cx="10972800" cy="731520"/>
          </a:xfrm>
          <a:prstGeom prst="rect">
            <a:avLst/>
          </a:prstGeom>
          <a:solidFill>
            <a:srgbClr val="2E9E4F"/>
          </a:solidFill>
          <a:ln w="12700">
            <a:solidFill>
              <a:srgbClr val="2E9E4F"/>
            </a:solidFill>
            <a:prstDash val="solid"/>
          </a:ln>
        </p:spPr>
        <p:txBody>
          <a:bodyPr/>
          <a:lstStyle/>
          <a:p>
            <a:endParaRPr lang="en-IN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2369760" y="5303520"/>
            <a:ext cx="320040" cy="731520"/>
          </a:xfrm>
          <a:prstGeom prst="rect">
            <a:avLst/>
          </a:prstGeom>
          <a:solidFill>
            <a:srgbClr val="FFC845"/>
          </a:solidFill>
          <a:ln w="12700">
            <a:solidFill>
              <a:srgbClr val="FFC845"/>
            </a:solidFill>
            <a:prstDash val="solid"/>
          </a:ln>
        </p:spPr>
        <p:txBody>
          <a:bodyPr/>
          <a:lstStyle/>
          <a:p>
            <a:endParaRPr lang="en-IN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32826960" y="53035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RESULTS</a:t>
            </a:r>
            <a:endParaRPr lang="en-US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" name="Result 1 placeholder"/>
          <p:cNvSpPr/>
          <p:nvPr/>
        </p:nvSpPr>
        <p:spPr>
          <a:xfrm>
            <a:off x="32369760" y="6126480"/>
            <a:ext cx="10972800" cy="438912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1750">
            <a:noFill/>
            <a:prstDash val="dash"/>
          </a:ln>
        </p:spPr>
        <p:txBody>
          <a:bodyPr/>
          <a:lstStyle/>
          <a:p>
            <a:endParaRPr lang="en-IN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31302960" y="7627870"/>
            <a:ext cx="10972800" cy="43891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32369760" y="10561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00" b="1" i="1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Fig 1:  </a:t>
            </a:r>
            <a:r>
              <a:rPr lang="en-IN" b="1" i="1" dirty="0">
                <a:latin typeface="Cambria" panose="02040503050406030204" pitchFamily="18" charset="0"/>
                <a:ea typeface="Cambria" panose="02040503050406030204" pitchFamily="18" charset="0"/>
              </a:rPr>
              <a:t>Jenkins </a:t>
            </a:r>
            <a:r>
              <a:rPr lang="en-IN" b="1" i="1" dirty="0" err="1">
                <a:latin typeface="Cambria" panose="02040503050406030204" pitchFamily="18" charset="0"/>
                <a:ea typeface="Cambria" panose="02040503050406030204" pitchFamily="18" charset="0"/>
              </a:rPr>
              <a:t>DevSecOps</a:t>
            </a:r>
            <a:r>
              <a:rPr lang="en-IN" b="1" i="1" dirty="0">
                <a:latin typeface="Cambria" panose="02040503050406030204" pitchFamily="18" charset="0"/>
                <a:ea typeface="Cambria" panose="02040503050406030204" pitchFamily="18" charset="0"/>
              </a:rPr>
              <a:t> Pipeline showing successful execution of CI/CD stages</a:t>
            </a:r>
            <a:endParaRPr lang="en-US" sz="1800" b="1" i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7" name="Result 2 placeholder"/>
          <p:cNvSpPr/>
          <p:nvPr/>
        </p:nvSpPr>
        <p:spPr>
          <a:xfrm>
            <a:off x="32369760" y="11292840"/>
            <a:ext cx="10972800" cy="4389120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1750">
            <a:noFill/>
            <a:prstDash val="dash"/>
          </a:ln>
        </p:spPr>
        <p:txBody>
          <a:bodyPr/>
          <a:lstStyle/>
          <a:p>
            <a:endParaRPr lang="en-IN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31821120" y="14337792"/>
            <a:ext cx="10972800" cy="43891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32402417" y="15760337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00" b="1" i="1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Fig 2: </a:t>
            </a:r>
            <a:r>
              <a:rPr lang="en-IN" b="1" i="1" dirty="0">
                <a:latin typeface="Cambria" panose="02040503050406030204" pitchFamily="18" charset="0"/>
                <a:ea typeface="Cambria" panose="02040503050406030204" pitchFamily="18" charset="0"/>
              </a:rPr>
              <a:t>SonarQube dashboard showing a passed Quality Gate with no new issues or security hotspots.</a:t>
            </a:r>
            <a:endParaRPr lang="en-US" sz="1800" b="1" i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0" name="Result 3 placeholder"/>
          <p:cNvSpPr/>
          <p:nvPr/>
        </p:nvSpPr>
        <p:spPr>
          <a:xfrm>
            <a:off x="32369760" y="16459200"/>
            <a:ext cx="10972800" cy="4389120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1750">
            <a:noFill/>
            <a:prstDash val="dash"/>
          </a:ln>
        </p:spPr>
        <p:txBody>
          <a:bodyPr/>
          <a:lstStyle/>
          <a:p>
            <a:endParaRPr lang="en-IN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30521916" y="16572847"/>
            <a:ext cx="10972800" cy="43891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32369760" y="20894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00" b="1" i="1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Fig 3: </a:t>
            </a:r>
            <a:r>
              <a:rPr lang="en-IN" b="1" i="1" dirty="0">
                <a:latin typeface="Cambria" panose="02040503050406030204" pitchFamily="18" charset="0"/>
                <a:ea typeface="Cambria" panose="02040503050406030204" pitchFamily="18" charset="0"/>
              </a:rPr>
              <a:t>Grafana dashboard showing application requests, response time, and server error metrics.</a:t>
            </a:r>
            <a:endParaRPr lang="en-IN" i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548640" y="11521440"/>
            <a:ext cx="12070080" cy="731520"/>
          </a:xfrm>
          <a:prstGeom prst="rect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  <p:txBody>
          <a:bodyPr/>
          <a:lstStyle/>
          <a:p>
            <a:endParaRPr lang="en-IN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48640" y="11521440"/>
            <a:ext cx="320040" cy="731520"/>
          </a:xfrm>
          <a:prstGeom prst="rect">
            <a:avLst/>
          </a:prstGeom>
          <a:solidFill>
            <a:srgbClr val="FFC845"/>
          </a:solidFill>
          <a:ln w="12700">
            <a:solidFill>
              <a:srgbClr val="FFC845"/>
            </a:solidFill>
            <a:prstDash val="solid"/>
          </a:ln>
        </p:spPr>
        <p:txBody>
          <a:bodyPr/>
          <a:lstStyle/>
          <a:p>
            <a:endParaRPr lang="en-IN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5" name="Text 33"/>
          <p:cNvSpPr txBox="1"/>
          <p:nvPr/>
        </p:nvSpPr>
        <p:spPr>
          <a:xfrm>
            <a:off x="1005840" y="11521440"/>
            <a:ext cx="11612880" cy="731520"/>
          </a:xfrm>
          <a:prstGeom prst="rect">
            <a:avLst/>
          </a:prstGeom>
          <a:solidFill>
            <a:srgbClr val="D00068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PROJECT TEAM</a:t>
            </a:r>
            <a:endParaRPr lang="en-US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37" name="Faculty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1520044"/>
              </p:ext>
            </p:extLst>
          </p:nvPr>
        </p:nvGraphicFramePr>
        <p:xfrm>
          <a:off x="548641" y="18242280"/>
          <a:ext cx="12070079" cy="2395728"/>
        </p:xfrm>
        <a:graphic>
          <a:graphicData uri="http://schemas.openxmlformats.org/drawingml/2006/table">
            <a:tbl>
              <a:tblPr firstRow="1" bandRow="1">
                <a:tableStyleId>{2A488322-F2BA-4B5B-9748-0D474271808F}</a:tableStyleId>
              </a:tblPr>
              <a:tblGrid>
                <a:gridCol w="4287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821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89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Role</a:t>
                      </a:r>
                      <a:endParaRPr lang="en-US" sz="24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libri" charset="0"/>
                      </a:endParaRPr>
                    </a:p>
                  </a:txBody>
                  <a:tcPr marT="0" marB="0" anchor="ctr">
                    <a:solidFill>
                      <a:srgbClr val="2E9E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Name</a:t>
                      </a:r>
                      <a:endParaRPr lang="en-US" sz="24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libri" charset="0"/>
                      </a:endParaRPr>
                    </a:p>
                  </a:txBody>
                  <a:tcPr marT="0" marB="0" anchor="ctr">
                    <a:solidFill>
                      <a:srgbClr val="2E9E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89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Project Guide</a:t>
                      </a:r>
                      <a:endParaRPr lang="en-US" sz="24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libri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Prof. </a:t>
                      </a:r>
                      <a:r>
                        <a:rPr lang="en-GB" sz="240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Sameena H S</a:t>
                      </a:r>
                      <a:endParaRPr lang="en-US" sz="24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libri" charset="0"/>
                      </a:endParaRP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89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Project Coordinator</a:t>
                      </a:r>
                      <a:endParaRPr lang="en-US" sz="24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libri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24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Dr. Shruthi G</a:t>
                      </a:r>
                      <a:endParaRPr lang="en-US" sz="24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libri" charset="0"/>
                      </a:endParaRP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89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Head of Department</a:t>
                      </a:r>
                      <a:endParaRPr lang="en-US" sz="24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libri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Dr. R Rajkumar</a:t>
                      </a:r>
                      <a:endParaRPr lang="en-US" sz="24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libri" charset="0"/>
                      </a:endParaRP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8" name="Text 34"/>
          <p:cNvSpPr txBox="1"/>
          <p:nvPr/>
        </p:nvSpPr>
        <p:spPr>
          <a:xfrm>
            <a:off x="548640" y="20912328"/>
            <a:ext cx="1207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7B2CB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Academic Year: 2026–2027</a:t>
            </a:r>
            <a:endParaRPr lang="en-US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9" name="Picture 38" descr="VAIMAANIK 2025 | Aero Fest">
            <a:extLst>
              <a:ext uri="{FF2B5EF4-FFF2-40B4-BE49-F238E27FC236}">
                <a16:creationId xmlns:a16="http://schemas.microsoft.com/office/drawing/2014/main" id="{24913A80-46AA-67F0-E5F1-D126445511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20400" y="720710"/>
            <a:ext cx="3694176" cy="2633472"/>
          </a:xfrm>
          <a:prstGeom prst="rect">
            <a:avLst/>
          </a:prstGeom>
        </p:spPr>
      </p:pic>
      <p:pic>
        <p:nvPicPr>
          <p:cNvPr id="41" name="Picture 40" descr="Visvesvaraya Technological University - Wikipedia">
            <a:extLst>
              <a:ext uri="{FF2B5EF4-FFF2-40B4-BE49-F238E27FC236}">
                <a16:creationId xmlns:a16="http://schemas.microsoft.com/office/drawing/2014/main" id="{B0354F43-126F-621C-F39F-2FA9867E1EF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260800" y="535199"/>
            <a:ext cx="2642616" cy="2642616"/>
          </a:xfrm>
          <a:prstGeom prst="rect">
            <a:avLst/>
          </a:prstGeom>
        </p:spPr>
      </p:pic>
      <p:sp>
        <p:nvSpPr>
          <p:cNvPr id="43" name="Rectangle 42"/>
          <p:cNvSpPr/>
          <p:nvPr/>
        </p:nvSpPr>
        <p:spPr>
          <a:xfrm>
            <a:off x="0" y="4754880"/>
            <a:ext cx="7315200" cy="201168"/>
          </a:xfrm>
          <a:prstGeom prst="rect">
            <a:avLst/>
          </a:prstGeom>
          <a:solidFill>
            <a:srgbClr val="FFC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7315200" y="4754880"/>
            <a:ext cx="7315200" cy="201168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14630400" y="4754880"/>
            <a:ext cx="7315200" cy="201168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21945600" y="4754880"/>
            <a:ext cx="7315200" cy="201168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29260800" y="4754880"/>
            <a:ext cx="7315200" cy="20116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36576000" y="4754880"/>
            <a:ext cx="7315200" cy="201168"/>
          </a:xfrm>
          <a:prstGeom prst="rect">
            <a:avLst/>
          </a:prstGeom>
          <a:solidFill>
            <a:srgbClr val="2E9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0" y="21771864"/>
            <a:ext cx="7315200" cy="173736"/>
          </a:xfrm>
          <a:prstGeom prst="rect">
            <a:avLst/>
          </a:prstGeom>
          <a:solidFill>
            <a:srgbClr val="FFC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7315200" y="21771864"/>
            <a:ext cx="7315200" cy="173736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14630400" y="21771864"/>
            <a:ext cx="7315200" cy="173736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21945600" y="21771864"/>
            <a:ext cx="7315200" cy="173736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29260800" y="21771864"/>
            <a:ext cx="7315200" cy="17373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36576000" y="21771864"/>
            <a:ext cx="7315200" cy="173736"/>
          </a:xfrm>
          <a:prstGeom prst="rect">
            <a:avLst/>
          </a:prstGeom>
          <a:solidFill>
            <a:srgbClr val="2E9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8D4C07-988A-AC02-892C-7FCDE8AA2534}"/>
              </a:ext>
            </a:extLst>
          </p:cNvPr>
          <p:cNvSpPr/>
          <p:nvPr/>
        </p:nvSpPr>
        <p:spPr>
          <a:xfrm>
            <a:off x="38535429" y="690315"/>
            <a:ext cx="3831771" cy="2747829"/>
          </a:xfrm>
          <a:prstGeom prst="rect">
            <a:avLst/>
          </a:prstGeom>
          <a:blipFill dpi="0"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5AA85D1-4306-49BE-B8FF-AC3604FF115F}"/>
              </a:ext>
            </a:extLst>
          </p:cNvPr>
          <p:cNvGrpSpPr/>
          <p:nvPr/>
        </p:nvGrpSpPr>
        <p:grpSpPr>
          <a:xfrm>
            <a:off x="-152400" y="801846"/>
            <a:ext cx="9311205" cy="3821269"/>
            <a:chOff x="350520" y="793185"/>
            <a:chExt cx="9311205" cy="3821269"/>
          </a:xfrm>
        </p:grpSpPr>
        <p:sp>
          <p:nvSpPr>
            <p:cNvPr id="61" name="Expo title"/>
            <p:cNvSpPr txBox="1"/>
            <p:nvPr/>
          </p:nvSpPr>
          <p:spPr>
            <a:xfrm>
              <a:off x="609165" y="2532281"/>
              <a:ext cx="9052560" cy="1503101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algn="ctr"/>
              <a:r>
                <a:rPr lang="en-US" sz="5400" b="1" dirty="0">
                  <a:solidFill>
                    <a:srgbClr val="FFFFFF"/>
                  </a:solidFill>
                  <a:latin typeface="Cambria"/>
                  <a:ea typeface="Cambria"/>
                </a:rPr>
                <a:t>ANVESHANAM – 2026</a:t>
              </a:r>
            </a:p>
            <a:p>
              <a:pPr algn="ctr"/>
              <a:r>
                <a:rPr lang="en-US" sz="2400" dirty="0">
                  <a:solidFill>
                    <a:srgbClr val="FFFFFF"/>
                  </a:solidFill>
                  <a:latin typeface="Cambria"/>
                  <a:ea typeface="Cambria"/>
                </a:rPr>
                <a:t>                                                                            </a:t>
              </a:r>
              <a:r>
                <a:rPr lang="en-US" sz="2000" b="1" dirty="0">
                  <a:solidFill>
                    <a:srgbClr val="FFFFFF"/>
                  </a:solidFill>
                  <a:latin typeface="Cambria"/>
                  <a:ea typeface="Cambria"/>
                </a:rPr>
                <a:t>A Capstone Project Exhibition</a:t>
              </a:r>
              <a:endParaRPr lang="en-US" sz="2400" b="1" dirty="0">
                <a:solidFill>
                  <a:srgbClr val="FFFFFF"/>
                </a:solidFill>
                <a:latin typeface="Cambria"/>
                <a:ea typeface="Cambria"/>
              </a:endParaRPr>
            </a:p>
          </p:txBody>
        </p:sp>
        <p:sp>
          <p:nvSpPr>
            <p:cNvPr id="62" name="Expo tagline"/>
            <p:cNvSpPr txBox="1"/>
            <p:nvPr/>
          </p:nvSpPr>
          <p:spPr>
            <a:xfrm>
              <a:off x="350520" y="4020094"/>
              <a:ext cx="9052560" cy="59436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algn="ctr"/>
              <a:r>
                <a:rPr lang="en-US" sz="2400" b="1" dirty="0">
                  <a:solidFill>
                    <a:srgbClr val="FFE08A"/>
                  </a:solidFill>
                  <a:latin typeface="Cambria"/>
                  <a:ea typeface="Cambria"/>
                </a:rPr>
                <a:t>Innovate  •  Build  •  Showcase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1A45570-88C0-455C-9543-A0759360FD1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524000" y="793185"/>
              <a:ext cx="6966567" cy="1804292"/>
            </a:xfrm>
            <a:prstGeom prst="rect">
              <a:avLst/>
            </a:prstGeom>
          </p:spPr>
        </p:pic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70172DFB-BFAB-6555-0B27-901E5392D357}"/>
              </a:ext>
            </a:extLst>
          </p:cNvPr>
          <p:cNvSpPr txBox="1"/>
          <p:nvPr/>
        </p:nvSpPr>
        <p:spPr>
          <a:xfrm>
            <a:off x="18571992" y="6190336"/>
            <a:ext cx="97434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latin typeface="Cambria" panose="02040503050406030204" pitchFamily="18" charset="0"/>
                <a:ea typeface="Cambria" panose="02040503050406030204" pitchFamily="18" charset="0"/>
              </a:rPr>
              <a:t>Evolution of DevOps: From Speed to Security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33011E2-17FE-AB8C-7A30-01893437DC6E}"/>
              </a:ext>
            </a:extLst>
          </p:cNvPr>
          <p:cNvSpPr txBox="1"/>
          <p:nvPr/>
        </p:nvSpPr>
        <p:spPr>
          <a:xfrm>
            <a:off x="17744804" y="13822547"/>
            <a:ext cx="97434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latin typeface="Cambria" panose="02040503050406030204" pitchFamily="18" charset="0"/>
                <a:ea typeface="Cambria" panose="02040503050406030204" pitchFamily="18" charset="0"/>
              </a:rPr>
              <a:t>SYSTEM</a:t>
            </a:r>
            <a:r>
              <a:rPr lang="en-IN" sz="3200" b="1" dirty="0">
                <a:latin typeface="+mj-lt"/>
              </a:rPr>
              <a:t> </a:t>
            </a:r>
            <a:r>
              <a:rPr lang="en-IN" sz="3200" b="1" dirty="0">
                <a:latin typeface="Cambria" panose="02040503050406030204" pitchFamily="18" charset="0"/>
                <a:ea typeface="Cambria" panose="02040503050406030204" pitchFamily="18" charset="0"/>
              </a:rPr>
              <a:t>ARCHITECTURE</a:t>
            </a:r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0BDCC574-CC7A-0DC2-3CFE-D48DF14B4FA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350893" y="14434079"/>
            <a:ext cx="18324547" cy="674253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C5C56309-F83E-C116-10D6-6F29C90BDDB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066658" y="6643844"/>
            <a:ext cx="5564349" cy="3616468"/>
          </a:xfrm>
          <a:prstGeom prst="rect">
            <a:avLst/>
          </a:prstGeom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5939349D-022A-1C48-649D-07B9E40A937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225962" y="10298990"/>
            <a:ext cx="5347368" cy="35649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8D7E6EB-D551-7872-2EE1-04A1A71FC6C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422782" y="6882798"/>
            <a:ext cx="12330777" cy="6939749"/>
          </a:xfrm>
          <a:prstGeom prst="rect">
            <a:avLst/>
          </a:prstGeom>
        </p:spPr>
      </p:pic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68E5933C-E765-55A7-7625-E3237A12A0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5190368"/>
              </p:ext>
            </p:extLst>
          </p:nvPr>
        </p:nvGraphicFramePr>
        <p:xfrm>
          <a:off x="548641" y="12349567"/>
          <a:ext cx="12070080" cy="5701371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6319087">
                  <a:extLst>
                    <a:ext uri="{9D8B030D-6E8A-4147-A177-3AD203B41FA5}">
                      <a16:colId xmlns:a16="http://schemas.microsoft.com/office/drawing/2014/main" val="2577253685"/>
                    </a:ext>
                  </a:extLst>
                </a:gridCol>
                <a:gridCol w="5750993">
                  <a:extLst>
                    <a:ext uri="{9D8B030D-6E8A-4147-A177-3AD203B41FA5}">
                      <a16:colId xmlns:a16="http://schemas.microsoft.com/office/drawing/2014/main" val="44652612"/>
                    </a:ext>
                  </a:extLst>
                </a:gridCol>
              </a:tblGrid>
              <a:tr h="2999290">
                <a:tc>
                  <a:txBody>
                    <a:bodyPr/>
                    <a:lstStyle/>
                    <a:p>
                      <a:r>
                        <a:rPr lang="en-US" dirty="0"/>
                        <a:t>                                               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7633773"/>
                  </a:ext>
                </a:extLst>
              </a:tr>
              <a:tr h="270208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002878"/>
                  </a:ext>
                </a:extLst>
              </a:tr>
            </a:tbl>
          </a:graphicData>
        </a:graphic>
      </p:graphicFrame>
      <p:sp>
        <p:nvSpPr>
          <p:cNvPr id="55" name="TextBox 54">
            <a:extLst>
              <a:ext uri="{FF2B5EF4-FFF2-40B4-BE49-F238E27FC236}">
                <a16:creationId xmlns:a16="http://schemas.microsoft.com/office/drawing/2014/main" id="{B2A9D28F-D6A5-D022-4EF5-E770D2B2AA50}"/>
              </a:ext>
            </a:extLst>
          </p:cNvPr>
          <p:cNvSpPr txBox="1"/>
          <p:nvPr/>
        </p:nvSpPr>
        <p:spPr>
          <a:xfrm>
            <a:off x="3102780" y="13319342"/>
            <a:ext cx="37894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Name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: </a:t>
            </a:r>
            <a:r>
              <a:rPr lang="en-GB" sz="2400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Revanth Kumar T  S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cs typeface="Calibri" charset="0"/>
            </a:endParaRPr>
          </a:p>
          <a:p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USN : 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1GA23CS137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1CE614F-7D60-8688-2AED-BE4F705A608B}"/>
              </a:ext>
            </a:extLst>
          </p:cNvPr>
          <p:cNvSpPr txBox="1"/>
          <p:nvPr/>
        </p:nvSpPr>
        <p:spPr>
          <a:xfrm>
            <a:off x="9673060" y="13268597"/>
            <a:ext cx="292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Name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: </a:t>
            </a:r>
            <a:r>
              <a:rPr lang="en-GB" sz="2400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Sanket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cs typeface="Calibri" charset="0"/>
            </a:endParaRPr>
          </a:p>
          <a:p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USN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 : 1GA23CS148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0CAC6C8-307B-2063-A55E-ECA14B980FC4}"/>
              </a:ext>
            </a:extLst>
          </p:cNvPr>
          <p:cNvSpPr txBox="1"/>
          <p:nvPr/>
        </p:nvSpPr>
        <p:spPr>
          <a:xfrm>
            <a:off x="3162970" y="16181415"/>
            <a:ext cx="31303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Name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: </a:t>
            </a:r>
            <a:r>
              <a:rPr lang="en-GB" sz="2400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Shakthi Vel K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cs typeface="Calibri" charset="0"/>
            </a:endParaRPr>
          </a:p>
          <a:p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USN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 : 1GA23CS151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721086F-8C3A-1230-2290-1B82B454628D}"/>
              </a:ext>
            </a:extLst>
          </p:cNvPr>
          <p:cNvSpPr txBox="1"/>
          <p:nvPr/>
        </p:nvSpPr>
        <p:spPr>
          <a:xfrm>
            <a:off x="9720161" y="16116853"/>
            <a:ext cx="31303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Name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: </a:t>
            </a:r>
            <a:r>
              <a:rPr lang="en-GB" sz="2400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Vignesh P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cs typeface="Calibri" charset="0"/>
            </a:endParaRPr>
          </a:p>
          <a:p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USN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 : 1GA23CS193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E984578C-E06E-3B3F-947B-D18D6A0DB676}"/>
              </a:ext>
            </a:extLst>
          </p:cNvPr>
          <p:cNvSpPr/>
          <p:nvPr/>
        </p:nvSpPr>
        <p:spPr>
          <a:xfrm>
            <a:off x="7128451" y="12703411"/>
            <a:ext cx="2450485" cy="2217783"/>
          </a:xfrm>
          <a:prstGeom prst="rect">
            <a:avLst/>
          </a:prstGeom>
          <a:blipFill dpi="0" rotWithShape="1"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E5B7527B-3CA9-6971-954D-081F772BDC60}"/>
              </a:ext>
            </a:extLst>
          </p:cNvPr>
          <p:cNvSpPr/>
          <p:nvPr/>
        </p:nvSpPr>
        <p:spPr>
          <a:xfrm>
            <a:off x="7128451" y="15560365"/>
            <a:ext cx="2450485" cy="2217783"/>
          </a:xfrm>
          <a:prstGeom prst="rect">
            <a:avLst/>
          </a:prstGeom>
          <a:blipFill dpi="0" rotWithShape="1"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8EA1A107-CF30-0365-FEEC-C30C0D1C0D9F}"/>
              </a:ext>
            </a:extLst>
          </p:cNvPr>
          <p:cNvSpPr/>
          <p:nvPr/>
        </p:nvSpPr>
        <p:spPr>
          <a:xfrm>
            <a:off x="647880" y="15533188"/>
            <a:ext cx="2450485" cy="2217783"/>
          </a:xfrm>
          <a:prstGeom prst="rect">
            <a:avLst/>
          </a:prstGeom>
          <a:blipFill dpi="0" rotWithShape="1"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03A75D9F-04AD-4A7C-89AF-0D5E6C12E31E}"/>
              </a:ext>
            </a:extLst>
          </p:cNvPr>
          <p:cNvSpPr/>
          <p:nvPr/>
        </p:nvSpPr>
        <p:spPr>
          <a:xfrm>
            <a:off x="647881" y="12713655"/>
            <a:ext cx="2450485" cy="2217783"/>
          </a:xfrm>
          <a:prstGeom prst="rect">
            <a:avLst/>
          </a:prstGeom>
          <a:blipFill dpi="0" rotWithShape="1"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396</TotalTime>
  <Words>227</Words>
  <Application>Microsoft Office PowerPoint</Application>
  <PresentationFormat>Custom</PresentationFormat>
  <Paragraphs>43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 Light</vt:lpstr>
      <vt:lpstr>Cambria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Poster Template</dc:title>
  <dc:subject>PptxGenJS Presentation</dc:subject>
  <dc:creator>PptxGenJS</dc:creator>
  <cp:lastModifiedBy>Shakthivel K</cp:lastModifiedBy>
  <cp:revision>28</cp:revision>
  <dcterms:created xsi:type="dcterms:W3CDTF">2026-10-03T01:49:47Z</dcterms:created>
  <dcterms:modified xsi:type="dcterms:W3CDTF">2026-10-09T16:43:57Z</dcterms:modified>
</cp:coreProperties>
</file>