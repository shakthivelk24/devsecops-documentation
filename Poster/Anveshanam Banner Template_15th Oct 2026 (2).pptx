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media/image3.png" ContentType="image/png"/>
  <Override PartName="/ppt/media/image1.jpeg" ContentType="image/jpeg"/>
  <Override PartName="/ppt/media/image2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jpeg" ContentType="image/jpeg"/>
  <Override PartName="/ppt/media/image1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43891200" cy="21945600"/>
  <p:notesSz cx="30275212" cy="21388387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39A69AF1-A4CB-439A-8E6D-6A18BC899209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1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A2635FC8-9B45-436E-B0AD-83AFB43D62D4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2194560" y="875520"/>
            <a:ext cx="39501720" cy="3664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2194560" y="5135040"/>
            <a:ext cx="39501720" cy="12727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194560" y="875520"/>
            <a:ext cx="39501720" cy="3664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2194560" y="5135040"/>
            <a:ext cx="39501720" cy="1272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194560" y="875520"/>
            <a:ext cx="39501720" cy="3664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2194560" y="5135040"/>
            <a:ext cx="19276560" cy="1272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22435200" y="5135040"/>
            <a:ext cx="19276560" cy="1272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194560" y="875520"/>
            <a:ext cx="39501720" cy="3664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ubTitle"/>
          </p:nvPr>
        </p:nvSpPr>
        <p:spPr>
          <a:xfrm>
            <a:off x="2194560" y="875520"/>
            <a:ext cx="39501720" cy="169873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194560" y="875520"/>
            <a:ext cx="39501720" cy="3664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2194560" y="5135040"/>
            <a:ext cx="19276560" cy="607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22435200" y="5135040"/>
            <a:ext cx="19276560" cy="1272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body"/>
          </p:nvPr>
        </p:nvSpPr>
        <p:spPr>
          <a:xfrm>
            <a:off x="2194560" y="11783160"/>
            <a:ext cx="19276560" cy="607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194560" y="875520"/>
            <a:ext cx="39501720" cy="3664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2194560" y="5135040"/>
            <a:ext cx="19276560" cy="1272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22435200" y="5135040"/>
            <a:ext cx="19276560" cy="607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22435200" y="11783160"/>
            <a:ext cx="19276560" cy="607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194560" y="875520"/>
            <a:ext cx="39501720" cy="3664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2194560" y="5135040"/>
            <a:ext cx="19276560" cy="607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22435200" y="5135040"/>
            <a:ext cx="19276560" cy="607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2194560" y="11783160"/>
            <a:ext cx="39501720" cy="607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194560" y="875520"/>
            <a:ext cx="39501720" cy="3664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2194560" y="5135040"/>
            <a:ext cx="39501720" cy="607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2194560" y="11783160"/>
            <a:ext cx="39501720" cy="607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194560" y="875520"/>
            <a:ext cx="39501720" cy="3664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2194560" y="5135040"/>
            <a:ext cx="19276560" cy="607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22435200" y="5135040"/>
            <a:ext cx="19276560" cy="607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2194560" y="11783160"/>
            <a:ext cx="19276560" cy="607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22435200" y="11783160"/>
            <a:ext cx="19276560" cy="607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194560" y="875520"/>
            <a:ext cx="39501720" cy="3664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2194560" y="5135040"/>
            <a:ext cx="12719160" cy="607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15550200" y="5135040"/>
            <a:ext cx="12719160" cy="607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28905480" y="5135040"/>
            <a:ext cx="12719160" cy="607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2194560" y="11783160"/>
            <a:ext cx="12719160" cy="607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body"/>
          </p:nvPr>
        </p:nvSpPr>
        <p:spPr>
          <a:xfrm>
            <a:off x="15550200" y="11783160"/>
            <a:ext cx="12719160" cy="607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7"/>
          <p:cNvSpPr>
            <a:spLocks noGrp="1"/>
          </p:cNvSpPr>
          <p:nvPr>
            <p:ph type="body"/>
          </p:nvPr>
        </p:nvSpPr>
        <p:spPr>
          <a:xfrm>
            <a:off x="28905480" y="11783160"/>
            <a:ext cx="12719160" cy="6071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jpeg"/><Relationship Id="rId11" Type="http://schemas.openxmlformats.org/officeDocument/2006/relationships/image" Target="../media/image11.jpe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0" y="0"/>
            <a:ext cx="43890840" cy="4754520"/>
          </a:xfrm>
          <a:prstGeom prst="rect">
            <a:avLst/>
          </a:prstGeom>
          <a:gradFill rotWithShape="0">
            <a:gsLst>
              <a:gs pos="0">
                <a:srgbClr val="0b2a6f"/>
              </a:gs>
              <a:gs pos="100000">
                <a:srgbClr val="0a8fa8"/>
              </a:gs>
            </a:gsLst>
            <a:lin ang="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CustomShape 2"/>
          <p:cNvSpPr/>
          <p:nvPr/>
        </p:nvSpPr>
        <p:spPr>
          <a:xfrm>
            <a:off x="10972800" y="353880"/>
            <a:ext cx="21945240" cy="1662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</a:pPr>
            <a:r>
              <a:rPr b="1" lang="en-US" sz="6000" spc="-1" strike="noStrike">
                <a:solidFill>
                  <a:srgbClr val="ffffff"/>
                </a:solidFill>
                <a:latin typeface="Cambria"/>
                <a:ea typeface="Cambria"/>
              </a:rPr>
              <a:t>GLOBAL ACADEMY OF TECHNOLOGY</a:t>
            </a:r>
            <a:endParaRPr b="0" lang="en-US" sz="60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mbria"/>
                <a:ea typeface="Cambria"/>
              </a:rPr>
              <a:t>An Autonomous Institute, Approved by AICTE, New Delhi, Affiliated to VTU 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Cambria"/>
                <a:ea typeface="Cambria"/>
              </a:rPr>
              <a:t>Ideal Homes Township, Rajarajeshwari Nagar, Bengaluru – 560 098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 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4" name="CustomShape 3"/>
          <p:cNvSpPr/>
          <p:nvPr/>
        </p:nvSpPr>
        <p:spPr>
          <a:xfrm>
            <a:off x="10972800" y="2326320"/>
            <a:ext cx="21945240" cy="63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4400" spc="-1" strike="noStrike">
                <a:solidFill>
                  <a:srgbClr val="ffe082"/>
                </a:solidFill>
                <a:latin typeface="Cambria"/>
                <a:ea typeface="Cambria"/>
              </a:rPr>
              <a:t>Department of Computer Science and Engineering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CustomShape 4"/>
          <p:cNvSpPr/>
          <p:nvPr/>
        </p:nvSpPr>
        <p:spPr>
          <a:xfrm>
            <a:off x="11732760" y="3278880"/>
            <a:ext cx="21945240" cy="127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5200" spc="-1" strike="noStrike">
                <a:solidFill>
                  <a:srgbClr val="ffffff"/>
                </a:solidFill>
                <a:latin typeface="Cambria"/>
                <a:ea typeface="Cambria"/>
              </a:rPr>
              <a:t>Secure CI/CD Pipeline with Integrated Security Testing </a:t>
            </a:r>
            <a:endParaRPr b="0" lang="en-US" sz="5200" spc="-1" strike="noStrike">
              <a:latin typeface="Arial"/>
            </a:endParaRPr>
          </a:p>
        </p:txBody>
      </p:sp>
      <p:sp>
        <p:nvSpPr>
          <p:cNvPr id="46" name="CustomShape 5"/>
          <p:cNvSpPr/>
          <p:nvPr/>
        </p:nvSpPr>
        <p:spPr>
          <a:xfrm>
            <a:off x="38535480" y="3776400"/>
            <a:ext cx="3831480" cy="88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mbria"/>
                <a:ea typeface="Cambria"/>
              </a:rPr>
              <a:t>Group No.: G14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7" name="CustomShape 6"/>
          <p:cNvSpPr/>
          <p:nvPr/>
        </p:nvSpPr>
        <p:spPr>
          <a:xfrm>
            <a:off x="548640" y="5303520"/>
            <a:ext cx="12069720" cy="731160"/>
          </a:xfrm>
          <a:prstGeom prst="rect">
            <a:avLst/>
          </a:prstGeom>
          <a:solidFill>
            <a:srgbClr val="f57c00"/>
          </a:solidFill>
          <a:ln w="126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CustomShape 7"/>
          <p:cNvSpPr/>
          <p:nvPr/>
        </p:nvSpPr>
        <p:spPr>
          <a:xfrm>
            <a:off x="548640" y="5303520"/>
            <a:ext cx="319680" cy="731160"/>
          </a:xfrm>
          <a:prstGeom prst="rect">
            <a:avLst/>
          </a:prstGeom>
          <a:solidFill>
            <a:srgbClr val="ffc845"/>
          </a:solidFill>
          <a:ln w="12600">
            <a:solidFill>
              <a:srgbClr val="ffc84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CustomShape 8"/>
          <p:cNvSpPr/>
          <p:nvPr/>
        </p:nvSpPr>
        <p:spPr>
          <a:xfrm>
            <a:off x="1005840" y="5303520"/>
            <a:ext cx="11612520" cy="73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OBJECTIVES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0" name="CustomShape 9"/>
          <p:cNvSpPr/>
          <p:nvPr/>
        </p:nvSpPr>
        <p:spPr>
          <a:xfrm>
            <a:off x="548640" y="6126480"/>
            <a:ext cx="12069720" cy="5028840"/>
          </a:xfrm>
          <a:prstGeom prst="rect">
            <a:avLst/>
          </a:prstGeom>
          <a:solidFill>
            <a:srgbClr val="fff3e0"/>
          </a:solidFill>
          <a:ln w="3168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52280" rIns="203040" tIns="203040" bIns="152280">
            <a:noAutofit/>
          </a:bodyPr>
          <a:p>
            <a:pPr marL="343080" indent="-34272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mbria"/>
                <a:ea typeface="Cambria"/>
              </a:rPr>
              <a:t>To design and implement a secure CI/CD pipeline </a:t>
            </a:r>
            <a:endParaRPr b="0" lang="en-US" sz="3200" spc="-1" strike="noStrike">
              <a:latin typeface="Arial"/>
            </a:endParaRPr>
          </a:p>
          <a:p>
            <a:pPr marL="343080" indent="-34272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mbria"/>
                <a:ea typeface="Cambria"/>
              </a:rPr>
              <a:t>To integrate security testing tools into DevOps workflows </a:t>
            </a:r>
            <a:endParaRPr b="0" lang="en-US" sz="3200" spc="-1" strike="noStrike">
              <a:latin typeface="Arial"/>
            </a:endParaRPr>
          </a:p>
          <a:p>
            <a:pPr marL="343080" indent="-34272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mbria"/>
                <a:ea typeface="Cambria"/>
              </a:rPr>
              <a:t>To identify and mitigate vulnerabilities at early stages of development </a:t>
            </a:r>
            <a:endParaRPr b="0" lang="en-US" sz="3200" spc="-1" strike="noStrike">
              <a:latin typeface="Arial"/>
            </a:endParaRPr>
          </a:p>
          <a:p>
            <a:pPr marL="343080" indent="-34272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mbria"/>
                <a:ea typeface="Cambria"/>
              </a:rPr>
              <a:t>To reduce security risks and remediation costs </a:t>
            </a:r>
            <a:endParaRPr b="0" lang="en-US" sz="3200" spc="-1" strike="noStrike">
              <a:latin typeface="Arial"/>
            </a:endParaRPr>
          </a:p>
          <a:p>
            <a:pPr marL="343080" indent="-34272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mbria"/>
                <a:ea typeface="Cambria"/>
              </a:rPr>
              <a:t>To ensure faster and secure software delivery 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51" name="CustomShape 10"/>
          <p:cNvSpPr/>
          <p:nvPr/>
        </p:nvSpPr>
        <p:spPr>
          <a:xfrm>
            <a:off x="13167360" y="5303520"/>
            <a:ext cx="18653400" cy="731160"/>
          </a:xfrm>
          <a:prstGeom prst="rect">
            <a:avLst/>
          </a:prstGeom>
          <a:solidFill>
            <a:srgbClr val="1565c0"/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CustomShape 11"/>
          <p:cNvSpPr/>
          <p:nvPr/>
        </p:nvSpPr>
        <p:spPr>
          <a:xfrm>
            <a:off x="13167360" y="5303520"/>
            <a:ext cx="319680" cy="731160"/>
          </a:xfrm>
          <a:prstGeom prst="rect">
            <a:avLst/>
          </a:prstGeom>
          <a:solidFill>
            <a:srgbClr val="ffc845"/>
          </a:solidFill>
          <a:ln w="12600">
            <a:solidFill>
              <a:srgbClr val="ffc84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CustomShape 12"/>
          <p:cNvSpPr/>
          <p:nvPr/>
        </p:nvSpPr>
        <p:spPr>
          <a:xfrm>
            <a:off x="13624560" y="5303520"/>
            <a:ext cx="18196200" cy="73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SYSTEM  Overview 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4" name="CustomShape 13"/>
          <p:cNvSpPr/>
          <p:nvPr/>
        </p:nvSpPr>
        <p:spPr>
          <a:xfrm>
            <a:off x="13167360" y="6126480"/>
            <a:ext cx="18653400" cy="15178680"/>
          </a:xfrm>
          <a:prstGeom prst="rect">
            <a:avLst/>
          </a:prstGeom>
          <a:solidFill>
            <a:srgbClr val="e3f0ff"/>
          </a:solidFill>
          <a:ln cap="rnd" w="31680">
            <a:solidFill>
              <a:srgbClr val="1565c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CustomShape 14"/>
          <p:cNvSpPr/>
          <p:nvPr/>
        </p:nvSpPr>
        <p:spPr>
          <a:xfrm>
            <a:off x="13167360" y="6126480"/>
            <a:ext cx="18653400" cy="1517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CustomShape 15"/>
          <p:cNvSpPr/>
          <p:nvPr/>
        </p:nvSpPr>
        <p:spPr>
          <a:xfrm>
            <a:off x="32369760" y="5303520"/>
            <a:ext cx="10972440" cy="731160"/>
          </a:xfrm>
          <a:prstGeom prst="rect">
            <a:avLst/>
          </a:prstGeom>
          <a:solidFill>
            <a:srgbClr val="2e9e4f"/>
          </a:solidFill>
          <a:ln w="12600">
            <a:solidFill>
              <a:srgbClr val="2e9e4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CustomShape 16"/>
          <p:cNvSpPr/>
          <p:nvPr/>
        </p:nvSpPr>
        <p:spPr>
          <a:xfrm>
            <a:off x="32369760" y="5303520"/>
            <a:ext cx="319680" cy="731160"/>
          </a:xfrm>
          <a:prstGeom prst="rect">
            <a:avLst/>
          </a:prstGeom>
          <a:solidFill>
            <a:srgbClr val="ffc845"/>
          </a:solidFill>
          <a:ln w="12600">
            <a:solidFill>
              <a:srgbClr val="ffc84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CustomShape 17"/>
          <p:cNvSpPr/>
          <p:nvPr/>
        </p:nvSpPr>
        <p:spPr>
          <a:xfrm>
            <a:off x="32826960" y="5303520"/>
            <a:ext cx="10515240" cy="73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RESULTS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9" name="CustomShape 18"/>
          <p:cNvSpPr/>
          <p:nvPr/>
        </p:nvSpPr>
        <p:spPr>
          <a:xfrm>
            <a:off x="32369760" y="6126480"/>
            <a:ext cx="10972440" cy="4388760"/>
          </a:xfrm>
          <a:prstGeom prst="rect">
            <a:avLst/>
          </a:prstGeom>
          <a:solidFill>
            <a:srgbClr val="e8f5e9"/>
          </a:solidFill>
          <a:ln cap="rnd" w="31680">
            <a:solidFill>
              <a:srgbClr val="2e9e4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CustomShape 19"/>
          <p:cNvSpPr/>
          <p:nvPr/>
        </p:nvSpPr>
        <p:spPr>
          <a:xfrm>
            <a:off x="32369760" y="6126480"/>
            <a:ext cx="10972440" cy="4388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CustomShape 20"/>
          <p:cNvSpPr/>
          <p:nvPr/>
        </p:nvSpPr>
        <p:spPr>
          <a:xfrm>
            <a:off x="32369760" y="10561320"/>
            <a:ext cx="1097244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i="1" lang="en-US" sz="1800" spc="-1" strike="noStrike">
                <a:solidFill>
                  <a:srgbClr val="000000"/>
                </a:solidFill>
                <a:latin typeface="Cambria"/>
                <a:ea typeface="Cambria"/>
              </a:rPr>
              <a:t>Fig 1:  Jenkins DevSecOps Pipeline showing successful execution of CI/CD stages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2" name="CustomShape 21"/>
          <p:cNvSpPr/>
          <p:nvPr/>
        </p:nvSpPr>
        <p:spPr>
          <a:xfrm>
            <a:off x="32369760" y="11292840"/>
            <a:ext cx="10972440" cy="4388760"/>
          </a:xfrm>
          <a:prstGeom prst="rect">
            <a:avLst/>
          </a:prstGeom>
          <a:solidFill>
            <a:srgbClr val="e0f7fa"/>
          </a:solidFill>
          <a:ln cap="rnd" w="31680">
            <a:solidFill>
              <a:srgbClr val="0a8fa8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CustomShape 22"/>
          <p:cNvSpPr/>
          <p:nvPr/>
        </p:nvSpPr>
        <p:spPr>
          <a:xfrm>
            <a:off x="32369760" y="11292840"/>
            <a:ext cx="10972440" cy="4388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CustomShape 23"/>
          <p:cNvSpPr/>
          <p:nvPr/>
        </p:nvSpPr>
        <p:spPr>
          <a:xfrm>
            <a:off x="32402520" y="15760440"/>
            <a:ext cx="1097244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i="1" lang="en-US" sz="1800" spc="-1" strike="noStrike">
                <a:solidFill>
                  <a:srgbClr val="000000"/>
                </a:solidFill>
                <a:latin typeface="Cambria"/>
                <a:ea typeface="Cambria"/>
              </a:rPr>
              <a:t>Fig 2: SonarQube dashboard showing a passed Quality Gate with no new issues or security hotspots.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5" name="CustomShape 24"/>
          <p:cNvSpPr/>
          <p:nvPr/>
        </p:nvSpPr>
        <p:spPr>
          <a:xfrm>
            <a:off x="32369760" y="16459200"/>
            <a:ext cx="10972440" cy="4388760"/>
          </a:xfrm>
          <a:prstGeom prst="rect">
            <a:avLst/>
          </a:prstGeom>
          <a:solidFill>
            <a:srgbClr val="f1f8e9"/>
          </a:solidFill>
          <a:ln cap="rnd" w="31680">
            <a:solidFill>
              <a:srgbClr val="7cb34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CustomShape 25"/>
          <p:cNvSpPr/>
          <p:nvPr/>
        </p:nvSpPr>
        <p:spPr>
          <a:xfrm>
            <a:off x="32369760" y="16459200"/>
            <a:ext cx="10972440" cy="4388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CustomShape 26"/>
          <p:cNvSpPr/>
          <p:nvPr/>
        </p:nvSpPr>
        <p:spPr>
          <a:xfrm>
            <a:off x="32369760" y="20894040"/>
            <a:ext cx="1097244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i="1" lang="en-US" sz="1800" spc="-1" strike="noStrike">
                <a:solidFill>
                  <a:srgbClr val="000000"/>
                </a:solidFill>
                <a:latin typeface="Cambria"/>
                <a:ea typeface="Cambria"/>
              </a:rPr>
              <a:t>Fig 3: Grafana dashboard showing application requests, response time, and server error metrics.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8" name="CustomShape 27"/>
          <p:cNvSpPr/>
          <p:nvPr/>
        </p:nvSpPr>
        <p:spPr>
          <a:xfrm>
            <a:off x="548640" y="11521440"/>
            <a:ext cx="12069720" cy="731160"/>
          </a:xfrm>
          <a:prstGeom prst="rect">
            <a:avLst/>
          </a:prstGeom>
          <a:solidFill>
            <a:srgbClr val="7b2cbf"/>
          </a:solidFill>
          <a:ln w="12600">
            <a:solidFill>
              <a:srgbClr val="7b2c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CustomShape 28"/>
          <p:cNvSpPr/>
          <p:nvPr/>
        </p:nvSpPr>
        <p:spPr>
          <a:xfrm>
            <a:off x="548640" y="11521440"/>
            <a:ext cx="319680" cy="731160"/>
          </a:xfrm>
          <a:prstGeom prst="rect">
            <a:avLst/>
          </a:prstGeom>
          <a:solidFill>
            <a:srgbClr val="ffc845"/>
          </a:solidFill>
          <a:ln w="12600">
            <a:solidFill>
              <a:srgbClr val="ffc84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CustomShape 29"/>
          <p:cNvSpPr/>
          <p:nvPr/>
        </p:nvSpPr>
        <p:spPr>
          <a:xfrm>
            <a:off x="1005840" y="11521440"/>
            <a:ext cx="11612520" cy="731160"/>
          </a:xfrm>
          <a:prstGeom prst="rect">
            <a:avLst/>
          </a:prstGeom>
          <a:solidFill>
            <a:srgbClr val="d00068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PROJECT TEAM</a:t>
            </a:r>
            <a:endParaRPr b="0" lang="en-US" sz="3000" spc="-1" strike="noStrike">
              <a:latin typeface="Arial"/>
            </a:endParaRPr>
          </a:p>
        </p:txBody>
      </p:sp>
      <p:graphicFrame>
        <p:nvGraphicFramePr>
          <p:cNvPr id="71" name="Table 30"/>
          <p:cNvGraphicFramePr/>
          <p:nvPr/>
        </p:nvGraphicFramePr>
        <p:xfrm>
          <a:off x="548640" y="12344400"/>
          <a:ext cx="12069720" cy="5668920"/>
        </p:xfrm>
        <a:graphic>
          <a:graphicData uri="http://schemas.openxmlformats.org/drawingml/2006/table">
            <a:tbl>
              <a:tblPr/>
              <a:tblGrid>
                <a:gridCol w="1737360"/>
                <a:gridCol w="3291840"/>
                <a:gridCol w="7040880"/>
              </a:tblGrid>
              <a:tr h="548640">
                <a:tc>
                  <a:tcPr marL="91440" marR="91440"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2400" spc="-1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</a:rPr>
                        <a:t>USN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marL="91440" marR="91440"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2400" spc="-1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</a:rPr>
                        <a:t>Student Name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marL="91440" marR="91440"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0066ff"/>
                    </a:solidFill>
                  </a:tcPr>
                </a:tc>
              </a:tr>
              <a:tr h="1280160">
                <a:tc>
                  <a:tcPr marL="91440" marR="91440"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</a:rPr>
                        <a:t>1GA23CS137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marL="91440" marR="91440"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</a:rPr>
                        <a:t>Revanth Kumar T  S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marL="91440" marR="91440"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1280160">
                <a:tc>
                  <a:tcPr marL="91440" marR="91440"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</a:rPr>
                        <a:t>1GA23CS148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marL="91440" marR="91440"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</a:rPr>
                        <a:t>Sanket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marL="91440" marR="91440"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80160">
                <a:tc>
                  <a:tcPr marL="91440" marR="91440"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</a:rPr>
                        <a:t>1GA23CS151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marL="91440" marR="91440"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</a:rPr>
                        <a:t>Shakthi Vel K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marL="91440" marR="91440"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1280160">
                <a:tc>
                  <a:tcPr marL="91440" marR="91440"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</a:rPr>
                        <a:t>1GA23CS193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marL="91440" marR="91440"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2400" spc="-1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</a:rPr>
                        <a:t>Vignesh P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marL="91440" marR="91440"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" name="Table 31"/>
          <p:cNvGraphicFramePr/>
          <p:nvPr/>
        </p:nvGraphicFramePr>
        <p:xfrm>
          <a:off x="548640" y="18242280"/>
          <a:ext cx="12069720" cy="2395440"/>
        </p:xfrm>
        <a:graphic>
          <a:graphicData uri="http://schemas.openxmlformats.org/drawingml/2006/table">
            <a:tbl>
              <a:tblPr/>
              <a:tblGrid>
                <a:gridCol w="4287600"/>
                <a:gridCol w="7782120"/>
              </a:tblGrid>
              <a:tr h="598680">
                <a:tc>
                  <a:txBody>
                    <a:bodyPr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2400" spc="-1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</a:rPr>
                        <a:t>Role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marL="91440" marR="91440"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2e9e4f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2400" spc="-1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</a:rPr>
                        <a:t>Name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marL="91440" marR="91440"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2e9e4f"/>
                    </a:solidFill>
                  </a:tcPr>
                </a:tc>
              </a:tr>
              <a:tr h="598680">
                <a:tc>
                  <a:txBody>
                    <a:bodyPr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2400" spc="-1" strike="noStrike">
                          <a:solidFill>
                            <a:srgbClr val="1a1a1a"/>
                          </a:solidFill>
                          <a:latin typeface="Cambria"/>
                          <a:ea typeface="Cambria"/>
                        </a:rPr>
                        <a:t>Project Guide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marL="91440" marR="91440"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1a1a1a"/>
                          </a:solidFill>
                          <a:latin typeface="Cambria"/>
                          <a:ea typeface="Cambria"/>
                        </a:rPr>
                        <a:t>Prof. </a:t>
                      </a: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</a:rPr>
                        <a:t>Sameena H S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marL="91440" marR="91440"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</a:tr>
              <a:tr h="598680">
                <a:tc>
                  <a:txBody>
                    <a:bodyPr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2400" spc="-1" strike="noStrike">
                          <a:solidFill>
                            <a:srgbClr val="1a1a1a"/>
                          </a:solidFill>
                          <a:latin typeface="Cambria"/>
                          <a:ea typeface="Cambria"/>
                        </a:rPr>
                        <a:t>Project Coordinator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marL="91440" marR="91440"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</a:rPr>
                        <a:t>Dr. Shruthi G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marL="91440" marR="91440"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9400">
                <a:tc>
                  <a:txBody>
                    <a:bodyPr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2400" spc="-1" strike="noStrike">
                          <a:solidFill>
                            <a:srgbClr val="1a1a1a"/>
                          </a:solidFill>
                          <a:latin typeface="Cambria"/>
                          <a:ea typeface="Cambria"/>
                        </a:rPr>
                        <a:t>Head of Department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marL="91440" marR="91440"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2400" spc="-1" strike="noStrike">
                          <a:solidFill>
                            <a:srgbClr val="1a1a1a"/>
                          </a:solidFill>
                          <a:latin typeface="Cambria"/>
                          <a:ea typeface="Cambria"/>
                        </a:rPr>
                        <a:t>Dr. R Rajkumar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marL="91440" marR="91440"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sp>
        <p:nvSpPr>
          <p:cNvPr id="73" name="CustomShape 32"/>
          <p:cNvSpPr/>
          <p:nvPr/>
        </p:nvSpPr>
        <p:spPr>
          <a:xfrm>
            <a:off x="548640" y="20912400"/>
            <a:ext cx="1206972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1" lang="en-US" sz="2400" spc="-1" strike="noStrike">
                <a:solidFill>
                  <a:srgbClr val="7b2cbf"/>
                </a:solidFill>
                <a:latin typeface="Cambria"/>
                <a:ea typeface="Cambria"/>
              </a:rPr>
              <a:t>Academic Year: 2026–2027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74" name="Picture 38" descr=""/>
          <p:cNvPicPr/>
          <p:nvPr/>
        </p:nvPicPr>
        <p:blipFill>
          <a:blip r:embed="rId1"/>
          <a:stretch/>
        </p:blipFill>
        <p:spPr>
          <a:xfrm>
            <a:off x="10820520" y="720720"/>
            <a:ext cx="3693960" cy="2633040"/>
          </a:xfrm>
          <a:prstGeom prst="rect">
            <a:avLst/>
          </a:prstGeom>
          <a:ln>
            <a:noFill/>
          </a:ln>
        </p:spPr>
      </p:pic>
      <p:pic>
        <p:nvPicPr>
          <p:cNvPr id="75" name="Picture 40" descr=""/>
          <p:cNvPicPr/>
          <p:nvPr/>
        </p:nvPicPr>
        <p:blipFill>
          <a:blip r:embed="rId2"/>
          <a:stretch/>
        </p:blipFill>
        <p:spPr>
          <a:xfrm>
            <a:off x="29260800" y="535320"/>
            <a:ext cx="2642400" cy="2642400"/>
          </a:xfrm>
          <a:prstGeom prst="rect">
            <a:avLst/>
          </a:prstGeom>
          <a:ln>
            <a:noFill/>
          </a:ln>
        </p:spPr>
      </p:pic>
      <p:sp>
        <p:nvSpPr>
          <p:cNvPr id="76" name="CustomShape 33"/>
          <p:cNvSpPr/>
          <p:nvPr/>
        </p:nvSpPr>
        <p:spPr>
          <a:xfrm>
            <a:off x="0" y="4754880"/>
            <a:ext cx="7314840" cy="200880"/>
          </a:xfrm>
          <a:prstGeom prst="rect">
            <a:avLst/>
          </a:prstGeom>
          <a:solidFill>
            <a:srgbClr val="ffc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" name="CustomShape 34"/>
          <p:cNvSpPr/>
          <p:nvPr/>
        </p:nvSpPr>
        <p:spPr>
          <a:xfrm>
            <a:off x="7315200" y="4754880"/>
            <a:ext cx="7314840" cy="2008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8" name="CustomShape 35"/>
          <p:cNvSpPr/>
          <p:nvPr/>
        </p:nvSpPr>
        <p:spPr>
          <a:xfrm>
            <a:off x="14630400" y="4754880"/>
            <a:ext cx="7314840" cy="20088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9" name="CustomShape 36"/>
          <p:cNvSpPr/>
          <p:nvPr/>
        </p:nvSpPr>
        <p:spPr>
          <a:xfrm>
            <a:off x="21945600" y="4754880"/>
            <a:ext cx="7314840" cy="20088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0" name="CustomShape 37"/>
          <p:cNvSpPr/>
          <p:nvPr/>
        </p:nvSpPr>
        <p:spPr>
          <a:xfrm>
            <a:off x="29260800" y="4754880"/>
            <a:ext cx="7314840" cy="2008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1" name="CustomShape 38"/>
          <p:cNvSpPr/>
          <p:nvPr/>
        </p:nvSpPr>
        <p:spPr>
          <a:xfrm>
            <a:off x="36576000" y="4754880"/>
            <a:ext cx="7314840" cy="200880"/>
          </a:xfrm>
          <a:prstGeom prst="rect">
            <a:avLst/>
          </a:prstGeom>
          <a:solidFill>
            <a:srgbClr val="2e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2" name="CustomShape 39"/>
          <p:cNvSpPr/>
          <p:nvPr/>
        </p:nvSpPr>
        <p:spPr>
          <a:xfrm>
            <a:off x="0" y="21771720"/>
            <a:ext cx="7314840" cy="173520"/>
          </a:xfrm>
          <a:prstGeom prst="rect">
            <a:avLst/>
          </a:prstGeom>
          <a:solidFill>
            <a:srgbClr val="ffc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3" name="CustomShape 40"/>
          <p:cNvSpPr/>
          <p:nvPr/>
        </p:nvSpPr>
        <p:spPr>
          <a:xfrm>
            <a:off x="7315200" y="21771720"/>
            <a:ext cx="7314840" cy="173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4" name="CustomShape 41"/>
          <p:cNvSpPr/>
          <p:nvPr/>
        </p:nvSpPr>
        <p:spPr>
          <a:xfrm>
            <a:off x="14630400" y="21771720"/>
            <a:ext cx="7314840" cy="1735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5" name="CustomShape 42"/>
          <p:cNvSpPr/>
          <p:nvPr/>
        </p:nvSpPr>
        <p:spPr>
          <a:xfrm>
            <a:off x="21945600" y="21771720"/>
            <a:ext cx="7314840" cy="1735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CustomShape 43"/>
          <p:cNvSpPr/>
          <p:nvPr/>
        </p:nvSpPr>
        <p:spPr>
          <a:xfrm>
            <a:off x="29260800" y="21771720"/>
            <a:ext cx="7314840" cy="1735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7" name="CustomShape 44"/>
          <p:cNvSpPr/>
          <p:nvPr/>
        </p:nvSpPr>
        <p:spPr>
          <a:xfrm>
            <a:off x="36576000" y="21771720"/>
            <a:ext cx="7314840" cy="173520"/>
          </a:xfrm>
          <a:prstGeom prst="rect">
            <a:avLst/>
          </a:prstGeom>
          <a:solidFill>
            <a:srgbClr val="2e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8" name="CustomShape 45"/>
          <p:cNvSpPr/>
          <p:nvPr/>
        </p:nvSpPr>
        <p:spPr>
          <a:xfrm>
            <a:off x="38535480" y="690480"/>
            <a:ext cx="3831480" cy="27475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mbria"/>
                <a:ea typeface="Cambria"/>
              </a:rPr>
              <a:t>SDG Logo</a:t>
            </a:r>
            <a:endParaRPr b="0" lang="en-US" sz="1800" spc="-1" strike="noStrike">
              <a:latin typeface="Arial"/>
            </a:endParaRPr>
          </a:p>
        </p:txBody>
      </p:sp>
      <p:grpSp>
        <p:nvGrpSpPr>
          <p:cNvPr id="89" name="Group 46"/>
          <p:cNvGrpSpPr/>
          <p:nvPr/>
        </p:nvGrpSpPr>
        <p:grpSpPr>
          <a:xfrm>
            <a:off x="-152280" y="801720"/>
            <a:ext cx="9310680" cy="3821040"/>
            <a:chOff x="-152280" y="801720"/>
            <a:chExt cx="9310680" cy="3821040"/>
          </a:xfrm>
        </p:grpSpPr>
        <p:sp>
          <p:nvSpPr>
            <p:cNvPr id="90" name="CustomShape 47"/>
            <p:cNvSpPr/>
            <p:nvPr/>
          </p:nvSpPr>
          <p:spPr>
            <a:xfrm>
              <a:off x="106200" y="2540880"/>
              <a:ext cx="9052200" cy="150264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en-US" sz="5400" spc="-1" strike="noStrike">
                  <a:solidFill>
                    <a:srgbClr val="ffffff"/>
                  </a:solidFill>
                  <a:latin typeface="Cambria"/>
                  <a:ea typeface="Cambria"/>
                </a:rPr>
                <a:t>ANVESHANAM – 2026</a:t>
              </a:r>
              <a:endParaRPr b="0" lang="en-US" sz="54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b="0" lang="en-US" sz="2400" spc="-1" strike="noStrike">
                  <a:solidFill>
                    <a:srgbClr val="ffffff"/>
                  </a:solidFill>
                  <a:latin typeface="Cambria"/>
                  <a:ea typeface="Cambria"/>
                </a:rPr>
                <a:t>                                                                            </a:t>
              </a:r>
              <a:r>
                <a:rPr b="1" lang="en-US" sz="2000" spc="-1" strike="noStrike">
                  <a:solidFill>
                    <a:srgbClr val="ffffff"/>
                  </a:solidFill>
                  <a:latin typeface="Cambria"/>
                  <a:ea typeface="Cambria"/>
                </a:rPr>
                <a:t>A Capstone Project Exhibition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91" name="CustomShape 48"/>
            <p:cNvSpPr/>
            <p:nvPr/>
          </p:nvSpPr>
          <p:spPr>
            <a:xfrm>
              <a:off x="-152280" y="4028760"/>
              <a:ext cx="9052200" cy="59400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en-US" sz="2400" spc="-1" strike="noStrike">
                  <a:solidFill>
                    <a:srgbClr val="ffe08a"/>
                  </a:solidFill>
                  <a:latin typeface="Cambria"/>
                  <a:ea typeface="Cambria"/>
                </a:rPr>
                <a:t>Innovate  •  Build  •  Showcase</a:t>
              </a:r>
              <a:endParaRPr b="0" lang="en-US" sz="2400" spc="-1" strike="noStrike">
                <a:latin typeface="Arial"/>
              </a:endParaRPr>
            </a:p>
          </p:txBody>
        </p:sp>
        <p:pic>
          <p:nvPicPr>
            <p:cNvPr id="92" name="Picture 5" descr=""/>
            <p:cNvPicPr/>
            <p:nvPr/>
          </p:nvPicPr>
          <p:blipFill>
            <a:blip r:embed="rId3"/>
            <a:stretch/>
          </p:blipFill>
          <p:spPr>
            <a:xfrm>
              <a:off x="1020960" y="801720"/>
              <a:ext cx="6966360" cy="180396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93" name="CustomShape 49"/>
          <p:cNvSpPr/>
          <p:nvPr/>
        </p:nvSpPr>
        <p:spPr>
          <a:xfrm>
            <a:off x="666000" y="12938760"/>
            <a:ext cx="1609920" cy="1188360"/>
          </a:xfrm>
          <a:prstGeom prst="rect">
            <a:avLst/>
          </a:prstGeom>
          <a:solidFill>
            <a:srgbClr val="ffffff"/>
          </a:solidFill>
          <a:ln cap="rnd" w="19080">
            <a:solidFill>
              <a:srgbClr val="7f7f7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f7f7f"/>
                </a:solidFill>
                <a:latin typeface="Cambria"/>
                <a:ea typeface="Cambria"/>
              </a:rPr>
              <a:t>Photo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4" name="CustomShape 50"/>
          <p:cNvSpPr/>
          <p:nvPr/>
        </p:nvSpPr>
        <p:spPr>
          <a:xfrm>
            <a:off x="666000" y="14218920"/>
            <a:ext cx="1609920" cy="1188360"/>
          </a:xfrm>
          <a:prstGeom prst="rect">
            <a:avLst/>
          </a:prstGeom>
          <a:solidFill>
            <a:srgbClr val="ffffff"/>
          </a:solidFill>
          <a:ln cap="rnd" w="19080">
            <a:solidFill>
              <a:srgbClr val="7f7f7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f7f7f"/>
                </a:solidFill>
                <a:latin typeface="Cambria"/>
                <a:ea typeface="Cambria"/>
              </a:rPr>
              <a:t>Photo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5" name="CustomShape 51"/>
          <p:cNvSpPr/>
          <p:nvPr/>
        </p:nvSpPr>
        <p:spPr>
          <a:xfrm>
            <a:off x="666000" y="15499080"/>
            <a:ext cx="1609920" cy="1188360"/>
          </a:xfrm>
          <a:prstGeom prst="rect">
            <a:avLst/>
          </a:prstGeom>
          <a:solidFill>
            <a:srgbClr val="ffffff"/>
          </a:solidFill>
          <a:ln cap="rnd" w="19080">
            <a:solidFill>
              <a:srgbClr val="7f7f7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f7f7f"/>
                </a:solidFill>
                <a:latin typeface="Cambria"/>
                <a:ea typeface="Cambria"/>
              </a:rPr>
              <a:t>Photo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6" name="CustomShape 52"/>
          <p:cNvSpPr/>
          <p:nvPr/>
        </p:nvSpPr>
        <p:spPr>
          <a:xfrm>
            <a:off x="548640" y="16779240"/>
            <a:ext cx="1609920" cy="1188360"/>
          </a:xfrm>
          <a:prstGeom prst="rect">
            <a:avLst/>
          </a:prstGeom>
          <a:solidFill>
            <a:srgbClr val="ffffff"/>
          </a:solidFill>
          <a:ln cap="rnd" w="19080">
            <a:solidFill>
              <a:srgbClr val="7f7f7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f7f7f"/>
                </a:solidFill>
                <a:latin typeface="Cambria"/>
                <a:ea typeface="Cambria"/>
              </a:rPr>
              <a:t>Photo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97" name="Picture 41" descr=""/>
          <p:cNvPicPr/>
          <p:nvPr/>
        </p:nvPicPr>
        <p:blipFill>
          <a:blip r:embed="rId4"/>
          <a:stretch/>
        </p:blipFill>
        <p:spPr>
          <a:xfrm>
            <a:off x="38535480" y="582120"/>
            <a:ext cx="3983760" cy="2890800"/>
          </a:xfrm>
          <a:prstGeom prst="rect">
            <a:avLst/>
          </a:prstGeom>
          <a:ln>
            <a:noFill/>
          </a:ln>
        </p:spPr>
      </p:pic>
      <p:pic>
        <p:nvPicPr>
          <p:cNvPr id="98" name="Picture 55" descr=""/>
          <p:cNvPicPr/>
          <p:nvPr/>
        </p:nvPicPr>
        <p:blipFill>
          <a:blip r:embed="rId5"/>
          <a:stretch/>
        </p:blipFill>
        <p:spPr>
          <a:xfrm>
            <a:off x="13291560" y="6945480"/>
            <a:ext cx="12426480" cy="6309360"/>
          </a:xfrm>
          <a:prstGeom prst="rect">
            <a:avLst/>
          </a:prstGeom>
          <a:ln>
            <a:noFill/>
          </a:ln>
        </p:spPr>
      </p:pic>
      <p:sp>
        <p:nvSpPr>
          <p:cNvPr id="99" name="CustomShape 53"/>
          <p:cNvSpPr/>
          <p:nvPr/>
        </p:nvSpPr>
        <p:spPr>
          <a:xfrm>
            <a:off x="18165600" y="6090120"/>
            <a:ext cx="9743040" cy="577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3200" spc="-1" strike="noStrike">
                <a:solidFill>
                  <a:srgbClr val="000000"/>
                </a:solidFill>
                <a:latin typeface="Cambria"/>
                <a:ea typeface="Cambria"/>
              </a:rPr>
              <a:t>TRADITIONAL DEVOPS  vs SECURE DEVOPS 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00" name="CustomShape 54"/>
          <p:cNvSpPr/>
          <p:nvPr/>
        </p:nvSpPr>
        <p:spPr>
          <a:xfrm>
            <a:off x="17779320" y="13956480"/>
            <a:ext cx="9743040" cy="577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3200" spc="-1" strike="noStrike">
                <a:solidFill>
                  <a:srgbClr val="000000"/>
                </a:solidFill>
                <a:latin typeface="Cambria"/>
                <a:ea typeface="Cambria"/>
              </a:rPr>
              <a:t>SYSTEM</a:t>
            </a:r>
            <a:r>
              <a:rPr b="1" lang="en-US" sz="3200" spc="-1" strike="noStrike">
                <a:solidFill>
                  <a:srgbClr val="000000"/>
                </a:solidFill>
                <a:latin typeface="Calibri Light"/>
                <a:ea typeface="Cambria"/>
              </a:rPr>
              <a:t> </a:t>
            </a:r>
            <a:r>
              <a:rPr b="1" lang="en-US" sz="3200" spc="-1" strike="noStrike">
                <a:solidFill>
                  <a:srgbClr val="000000"/>
                </a:solidFill>
                <a:latin typeface="Cambria"/>
                <a:ea typeface="Cambria"/>
              </a:rPr>
              <a:t>ARCHITECTURE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01" name="Picture 66" descr=""/>
          <p:cNvPicPr/>
          <p:nvPr/>
        </p:nvPicPr>
        <p:blipFill>
          <a:blip r:embed="rId6"/>
          <a:stretch/>
        </p:blipFill>
        <p:spPr>
          <a:xfrm>
            <a:off x="13353480" y="14901480"/>
            <a:ext cx="12311280" cy="5703840"/>
          </a:xfrm>
          <a:prstGeom prst="rect">
            <a:avLst/>
          </a:prstGeom>
          <a:ln>
            <a:noFill/>
          </a:ln>
        </p:spPr>
      </p:pic>
      <p:sp>
        <p:nvSpPr>
          <p:cNvPr id="102" name="CustomShape 55"/>
          <p:cNvSpPr/>
          <p:nvPr/>
        </p:nvSpPr>
        <p:spPr>
          <a:xfrm>
            <a:off x="25718400" y="14857560"/>
            <a:ext cx="6102360" cy="5576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The system architecture represents the </a:t>
            </a:r>
            <a:r>
              <a:rPr b="1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end-to-end Secure DevOps pipeline</a:t>
            </a:r>
            <a:r>
              <a:rPr b="0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. A developer pushes code to </a:t>
            </a:r>
            <a:r>
              <a:rPr b="1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GitHub</a:t>
            </a:r>
            <a:r>
              <a:rPr b="0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, which triggers </a:t>
            </a:r>
            <a:r>
              <a:rPr b="1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Jenkins</a:t>
            </a:r>
            <a:r>
              <a:rPr b="0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 to automate the pipeline; </a:t>
            </a:r>
            <a:r>
              <a:rPr b="1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SonarQube</a:t>
            </a:r>
            <a:r>
              <a:rPr b="0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 performs code analysis, </a:t>
            </a:r>
            <a:r>
              <a:rPr b="1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Docker</a:t>
            </a:r>
            <a:r>
              <a:rPr b="0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 builds the container, </a:t>
            </a:r>
            <a:r>
              <a:rPr b="1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Trivy</a:t>
            </a:r>
            <a:r>
              <a:rPr b="0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 scans it for vulnerabilities, </a:t>
            </a:r>
            <a:r>
              <a:rPr b="1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Kubernetes</a:t>
            </a:r>
            <a:r>
              <a:rPr b="0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 deploys the application, </a:t>
            </a:r>
            <a:r>
              <a:rPr b="1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OWASP ZAP</a:t>
            </a:r>
            <a:r>
              <a:rPr b="0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 performs dynamic security testing, and </a:t>
            </a:r>
            <a:r>
              <a:rPr b="1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Prometheus + Grafana</a:t>
            </a:r>
            <a:r>
              <a:rPr b="0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 provide continuous monitoring and visualization.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2400" spc="-1" strike="noStrike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GitHub → Jenkins → SonarQube → Docker → Trivy → Kubernetes → OWASP ZAP → Prometheus → Grafana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3" name="CustomShape 56"/>
          <p:cNvSpPr/>
          <p:nvPr/>
        </p:nvSpPr>
        <p:spPr>
          <a:xfrm>
            <a:off x="25718400" y="6965280"/>
            <a:ext cx="5978160" cy="594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Traditional DevOps</a:t>
            </a:r>
            <a:r>
              <a:rPr b="0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 focuses mainly on rapid development and deployment, with security checks performed late or separately. This can lead to </a:t>
            </a:r>
            <a:r>
              <a:rPr b="1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late vulnerability detection, rework, deployment delays, and higher security risks</a:t>
            </a:r>
            <a:r>
              <a:rPr b="0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.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2400" spc="-1" strike="noStrike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Secure DevOps (DevSecOps)</a:t>
            </a:r>
            <a:r>
              <a:rPr b="0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 integrates security throughout the CI/CD pipeline using automated security checks. This enables </a:t>
            </a:r>
            <a:r>
              <a:rPr b="1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early vulnerability detection, fewer production issues, smoother deployments, and more secure applications</a:t>
            </a:r>
            <a:r>
              <a:rPr b="0" lang="en-US" sz="2400" spc="-1" strike="noStrike">
                <a:solidFill>
                  <a:srgbClr val="000000"/>
                </a:solidFill>
                <a:latin typeface="Cambria"/>
                <a:ea typeface="Cambria"/>
              </a:rPr>
              <a:t>.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2400" spc="-1" strike="noStrike">
              <a:latin typeface="Arial"/>
            </a:endParaRPr>
          </a:p>
        </p:txBody>
      </p:sp>
      <p:pic>
        <p:nvPicPr>
          <p:cNvPr id="104" name="Picture 76" descr=""/>
          <p:cNvPicPr/>
          <p:nvPr/>
        </p:nvPicPr>
        <p:blipFill>
          <a:blip r:embed="rId7"/>
          <a:stretch/>
        </p:blipFill>
        <p:spPr>
          <a:xfrm>
            <a:off x="32363280" y="6102720"/>
            <a:ext cx="10972440" cy="4412520"/>
          </a:xfrm>
          <a:prstGeom prst="rect">
            <a:avLst/>
          </a:prstGeom>
          <a:ln>
            <a:noFill/>
          </a:ln>
        </p:spPr>
      </p:pic>
      <p:pic>
        <p:nvPicPr>
          <p:cNvPr id="105" name="Picture 78" descr=""/>
          <p:cNvPicPr/>
          <p:nvPr/>
        </p:nvPicPr>
        <p:blipFill>
          <a:blip r:embed="rId8"/>
          <a:stretch/>
        </p:blipFill>
        <p:spPr>
          <a:xfrm>
            <a:off x="32363280" y="11323080"/>
            <a:ext cx="10972440" cy="4392360"/>
          </a:xfrm>
          <a:prstGeom prst="rect">
            <a:avLst/>
          </a:prstGeom>
          <a:ln>
            <a:noFill/>
          </a:ln>
        </p:spPr>
      </p:pic>
      <p:pic>
        <p:nvPicPr>
          <p:cNvPr id="106" name="Picture 80" descr=""/>
          <p:cNvPicPr/>
          <p:nvPr/>
        </p:nvPicPr>
        <p:blipFill>
          <a:blip r:embed="rId9"/>
          <a:stretch/>
        </p:blipFill>
        <p:spPr>
          <a:xfrm>
            <a:off x="32405400" y="16459200"/>
            <a:ext cx="10969560" cy="4387320"/>
          </a:xfrm>
          <a:prstGeom prst="rect">
            <a:avLst/>
          </a:prstGeom>
          <a:ln>
            <a:noFill/>
          </a:ln>
        </p:spPr>
      </p:pic>
      <p:pic>
        <p:nvPicPr>
          <p:cNvPr id="107" name="Picture 4" descr=""/>
          <p:cNvPicPr/>
          <p:nvPr/>
        </p:nvPicPr>
        <p:blipFill>
          <a:blip r:embed="rId10"/>
          <a:stretch/>
        </p:blipFill>
        <p:spPr>
          <a:xfrm>
            <a:off x="607320" y="14173200"/>
            <a:ext cx="1726920" cy="1279800"/>
          </a:xfrm>
          <a:prstGeom prst="rect">
            <a:avLst/>
          </a:prstGeom>
          <a:ln>
            <a:noFill/>
          </a:ln>
        </p:spPr>
      </p:pic>
      <p:pic>
        <p:nvPicPr>
          <p:cNvPr id="108" name="" descr=""/>
          <p:cNvPicPr/>
          <p:nvPr/>
        </p:nvPicPr>
        <p:blipFill>
          <a:blip r:embed="rId11"/>
          <a:stretch/>
        </p:blipFill>
        <p:spPr>
          <a:xfrm>
            <a:off x="666000" y="16824600"/>
            <a:ext cx="1497960" cy="11887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</TotalTime>
  <Application>Trio_Office/6.2.8.2$Windows_x86 LibreOffice_project/</Application>
  <Words>369</Words>
  <Paragraphs>55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2026-10-03T01:49:47Z</dcterms:created>
  <dc:creator>PptxGenJS</dc:creator>
  <dc:description/>
  <dc:language>en-US</dc:language>
  <cp:lastModifiedBy/>
  <dcterms:modified xsi:type="dcterms:W3CDTF">2026-10-08T02:26:35Z</dcterms:modified>
  <cp:revision>20</cp:revision>
  <dc:subject>PptxGenJS Presentation</dc:subject>
  <dc:title>Poster Template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PptxGenJS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1</vt:i4>
  </property>
  <property fmtid="{D5CDD505-2E9C-101B-9397-08002B2CF9AE}" pid="9" name="PresentationFormat">
    <vt:lpwstr>Custom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1</vt:i4>
  </property>
</Properties>
</file>